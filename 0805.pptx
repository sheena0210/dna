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Pinyon Script"/>
      <p:regular r:id="rId37"/>
    </p:embeddedFont>
    <p:embeddedFont>
      <p:font typeface="Playfair Display"/>
      <p:regular r:id="rId38"/>
      <p:bold r:id="rId39"/>
      <p:italic r:id="rId40"/>
      <p:boldItalic r:id="rId41"/>
    </p:embeddedFont>
    <p:embeddedFont>
      <p:font typeface="Playfair Display SemiBold"/>
      <p:regular r:id="rId42"/>
      <p:bold r:id="rId43"/>
      <p:italic r:id="rId44"/>
      <p:boldItalic r:id="rId45"/>
    </p:embeddedFont>
    <p:embeddedFont>
      <p:font typeface="Alegreya"/>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40">
          <p15:clr>
            <a:srgbClr val="747775"/>
          </p15:clr>
        </p15:guide>
        <p15:guide id="3" orient="horz" pos="3974">
          <p15:clr>
            <a:srgbClr val="747775"/>
          </p15:clr>
        </p15:guide>
        <p15:guide id="4" orient="horz" pos="346">
          <p15:clr>
            <a:srgbClr val="747775"/>
          </p15:clr>
        </p15:guide>
        <p15:guide id="5" pos="302">
          <p15:clr>
            <a:srgbClr val="747775"/>
          </p15:clr>
        </p15:guide>
      </p15:sldGuideLst>
    </p:ext>
    <p:ext uri="GoogleSlidesCustomDataVersion2">
      <go:slidesCustomData xmlns:go="http://customooxmlschemas.google.com/" r:id="rId50" roundtripDataSignature="AMtx7miwK+ArJZJR6ugHIBHgQNh4gHz3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A3210B-82E7-4A6C-AF10-590AA54D16CA}">
  <a:tblStyle styleId="{1AA3210B-82E7-4A6C-AF10-590AA54D16C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3974" orient="horz"/>
        <p:guide pos="346" orient="horz"/>
        <p:guide pos="30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ayfairDisplay-italic.fntdata"/><Relationship Id="rId42" Type="http://schemas.openxmlformats.org/officeDocument/2006/relationships/font" Target="fonts/PlayfairDisplaySemiBold-regular.fntdata"/><Relationship Id="rId41" Type="http://schemas.openxmlformats.org/officeDocument/2006/relationships/font" Target="fonts/PlayfairDisplay-boldItalic.fntdata"/><Relationship Id="rId44" Type="http://schemas.openxmlformats.org/officeDocument/2006/relationships/font" Target="fonts/PlayfairDisplaySemiBold-italic.fntdata"/><Relationship Id="rId43" Type="http://schemas.openxmlformats.org/officeDocument/2006/relationships/font" Target="fonts/PlayfairDisplaySemiBold-bold.fntdata"/><Relationship Id="rId46" Type="http://schemas.openxmlformats.org/officeDocument/2006/relationships/font" Target="fonts/Alegreya-regular.fntdata"/><Relationship Id="rId45" Type="http://schemas.openxmlformats.org/officeDocument/2006/relationships/font" Target="fonts/PlayfairDisplay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Alegreya-italic.fntdata"/><Relationship Id="rId47" Type="http://schemas.openxmlformats.org/officeDocument/2006/relationships/font" Target="fonts/Alegreya-bold.fntdata"/><Relationship Id="rId49" Type="http://schemas.openxmlformats.org/officeDocument/2006/relationships/font" Target="fonts/Alegreya-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PinyonScript-regular.fntdata"/><Relationship Id="rId36" Type="http://schemas.openxmlformats.org/officeDocument/2006/relationships/slide" Target="slides/slide30.xml"/><Relationship Id="rId39" Type="http://schemas.openxmlformats.org/officeDocument/2006/relationships/font" Target="fonts/PlayfairDisplay-bold.fntdata"/><Relationship Id="rId38" Type="http://schemas.openxmlformats.org/officeDocument/2006/relationships/font" Target="fonts/PlayfairDisplay-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zh-TW"/>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zh-TW"/>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zh-TW"/>
              <a:t>version2適用nucleotude上色</a:t>
            </a:r>
            <a:endParaRPr/>
          </a:p>
        </p:txBody>
      </p:sp>
      <p:sp>
        <p:nvSpPr>
          <p:cNvPr id="87" name="Google Shape;8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zh-TW"/>
              <a:t>圖的結果是跟version2沒有什麼差別 下一夜</a:t>
            </a:r>
            <a:endParaRPr/>
          </a:p>
          <a:p>
            <a:pPr indent="-228600" lvl="0" marL="457200" marR="0" rtl="0" algn="l">
              <a:lnSpc>
                <a:spcPct val="100000"/>
              </a:lnSpc>
              <a:spcBef>
                <a:spcPts val="0"/>
              </a:spcBef>
              <a:spcAft>
                <a:spcPts val="0"/>
              </a:spcAft>
              <a:buSzPts val="1400"/>
              <a:buNone/>
            </a:pPr>
            <a:r>
              <a:t/>
            </a:r>
            <a:endParaRPr/>
          </a:p>
        </p:txBody>
      </p:sp>
      <p:sp>
        <p:nvSpPr>
          <p:cNvPr id="108" name="Google Shape;10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zh-TW"/>
              <a:t>不過細微來看可以知道哪些地方被區分出來 想試在第1號染色體短臂，第 3 區域、第 6條帶、第 3條次帶</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zh-TW"/>
              <a:t>-&gt;卓絲粒桶椅</a:t>
            </a:r>
            <a:endParaRPr/>
          </a:p>
        </p:txBody>
      </p:sp>
      <p:sp>
        <p:nvSpPr>
          <p:cNvPr id="124" name="Google Shape;12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64edb0747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g3f64edb0747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zh-TW"/>
              <a:t>延續上週 </a:t>
            </a:r>
            <a:r>
              <a:rPr lang="zh-TW"/>
              <a:t>version4</a:t>
            </a:r>
            <a:r>
              <a:rPr lang="zh-TW"/>
              <a:t>就是排除y染色體 在用用原本10人genotype data 計算連鎖不平衡後上色</a:t>
            </a:r>
            <a:endParaRPr/>
          </a:p>
          <a:p>
            <a:pPr indent="-228600" lvl="0" marL="457200" marR="0" rtl="0" algn="l">
              <a:lnSpc>
                <a:spcPct val="100000"/>
              </a:lnSpc>
              <a:spcBef>
                <a:spcPts val="0"/>
              </a:spcBef>
              <a:spcAft>
                <a:spcPts val="0"/>
              </a:spcAft>
              <a:buClr>
                <a:srgbClr val="000000"/>
              </a:buClr>
              <a:buSzPts val="1400"/>
              <a:buFont typeface="Arial"/>
              <a:buNone/>
            </a:pPr>
            <a:r>
              <a:rPr lang="zh-TW"/>
              <a:t>步驟的話就是先進行QC 利用 PLINK 計算連鎖不平衡 在排除8個missing 跟</a:t>
            </a:r>
            <a:r>
              <a:rPr lang="zh-TW">
                <a:latin typeface="Arial"/>
                <a:ea typeface="Arial"/>
                <a:cs typeface="Arial"/>
                <a:sym typeface="Arial"/>
              </a:rPr>
              <a:t>273,144個</a:t>
            </a:r>
            <a:r>
              <a:rPr lang="zh-TW"/>
              <a:t>maf&lt;0.05snp後剩下344656 snp</a:t>
            </a:r>
            <a:endParaRPr/>
          </a:p>
          <a:p>
            <a:pPr indent="-228600" lvl="0" marL="457200" marR="0" rtl="0" algn="l">
              <a:lnSpc>
                <a:spcPct val="100000"/>
              </a:lnSpc>
              <a:spcBef>
                <a:spcPts val="0"/>
              </a:spcBef>
              <a:spcAft>
                <a:spcPts val="0"/>
              </a:spcAft>
              <a:buClr>
                <a:srgbClr val="000000"/>
              </a:buClr>
              <a:buSzPts val="1400"/>
              <a:buFont typeface="Arial"/>
              <a:buNone/>
            </a:pPr>
            <a:r>
              <a:rPr lang="zh-TW"/>
              <a:t>而plink辨識出 632 個 LD blocks，其中共有 5,156 個 SNP 被正式列為 LD-block members</a:t>
            </a:r>
            <a:endParaRPr/>
          </a:p>
          <a:p>
            <a:pPr indent="-228600" lvl="0" marL="457200" marR="0" rtl="0" algn="l">
              <a:lnSpc>
                <a:spcPct val="100000"/>
              </a:lnSpc>
              <a:spcBef>
                <a:spcPts val="0"/>
              </a:spcBef>
              <a:spcAft>
                <a:spcPts val="0"/>
              </a:spcAft>
              <a:buClr>
                <a:srgbClr val="000000"/>
              </a:buClr>
              <a:buSzPts val="1400"/>
              <a:buFont typeface="Arial"/>
              <a:buNone/>
            </a:pPr>
            <a:r>
              <a:rPr lang="zh-TW"/>
              <a:t>然後有特別發現</a:t>
            </a:r>
            <a:r>
              <a:rPr lang="zh-TW"/>
              <a:t>其中剩下這5000多個snp 有快三成的snp是在第六條染色體中</a:t>
            </a:r>
            <a:endParaRPr/>
          </a:p>
          <a:p>
            <a:pPr indent="-228600" lvl="0" marL="457200" marR="0" rtl="0" algn="l">
              <a:lnSpc>
                <a:spcPct val="100000"/>
              </a:lnSpc>
              <a:spcBef>
                <a:spcPts val="0"/>
              </a:spcBef>
              <a:spcAft>
                <a:spcPts val="0"/>
              </a:spcAft>
              <a:buClr>
                <a:srgbClr val="000000"/>
              </a:buClr>
              <a:buSzPts val="1400"/>
              <a:buFont typeface="Arial"/>
              <a:buNone/>
            </a:pPr>
            <a:r>
              <a:rPr lang="zh-TW"/>
              <a:t>最後排列影像排列使用5,156個有 被 PLINK 明確分到 632 個 LD 區塊裡的snp重新標註回原本通過 QC 的 344,656 個 SNP 中</a:t>
            </a:r>
            <a:endParaRPr/>
          </a:p>
          <a:p>
            <a:pPr indent="-228600" lvl="0" marL="457200" marR="0" rtl="0" algn="l">
              <a:lnSpc>
                <a:spcPct val="100000"/>
              </a:lnSpc>
              <a:spcBef>
                <a:spcPts val="0"/>
              </a:spcBef>
              <a:spcAft>
                <a:spcPts val="0"/>
              </a:spcAft>
              <a:buClr>
                <a:srgbClr val="000000"/>
              </a:buClr>
              <a:buSzPts val="1400"/>
              <a:buFont typeface="Arial"/>
              <a:buNone/>
            </a:pPr>
            <a:r>
              <a:rPr lang="zh-TW"/>
              <a:t>最後依照時會依照 LD block 順序排列，並在每一個 LD block 區間結束後加入一個 LD separator，用來區分不同的 LD blocks。</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zh-TW" sz="1100">
                <a:latin typeface="Arial"/>
                <a:ea typeface="Arial"/>
                <a:cs typeface="Arial"/>
                <a:sym typeface="Arial"/>
              </a:rPr>
              <a:t>有些 SNP 在族群中常常會一起出現、一起被遺傳，因此 PLINK 會把這些彼此關係較緊密的 SNP 分成同一組。被正式分進這一組的 SNP，就叫做 </a:t>
            </a:r>
            <a:r>
              <a:rPr b="1" lang="zh-TW" sz="1100">
                <a:latin typeface="Arial"/>
                <a:ea typeface="Arial"/>
                <a:cs typeface="Arial"/>
                <a:sym typeface="Arial"/>
              </a:rPr>
              <a:t>LD-block members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zh-TW" sz="1100">
                <a:latin typeface="Arial"/>
                <a:ea typeface="Arial"/>
                <a:cs typeface="Arial"/>
                <a:sym typeface="Arial"/>
              </a:rPr>
              <a:t>每一個 SNP 被分到某一個特定 LD block 中，主要反映它和同一個 block 內其他 SNP 具有較明顯的共同遺傳結構</a:t>
            </a:r>
            <a:endParaRPr sz="1100">
              <a:latin typeface="Arial"/>
              <a:ea typeface="Arial"/>
              <a:cs typeface="Arial"/>
              <a:sym typeface="Arial"/>
            </a:endParaRPr>
          </a:p>
        </p:txBody>
      </p:sp>
      <p:sp>
        <p:nvSpPr>
          <p:cNvPr id="143" name="Google Shape;143;g3f64edb0747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64edb0747_0_4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zh-TW" sz="1400">
                <a:latin typeface="Arial"/>
                <a:ea typeface="Arial"/>
                <a:cs typeface="Arial"/>
                <a:sym typeface="Arial"/>
              </a:rPr>
              <a:t>原始 variants：617,808 </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rPr lang="zh-TW" sz="1400">
                <a:latin typeface="Arial"/>
                <a:ea typeface="Arial"/>
                <a:cs typeface="Arial"/>
                <a:sym typeface="Arial"/>
              </a:rPr>
              <a:t>removed:</a:t>
            </a:r>
            <a:endParaRPr sz="1400">
              <a:latin typeface="Arial"/>
              <a:ea typeface="Arial"/>
              <a:cs typeface="Arial"/>
              <a:sym typeface="Arial"/>
            </a:endParaRPr>
          </a:p>
          <a:p>
            <a:pPr indent="-317500" lvl="0" marL="457200" rtl="0" algn="l">
              <a:spcBef>
                <a:spcPts val="0"/>
              </a:spcBef>
              <a:spcAft>
                <a:spcPts val="0"/>
              </a:spcAft>
              <a:buClr>
                <a:schemeClr val="dk1"/>
              </a:buClr>
              <a:buSzPts val="1400"/>
              <a:buAutoNum type="arabicPeriod"/>
            </a:pPr>
            <a:r>
              <a:rPr lang="zh-TW" sz="1400">
                <a:latin typeface="Arial"/>
                <a:ea typeface="Arial"/>
                <a:cs typeface="Arial"/>
                <a:sym typeface="Arial"/>
              </a:rPr>
              <a:t>missing genotype：8</a:t>
            </a:r>
            <a:endParaRPr sz="1400">
              <a:latin typeface="Arial"/>
              <a:ea typeface="Arial"/>
              <a:cs typeface="Arial"/>
              <a:sym typeface="Arial"/>
            </a:endParaRPr>
          </a:p>
          <a:p>
            <a:pPr indent="-317500" lvl="0" marL="457200" rtl="0" algn="l">
              <a:spcBef>
                <a:spcPts val="0"/>
              </a:spcBef>
              <a:spcAft>
                <a:spcPts val="0"/>
              </a:spcAft>
              <a:buClr>
                <a:schemeClr val="dk1"/>
              </a:buClr>
              <a:buSzPts val="1400"/>
              <a:buAutoNum type="arabicPeriod"/>
            </a:pPr>
            <a:r>
              <a:rPr lang="zh-TW" sz="1400">
                <a:latin typeface="Arial"/>
                <a:ea typeface="Arial"/>
                <a:cs typeface="Arial"/>
                <a:sym typeface="Arial"/>
              </a:rPr>
              <a:t>minor allel frequency(MAF)&lt;0.05: 273,144 </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rPr lang="zh-TW" sz="1400">
                <a:latin typeface="Arial"/>
                <a:ea typeface="Arial"/>
                <a:cs typeface="Arial"/>
                <a:sym typeface="Arial"/>
              </a:rPr>
              <a:t>-&gt;273,144 個 SNP 被 MAF 篩掉，主要表示這些 SNP 在 10 人中沒有變異，或 minor allele 太少</a:t>
            </a:r>
            <a:endParaRPr sz="1400">
              <a:latin typeface="Arial"/>
              <a:ea typeface="Arial"/>
              <a:cs typeface="Arial"/>
              <a:sym typeface="Arial"/>
            </a:endParaRPr>
          </a:p>
          <a:p>
            <a:pPr indent="0" lvl="0" marL="0" rtl="0" algn="l">
              <a:spcBef>
                <a:spcPts val="0"/>
              </a:spcBef>
              <a:spcAft>
                <a:spcPts val="0"/>
              </a:spcAft>
              <a:buNone/>
            </a:pPr>
            <a:r>
              <a:rPr lang="zh-TW" sz="1400">
                <a:latin typeface="Arial"/>
                <a:ea typeface="Arial"/>
                <a:cs typeface="Arial"/>
                <a:sym typeface="Arial"/>
              </a:rPr>
              <a:t>最後保留：344,656 樣本數：10</a:t>
            </a:r>
            <a:endParaRPr sz="1400">
              <a:latin typeface="Arial"/>
              <a:ea typeface="Arial"/>
              <a:cs typeface="Arial"/>
              <a:sym typeface="Arial"/>
            </a:endParaRPr>
          </a:p>
          <a:p>
            <a:pPr indent="0" lvl="0" marL="0" rtl="0" algn="l">
              <a:spcBef>
                <a:spcPts val="0"/>
              </a:spcBef>
              <a:spcAft>
                <a:spcPts val="0"/>
              </a:spcAft>
              <a:buNone/>
            </a:pPr>
            <a:r>
              <a:t/>
            </a:r>
            <a:endParaRPr sz="1400">
              <a:latin typeface="Arial"/>
              <a:ea typeface="Arial"/>
              <a:cs typeface="Arial"/>
              <a:sym typeface="Arial"/>
            </a:endParaRPr>
          </a:p>
          <a:p>
            <a:pPr indent="0" lvl="0" marL="0" rtl="0" algn="l">
              <a:spcBef>
                <a:spcPts val="0"/>
              </a:spcBef>
              <a:spcAft>
                <a:spcPts val="0"/>
              </a:spcAft>
              <a:buNone/>
            </a:pPr>
            <a:r>
              <a:rPr lang="zh-TW" sz="1400">
                <a:latin typeface="Arial"/>
                <a:ea typeface="Arial"/>
                <a:cs typeface="Arial"/>
                <a:sym typeface="Arial"/>
              </a:rPr>
              <a:t>500 kb 內且 r² ≥ 0.8 的 SNP pairs 已成功算完</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t/>
            </a:r>
            <a:endParaRPr sz="1400">
              <a:latin typeface="Arial"/>
              <a:ea typeface="Arial"/>
              <a:cs typeface="Arial"/>
              <a:sym typeface="Arial"/>
            </a:endParaRPr>
          </a:p>
        </p:txBody>
      </p:sp>
      <p:sp>
        <p:nvSpPr>
          <p:cNvPr id="176" name="Google Shape;176;g3f64edb0747_0_4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64edb0747_0_4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f64edb0747_0_4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64edb0747_0_4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zh-TW"/>
              <a:t>但是我覺的這張圖還是沒辦法看出什麼端倪</a:t>
            </a:r>
            <a:endParaRPr/>
          </a:p>
          <a:p>
            <a:pPr indent="0" lvl="0" marL="0" rtl="0" algn="l">
              <a:spcBef>
                <a:spcPts val="0"/>
              </a:spcBef>
              <a:spcAft>
                <a:spcPts val="0"/>
              </a:spcAft>
              <a:buNone/>
            </a:pPr>
            <a:r>
              <a:rPr lang="zh-TW"/>
              <a:t>因為30幾萬的snp中只有5000多個snp有在ld的區塊中 但因為訊號太少、不容易看出來</a:t>
            </a:r>
            <a:endParaRPr/>
          </a:p>
          <a:p>
            <a:pPr indent="0" lvl="0" marL="0" rtl="0" algn="l">
              <a:spcBef>
                <a:spcPts val="0"/>
              </a:spcBef>
              <a:spcAft>
                <a:spcPts val="0"/>
              </a:spcAft>
              <a:buNone/>
            </a:pPr>
            <a:r>
              <a:rPr lang="zh-TW"/>
              <a:t>也許是我應該用240人的完整資料去計算連鎖不平衡</a:t>
            </a:r>
            <a:endParaRPr/>
          </a:p>
          <a:p>
            <a:pPr indent="0" lvl="0" marL="0" rtl="0" algn="l">
              <a:spcBef>
                <a:spcPts val="0"/>
              </a:spcBef>
              <a:spcAft>
                <a:spcPts val="0"/>
              </a:spcAft>
              <a:buNone/>
            </a:pPr>
            <a:r>
              <a:rPr lang="zh-TW"/>
              <a:t>或者我後來想到如果用多通道的影像表達也許可以呈現</a:t>
            </a:r>
            <a:endParaRPr/>
          </a:p>
          <a:p>
            <a:pPr indent="0" lvl="0" marL="0" rtl="0" algn="l">
              <a:spcBef>
                <a:spcPts val="0"/>
              </a:spcBef>
              <a:spcAft>
                <a:spcPts val="0"/>
              </a:spcAft>
              <a:buNone/>
            </a:pPr>
            <a:r>
              <a:t/>
            </a:r>
            <a:endParaRPr/>
          </a:p>
        </p:txBody>
      </p:sp>
      <p:sp>
        <p:nvSpPr>
          <p:cNvPr id="192" name="Google Shape;192;g3f64edb0747_0_4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64edb0747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f64edb0747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zh-TW"/>
              <a:t>因此在上週咪挺後以及我自己有想了兩個方向的排列方法 </a:t>
            </a:r>
            <a:endParaRPr/>
          </a:p>
          <a:p>
            <a:pPr indent="-228600" lvl="0" marL="457200" marR="0" rtl="0" algn="l">
              <a:lnSpc>
                <a:spcPct val="100000"/>
              </a:lnSpc>
              <a:spcBef>
                <a:spcPts val="0"/>
              </a:spcBef>
              <a:spcAft>
                <a:spcPts val="0"/>
              </a:spcAft>
              <a:buClr>
                <a:srgbClr val="000000"/>
              </a:buClr>
              <a:buSzPts val="1400"/>
              <a:buFont typeface="Arial"/>
              <a:buNone/>
            </a:pPr>
            <a:r>
              <a:rPr lang="zh-TW"/>
              <a:t>像是過去有讀過多通道讓神經網路學習的paper 因此我就想說還是要把染色體分開單獨看或者不同生物資訊 </a:t>
            </a:r>
            <a:endParaRPr/>
          </a:p>
          <a:p>
            <a:pPr indent="-228600" lvl="0" marL="457200" marR="0" rtl="0" algn="l">
              <a:lnSpc>
                <a:spcPct val="100000"/>
              </a:lnSpc>
              <a:spcBef>
                <a:spcPts val="0"/>
              </a:spcBef>
              <a:spcAft>
                <a:spcPts val="0"/>
              </a:spcAft>
              <a:buClr>
                <a:srgbClr val="000000"/>
              </a:buClr>
              <a:buSzPts val="1400"/>
              <a:buFont typeface="Arial"/>
              <a:buNone/>
            </a:pPr>
            <a:r>
              <a:rPr lang="zh-TW"/>
              <a:t>標準化投射到相同規格座標的圖中</a:t>
            </a:r>
            <a:endParaRPr/>
          </a:p>
          <a:p>
            <a:pPr indent="-228600" lvl="0" marL="457200" marR="0" rtl="0" algn="l">
              <a:lnSpc>
                <a:spcPct val="100000"/>
              </a:lnSpc>
              <a:spcBef>
                <a:spcPts val="0"/>
              </a:spcBef>
              <a:spcAft>
                <a:spcPts val="0"/>
              </a:spcAft>
              <a:buClr>
                <a:srgbClr val="000000"/>
              </a:buClr>
              <a:buSzPts val="1400"/>
              <a:buFont typeface="Arial"/>
              <a:buNone/>
            </a:pPr>
            <a:r>
              <a:rPr lang="zh-TW"/>
              <a:t>或者我想說如果用染色體長度來看 把他們每條染色體壓縮成一個同心圓 </a:t>
            </a:r>
            <a:endParaRPr/>
          </a:p>
          <a:p>
            <a:pPr indent="-228600" lvl="0" marL="457200" marR="0" rtl="0" algn="l">
              <a:lnSpc>
                <a:spcPct val="100000"/>
              </a:lnSpc>
              <a:spcBef>
                <a:spcPts val="0"/>
              </a:spcBef>
              <a:spcAft>
                <a:spcPts val="0"/>
              </a:spcAft>
              <a:buClr>
                <a:srgbClr val="000000"/>
              </a:buClr>
              <a:buSzPts val="1400"/>
              <a:buFont typeface="Arial"/>
              <a:buNone/>
            </a:pPr>
            <a:r>
              <a:rPr lang="zh-TW"/>
              <a:t>所以去找到一些類似的paper看他們怎麼做的</a:t>
            </a:r>
            <a:endParaRPr/>
          </a:p>
          <a:p>
            <a:pPr indent="-228600" lvl="0" marL="457200" marR="0" rtl="0" algn="l">
              <a:lnSpc>
                <a:spcPct val="100000"/>
              </a:lnSpc>
              <a:spcBef>
                <a:spcPts val="0"/>
              </a:spcBef>
              <a:spcAft>
                <a:spcPts val="0"/>
              </a:spcAft>
              <a:buClr>
                <a:srgbClr val="000000"/>
              </a:buClr>
              <a:buSzPts val="1400"/>
              <a:buFont typeface="Arial"/>
              <a:buNone/>
            </a:pPr>
            <a:r>
              <a:rPr lang="zh-TW"/>
              <a:t>結論來說同心圓的方法不太可行是因為基因的數量很大 越往中心他的相素會被壓縮所以先不考慮（按一下）</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zh-TW"/>
              <a:t>然後其實蠻多使用基因資料轉成影像的研究都會使用</a:t>
            </a:r>
            <a:r>
              <a:rPr lang="zh-TW">
                <a:latin typeface="Arial"/>
                <a:ea typeface="Arial"/>
                <a:cs typeface="Arial"/>
                <a:sym typeface="Arial"/>
              </a:rPr>
              <a:t>hilbert curve這個方法 因為hilbert curve確保序列中兩相近的元素在影像中會靠近所以也有</a:t>
            </a:r>
            <a:endParaRPr>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400"/>
              <a:buFont typeface="Arial"/>
              <a:buNone/>
            </a:pPr>
            <a:r>
              <a:rPr lang="zh-TW">
                <a:latin typeface="Arial"/>
                <a:ea typeface="Arial"/>
                <a:cs typeface="Arial"/>
                <a:sym typeface="Arial"/>
              </a:rPr>
              <a:t>納入考慮</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199" name="Google Shape;199;g3f64edb0747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64edb0747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64edb0747_0_29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28600" lvl="0" marL="457200" rtl="0" algn="l">
              <a:spcBef>
                <a:spcPts val="0"/>
              </a:spcBef>
              <a:spcAft>
                <a:spcPts val="0"/>
              </a:spcAft>
              <a:buClr>
                <a:schemeClr val="dk1"/>
              </a:buClr>
              <a:buSzPts val="1400"/>
              <a:buFont typeface="Arial"/>
              <a:buNone/>
            </a:pPr>
            <a:r>
              <a:rPr lang="zh-TW">
                <a:latin typeface="Arial"/>
                <a:ea typeface="Arial"/>
                <a:cs typeface="Arial"/>
                <a:sym typeface="Arial"/>
              </a:rPr>
              <a:t>Version 5</a:t>
            </a:r>
            <a:endParaRPr/>
          </a:p>
          <a:p>
            <a:pPr indent="-228600" lvl="0" marL="457200" rtl="0" algn="l">
              <a:spcBef>
                <a:spcPts val="0"/>
              </a:spcBef>
              <a:spcAft>
                <a:spcPts val="0"/>
              </a:spcAft>
              <a:buClr>
                <a:schemeClr val="dk1"/>
              </a:buClr>
              <a:buSzPts val="1400"/>
              <a:buFont typeface="Arial"/>
              <a:buNone/>
            </a:pPr>
            <a:r>
              <a:rPr lang="zh-TW"/>
              <a:t>核心改變就是不想要讓所有snp轉乘單一排列的影像 而是</a:t>
            </a:r>
            <a:r>
              <a:rPr lang="zh-TW">
                <a:latin typeface="Arial"/>
                <a:ea typeface="Arial"/>
                <a:cs typeface="Arial"/>
                <a:sym typeface="Arial"/>
              </a:rPr>
              <a:t>採用</a:t>
            </a:r>
            <a:r>
              <a:rPr lang="zh-TW"/>
              <a:t>影像分層的方式</a:t>
            </a:r>
            <a:endParaRPr/>
          </a:p>
          <a:p>
            <a:pPr indent="-228600" lvl="0" marL="457200" rtl="0" algn="l">
              <a:spcBef>
                <a:spcPts val="0"/>
              </a:spcBef>
              <a:spcAft>
                <a:spcPts val="0"/>
              </a:spcAft>
              <a:buClr>
                <a:schemeClr val="dk1"/>
              </a:buClr>
              <a:buSzPts val="1400"/>
              <a:buFont typeface="Arial"/>
              <a:buNone/>
            </a:pPr>
            <a:r>
              <a:rPr lang="zh-TW"/>
              <a:t>其中排除y染色體及保留粒線體後有618563個snp</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rPr lang="zh-TW"/>
              <a:t>第一層利用Hilbert curve將相鄰像素可保留SNP的順序關係 </a:t>
            </a:r>
            <a:endParaRPr/>
          </a:p>
          <a:p>
            <a:pPr indent="-228600" lvl="0" marL="457200" rtl="0" algn="l">
              <a:spcBef>
                <a:spcPts val="0"/>
              </a:spcBef>
              <a:spcAft>
                <a:spcPts val="0"/>
              </a:spcAft>
              <a:buClr>
                <a:schemeClr val="dk1"/>
              </a:buClr>
              <a:buSzPts val="1400"/>
              <a:buFont typeface="Arial"/>
              <a:buNone/>
            </a:pPr>
            <a:r>
              <a:rPr lang="zh-TW"/>
              <a:t>第二層加入連鎖不平衡的生物結構資訊</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rPr lang="zh-TW"/>
              <a:t>最後再用多通道疊加的方式給模型訓練</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rPr lang="zh-TW"/>
              <a:t>步驟簡單來說是利用轉換好nucleotide 的資料 依照染色體座標排序</a:t>
            </a:r>
            <a:endParaRPr/>
          </a:p>
          <a:p>
            <a:pPr indent="-228600" lvl="0" marL="457200" rtl="0" algn="l">
              <a:spcBef>
                <a:spcPts val="0"/>
              </a:spcBef>
              <a:spcAft>
                <a:spcPts val="0"/>
              </a:spcAft>
              <a:buClr>
                <a:schemeClr val="dk1"/>
              </a:buClr>
              <a:buSzPts val="1400"/>
              <a:buFont typeface="Arial"/>
              <a:buNone/>
            </a:pPr>
            <a:r>
              <a:rPr lang="zh-TW"/>
              <a:t>並根據順序給每個snp hilbert index 進行二維的座標轉換依據</a:t>
            </a:r>
            <a:endParaRPr/>
          </a:p>
          <a:p>
            <a:pPr indent="-228600" lvl="0" marL="457200" rtl="0" algn="l">
              <a:spcBef>
                <a:spcPts val="0"/>
              </a:spcBef>
              <a:spcAft>
                <a:spcPts val="0"/>
              </a:spcAft>
              <a:buClr>
                <a:schemeClr val="dk1"/>
              </a:buClr>
              <a:buSzPts val="1400"/>
              <a:buFont typeface="Arial"/>
              <a:buNone/>
            </a:pPr>
            <a:r>
              <a:rPr lang="zh-TW"/>
              <a:t>因此相鄰 SNP 會沿 Hilbert path 放到相鄰的二維像素； </a:t>
            </a:r>
            <a:endParaRPr/>
          </a:p>
          <a:p>
            <a:pPr indent="-228600" lvl="0" marL="457200" rtl="0" algn="l">
              <a:spcBef>
                <a:spcPts val="0"/>
              </a:spcBef>
              <a:spcAft>
                <a:spcPts val="0"/>
              </a:spcAft>
              <a:buClr>
                <a:schemeClr val="dk1"/>
              </a:buClr>
              <a:buSzPts val="1400"/>
              <a:buFont typeface="Arial"/>
              <a:buNone/>
            </a:pPr>
            <a:r>
              <a:rPr lang="zh-TW"/>
              <a:t>Chr1 最後一個 SNP 不會和 Chr2 第一個 SNP 相接； </a:t>
            </a:r>
            <a:endParaRPr/>
          </a:p>
          <a:p>
            <a:pPr indent="-228600" lvl="0" marL="457200" rtl="0" algn="l">
              <a:spcBef>
                <a:spcPts val="0"/>
              </a:spcBef>
              <a:spcAft>
                <a:spcPts val="0"/>
              </a:spcAft>
              <a:buClr>
                <a:schemeClr val="dk1"/>
              </a:buClr>
              <a:buSzPts val="1400"/>
              <a:buFont typeface="Arial"/>
              <a:buNone/>
            </a:pPr>
            <a:r>
              <a:rPr lang="zh-TW"/>
              <a:t>每條染色體都有自己的 Hilbert tile； </a:t>
            </a:r>
            <a:endParaRPr/>
          </a:p>
          <a:p>
            <a:pPr indent="-228600" lvl="0" marL="457200" rtl="0" algn="l">
              <a:spcBef>
                <a:spcPts val="0"/>
              </a:spcBef>
              <a:spcAft>
                <a:spcPts val="0"/>
              </a:spcAft>
              <a:buClr>
                <a:schemeClr val="dk1"/>
              </a:buClr>
              <a:buSzPts val="1400"/>
              <a:buFont typeface="Arial"/>
              <a:buNone/>
            </a:pPr>
            <a:r>
              <a:rPr lang="zh-TW"/>
              <a:t>不同染色體依 SNP 數量使用不同 tile 大小</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rPr lang="zh-TW"/>
              <a:t>最後在一固定位置組合全基因染色體圖譜</a:t>
            </a:r>
            <a:endParaRPr/>
          </a:p>
          <a:p>
            <a:pPr indent="-228600" lvl="0" marL="457200" rtl="0" algn="l">
              <a:spcBef>
                <a:spcPts val="0"/>
              </a:spcBef>
              <a:spcAft>
                <a:spcPts val="0"/>
              </a:spcAft>
              <a:buClr>
                <a:schemeClr val="dk1"/>
              </a:buClr>
              <a:buSzPts val="1400"/>
              <a:buFont typeface="Arial"/>
              <a:buNone/>
            </a:pPr>
            <a:r>
              <a:rPr lang="zh-TW"/>
              <a:t>在genotype layer轉乘彩色的圖</a:t>
            </a:r>
            <a:endParaRPr/>
          </a:p>
          <a:p>
            <a:pPr indent="-228600" lvl="0" marL="457200" rtl="0" algn="l">
              <a:spcBef>
                <a:spcPts val="0"/>
              </a:spcBef>
              <a:spcAft>
                <a:spcPts val="0"/>
              </a:spcAft>
              <a:buClr>
                <a:schemeClr val="dk1"/>
              </a:buClr>
              <a:buSzPts val="1400"/>
              <a:buFont typeface="Arial"/>
              <a:buNone/>
            </a:pPr>
            <a:r>
              <a:rPr lang="zh-TW"/>
              <a:t>生物結構的部分則是先以二元的方式用灰階影像</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rPr lang="zh-TW"/>
              <a:t>上色規則（放圖）</a:t>
            </a:r>
            <a:endParaRPr/>
          </a:p>
          <a:p>
            <a:pPr indent="-228600" lvl="0" marL="457200" rtl="0" algn="l">
              <a:spcBef>
                <a:spcPts val="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222" name="Google Shape;222;g3f64edb0747_0_29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zh-TW"/>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64edb0747_0_3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f64edb0747_0_3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28600" lvl="0" marL="457200" rtl="0" algn="l">
              <a:spcBef>
                <a:spcPts val="0"/>
              </a:spcBef>
              <a:spcAft>
                <a:spcPts val="0"/>
              </a:spcAft>
              <a:buNone/>
            </a:pPr>
            <a:r>
              <a:t/>
            </a:r>
            <a:endParaRPr/>
          </a:p>
          <a:p>
            <a:pPr indent="-228600" lvl="0" marL="457200" rtl="0" algn="l">
              <a:spcBef>
                <a:spcPts val="0"/>
              </a:spcBef>
              <a:spcAft>
                <a:spcPts val="0"/>
              </a:spcAft>
              <a:buNone/>
            </a:pPr>
            <a:r>
              <a:rPr lang="zh-TW"/>
              <a:t>步驟簡單來說是利用轉換好nucleotide 的資料 依照染色體座標排序</a:t>
            </a:r>
            <a:endParaRPr/>
          </a:p>
          <a:p>
            <a:pPr indent="-228600" lvl="0" marL="457200" rtl="0" algn="l">
              <a:spcBef>
                <a:spcPts val="0"/>
              </a:spcBef>
              <a:spcAft>
                <a:spcPts val="0"/>
              </a:spcAft>
              <a:buNone/>
            </a:pPr>
            <a:r>
              <a:rPr lang="zh-TW"/>
              <a:t>並根據順序給每個snp hilbert index 進行二維的座標轉換依據</a:t>
            </a:r>
            <a:endParaRPr/>
          </a:p>
          <a:p>
            <a:pPr indent="-228600" lvl="0" marL="457200" rtl="0" algn="l">
              <a:spcBef>
                <a:spcPts val="0"/>
              </a:spcBef>
              <a:spcAft>
                <a:spcPts val="0"/>
              </a:spcAft>
              <a:buNone/>
            </a:pPr>
            <a:r>
              <a:rPr lang="zh-TW"/>
              <a:t>因此相鄰 SNP 會沿 Hilbert path 放到相鄰的二維像素； </a:t>
            </a:r>
            <a:endParaRPr/>
          </a:p>
          <a:p>
            <a:pPr indent="-228600" lvl="0" marL="457200" rtl="0" algn="l">
              <a:spcBef>
                <a:spcPts val="0"/>
              </a:spcBef>
              <a:spcAft>
                <a:spcPts val="0"/>
              </a:spcAft>
              <a:buClr>
                <a:schemeClr val="dk1"/>
              </a:buClr>
              <a:buSzPts val="1100"/>
              <a:buFont typeface="Arial"/>
              <a:buNone/>
            </a:pPr>
            <a:r>
              <a:rPr lang="zh-TW">
                <a:latin typeface="Arial"/>
                <a:ea typeface="Arial"/>
                <a:cs typeface="Arial"/>
                <a:sym typeface="Arial"/>
              </a:rPr>
              <a:t>Hilbert index 不等於實際鹼基對距離，只是將SNP的前後順序保留</a:t>
            </a:r>
            <a:endParaRPr/>
          </a:p>
          <a:p>
            <a:pPr indent="-22860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243" name="Google Shape;243;g3f64edb0747_0_3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f64edb0747_0_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f64edb0747_0_3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zh-TW"/>
              <a:t>因為不同染色體的snp數量不同 因此genotype排列的方式也不同</a:t>
            </a:r>
            <a:endParaRPr/>
          </a:p>
          <a:p>
            <a:pPr indent="0" lvl="0" marL="0" rtl="0" algn="l">
              <a:spcBef>
                <a:spcPts val="0"/>
              </a:spcBef>
              <a:spcAft>
                <a:spcPts val="0"/>
              </a:spcAft>
              <a:buNone/>
            </a:pPr>
            <a:r>
              <a:rPr lang="zh-TW">
                <a:latin typeface="Arial"/>
                <a:ea typeface="Arial"/>
                <a:cs typeface="Arial"/>
                <a:sym typeface="Arial"/>
              </a:rPr>
              <a:t>每個染色體有自己單獨的路徑 不會出現第一條染色體最後一個snp 接續第二條染色體的第一個snp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p>
        </p:txBody>
      </p:sp>
      <p:sp>
        <p:nvSpPr>
          <p:cNvPr id="256" name="Google Shape;256;g3f64edb0747_0_35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64edb0747_0_3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f64edb0747_0_3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zh-TW"/>
              <a:t>排好之後上色規則都是一樣的</a:t>
            </a:r>
            <a:endParaRPr/>
          </a:p>
        </p:txBody>
      </p:sp>
      <p:sp>
        <p:nvSpPr>
          <p:cNvPr id="268" name="Google Shape;268;g3f64edb0747_0_38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64edb0747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64edb0747_0_3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228600" lvl="0" marL="457200" rtl="0" algn="l">
              <a:spcBef>
                <a:spcPts val="0"/>
              </a:spcBef>
              <a:spcAft>
                <a:spcPts val="0"/>
              </a:spcAft>
              <a:buNone/>
            </a:pPr>
            <a:r>
              <a:rPr lang="zh-TW"/>
              <a:t>第二層</a:t>
            </a:r>
            <a:r>
              <a:rPr lang="zh-TW"/>
              <a:t>生物結構的部分則是用連鎖不平衡先以二元的方式用灰階影像轉換</a:t>
            </a:r>
            <a:endParaRPr/>
          </a:p>
          <a:p>
            <a:pPr indent="-228600" lvl="0" marL="457200" rtl="0" algn="l">
              <a:spcBef>
                <a:spcPts val="0"/>
              </a:spcBef>
              <a:spcAft>
                <a:spcPts val="0"/>
              </a:spcAft>
              <a:buNone/>
            </a:pPr>
            <a:r>
              <a:rPr lang="zh-TW"/>
              <a:t>利用version4計算好的ld</a:t>
            </a:r>
            <a:endParaRPr/>
          </a:p>
          <a:p>
            <a:pPr indent="-228600" lvl="0" marL="457200" rtl="0" algn="l">
              <a:spcBef>
                <a:spcPts val="0"/>
              </a:spcBef>
              <a:spcAft>
                <a:spcPts val="0"/>
              </a:spcAft>
              <a:buNone/>
            </a:pPr>
            <a:r>
              <a:rPr lang="zh-TW"/>
              <a:t>再利用兩個標記去看他是否有落在連鎖不平衡的範圍內(</a:t>
            </a:r>
            <a:r>
              <a:rPr b="1" lang="zh-TW" sz="1100">
                <a:latin typeface="Arial"/>
                <a:ea typeface="Arial"/>
                <a:cs typeface="Arial"/>
                <a:sym typeface="Arial"/>
              </a:rPr>
              <a:t>interval</a:t>
            </a:r>
            <a:r>
              <a:rPr lang="zh-TW" sz="1100">
                <a:latin typeface="Arial"/>
                <a:ea typeface="Arial"/>
                <a:cs typeface="Arial"/>
                <a:sym typeface="Arial"/>
              </a:rPr>
              <a:t>)</a:t>
            </a:r>
            <a:endParaRPr sz="1100">
              <a:latin typeface="Arial"/>
              <a:ea typeface="Arial"/>
              <a:cs typeface="Arial"/>
              <a:sym typeface="Arial"/>
            </a:endParaRPr>
          </a:p>
          <a:p>
            <a:pPr indent="-228600" lvl="0" marL="457200" rtl="0" algn="l">
              <a:spcBef>
                <a:spcPts val="0"/>
              </a:spcBef>
              <a:spcAft>
                <a:spcPts val="0"/>
              </a:spcAft>
              <a:buNone/>
            </a:pPr>
            <a:r>
              <a:rPr b="1" lang="zh-TW" sz="1100">
                <a:latin typeface="Arial"/>
                <a:ea typeface="Arial"/>
                <a:cs typeface="Arial"/>
                <a:sym typeface="Arial"/>
              </a:rPr>
              <a:t>以及是否屬於</a:t>
            </a:r>
            <a:r>
              <a:rPr lang="zh-TW" sz="1100">
                <a:latin typeface="Arial"/>
                <a:ea typeface="Arial"/>
                <a:cs typeface="Arial"/>
                <a:sym typeface="Arial"/>
              </a:rPr>
              <a:t>PLINK選道的連鎖不平衡的snp之一(member)</a:t>
            </a:r>
            <a:endParaRPr sz="1100">
              <a:latin typeface="Arial"/>
              <a:ea typeface="Arial"/>
              <a:cs typeface="Arial"/>
              <a:sym typeface="Arial"/>
            </a:endParaRPr>
          </a:p>
          <a:p>
            <a:pPr indent="-228600" lvl="0" marL="457200" rtl="0" algn="l">
              <a:spcBef>
                <a:spcPts val="0"/>
              </a:spcBef>
              <a:spcAft>
                <a:spcPts val="0"/>
              </a:spcAft>
              <a:buNone/>
            </a:pPr>
            <a:r>
              <a:t/>
            </a:r>
            <a:endParaRPr/>
          </a:p>
          <a:p>
            <a:pPr indent="-228600" lvl="0" marL="457200" rtl="0" algn="l">
              <a:spcBef>
                <a:spcPts val="0"/>
              </a:spcBef>
              <a:spcAft>
                <a:spcPts val="0"/>
              </a:spcAft>
              <a:buNone/>
            </a:pPr>
            <a:r>
              <a:t/>
            </a:r>
            <a:endParaRPr/>
          </a:p>
          <a:p>
            <a:pPr indent="-228600" lvl="0" marL="457200" rtl="0" algn="l">
              <a:spcBef>
                <a:spcPts val="0"/>
              </a:spcBef>
              <a:spcAft>
                <a:spcPts val="0"/>
              </a:spcAft>
              <a:buNone/>
            </a:pPr>
            <a:r>
              <a:t/>
            </a:r>
            <a:endParaRPr/>
          </a:p>
          <a:p>
            <a:pPr indent="-228600" lvl="0" marL="457200" rtl="0" algn="l">
              <a:spcBef>
                <a:spcPts val="0"/>
              </a:spcBef>
              <a:spcAft>
                <a:spcPts val="0"/>
              </a:spcAft>
              <a:buNone/>
            </a:pPr>
            <a:r>
              <a:t/>
            </a:r>
            <a:endParaRPr/>
          </a:p>
          <a:p>
            <a:pPr indent="-228600" lvl="0" marL="457200" rtl="0" algn="l">
              <a:spcBef>
                <a:spcPts val="0"/>
              </a:spcBef>
              <a:spcAft>
                <a:spcPts val="0"/>
              </a:spcAft>
              <a:buNone/>
            </a:pPr>
            <a:r>
              <a:rPr b="1" lang="zh-TW"/>
              <a:t>LD block</a:t>
            </a:r>
            <a:r>
              <a:rPr lang="zh-TW"/>
              <a:t> 是一段基因組區域，其中多個 SNP 彼此具有較強的 LD：一組彼此具有較強遺傳相關性的 SNP，以及它們所涵蓋的基因組區間</a:t>
            </a:r>
            <a:endParaRPr/>
          </a:p>
          <a:p>
            <a:pPr indent="-228600" lvl="0" marL="457200" rtl="0" algn="l">
              <a:spcBef>
                <a:spcPts val="0"/>
              </a:spcBef>
              <a:spcAft>
                <a:spcPts val="0"/>
              </a:spcAft>
              <a:buNone/>
            </a:pPr>
            <a:r>
              <a:t/>
            </a:r>
            <a:endParaRPr/>
          </a:p>
          <a:p>
            <a:pPr indent="-228600" lvl="0" marL="457200" rtl="0" algn="l">
              <a:spcBef>
                <a:spcPts val="0"/>
              </a:spcBef>
              <a:spcAft>
                <a:spcPts val="0"/>
              </a:spcAft>
              <a:buNone/>
            </a:pPr>
            <a:r>
              <a:rPr b="1" lang="zh-TW"/>
              <a:t>LD mask 不是 PLINK 原始分析結果的名稱</a:t>
            </a:r>
            <a:r>
              <a:rPr lang="zh-TW"/>
              <a:t>，而是我們為了建立影像，將 LD 結果轉成的數值標記：這個pixel對應的SNP是否位於LD結構中，1：具有該結構 0：不具有該結構</a:t>
            </a:r>
            <a:endParaRPr/>
          </a:p>
          <a:p>
            <a:pPr indent="-228600" lvl="0" marL="457200" rtl="0" algn="l">
              <a:spcBef>
                <a:spcPts val="0"/>
              </a:spcBef>
              <a:spcAft>
                <a:spcPts val="0"/>
              </a:spcAft>
              <a:buNone/>
            </a:pPr>
            <a:r>
              <a:t/>
            </a:r>
            <a:endParaRPr/>
          </a:p>
          <a:p>
            <a:pPr indent="-228600" lvl="0" marL="457200" rtl="0" algn="l">
              <a:spcBef>
                <a:spcPts val="0"/>
              </a:spcBef>
              <a:spcAft>
                <a:spcPts val="0"/>
              </a:spcAft>
              <a:buNone/>
            </a:pPr>
            <a:r>
              <a:rPr lang="zh-TW"/>
              <a:t>一位受試者的個人 genotype image，搭配一張由 10 人共同估計的 LD structure image</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228600" lvl="0" marL="457200" rtl="0" algn="l">
              <a:spcBef>
                <a:spcPts val="0"/>
              </a:spcBef>
              <a:spcAft>
                <a:spcPts val="0"/>
              </a:spcAft>
              <a:buClr>
                <a:schemeClr val="dk1"/>
              </a:buClr>
              <a:buSzPts val="1400"/>
              <a:buFont typeface="Arial"/>
              <a:buNone/>
            </a:pPr>
            <a:r>
              <a:t/>
            </a:r>
            <a:endParaRPr/>
          </a:p>
          <a:p>
            <a:pPr indent="0" lvl="0" marL="0" rtl="0" algn="l">
              <a:spcBef>
                <a:spcPts val="0"/>
              </a:spcBef>
              <a:spcAft>
                <a:spcPts val="0"/>
              </a:spcAft>
              <a:buClr>
                <a:schemeClr val="dk1"/>
              </a:buClr>
              <a:buSzPts val="1100"/>
              <a:buFont typeface="Arial"/>
              <a:buNone/>
            </a:pPr>
            <a:r>
              <a:rPr lang="zh-TW">
                <a:latin typeface="Arial"/>
                <a:ea typeface="Arial"/>
                <a:cs typeface="Arial"/>
                <a:sym typeface="Arial"/>
              </a:rPr>
              <a:t>SNP 的實體位置落在 PLINK LD block 的 BP1(ld block1起始位置)–BP2(ld block 結束位置) 範圍內 (bp=base pair鹼基對位置)</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zh-TW">
                <a:latin typeface="Arial"/>
                <a:ea typeface="Arial"/>
                <a:cs typeface="Arial"/>
                <a:sym typeface="Arial"/>
              </a:rPr>
              <a:t>有 632 個 LD blocks</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marR="381000" rtl="0" algn="l">
              <a:lnSpc>
                <a:spcPct val="115000"/>
              </a:lnSpc>
              <a:spcBef>
                <a:spcPts val="1200"/>
              </a:spcBef>
              <a:spcAft>
                <a:spcPts val="0"/>
              </a:spcAft>
              <a:buClr>
                <a:schemeClr val="dk1"/>
              </a:buClr>
              <a:buSzPts val="1100"/>
              <a:buFont typeface="Arial"/>
              <a:buNone/>
            </a:pPr>
            <a:r>
              <a:rPr lang="zh-TW">
                <a:latin typeface="Arial"/>
                <a:ea typeface="Arial"/>
                <a:cs typeface="Arial"/>
                <a:sym typeface="Arial"/>
              </a:rPr>
              <a:t>BP1 是某個 LD block 的起始 base-pair 位置，BP2 是該 block 的結束 base-pair 位置=LD block 在基因組上的起點和終點。</a:t>
            </a:r>
            <a:endParaRPr>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a:latin typeface="Arial"/>
              <a:ea typeface="Arial"/>
              <a:cs typeface="Arial"/>
              <a:sym typeface="Arial"/>
            </a:endParaRPr>
          </a:p>
        </p:txBody>
      </p:sp>
      <p:sp>
        <p:nvSpPr>
          <p:cNvPr id="280" name="Google Shape;280;g3f64edb0747_0_3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65440cd3d_2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65440cd3d_2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zh-TW" sz="1400">
                <a:latin typeface="Arial"/>
                <a:ea typeface="Arial"/>
                <a:cs typeface="Arial"/>
                <a:sym typeface="Arial"/>
              </a:rPr>
              <a:t>在利用數值轉換成顏色</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rPr lang="zh-TW" sz="1400">
                <a:latin typeface="Arial"/>
                <a:ea typeface="Arial"/>
                <a:cs typeface="Arial"/>
                <a:sym typeface="Arial"/>
              </a:rPr>
              <a:t>白色則是該snp落在ld的區間內表示他能被辨識為一個可能具有連鎖不平衡結構的基因組區段</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rPr lang="zh-TW" sz="1400">
                <a:latin typeface="Arial"/>
                <a:ea typeface="Arial"/>
                <a:cs typeface="Arial"/>
                <a:sym typeface="Arial"/>
              </a:rPr>
              <a:t>灰色則是其他不是連鎖不平衡的SNP</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rPr lang="zh-TW" sz="1400">
                <a:latin typeface="Arial"/>
                <a:ea typeface="Arial"/>
                <a:cs typeface="Arial"/>
                <a:sym typeface="Arial"/>
              </a:rPr>
              <a:t>黑色：padding/染色體之間的gep 不是真實的snp</a:t>
            </a:r>
            <a:endParaRPr/>
          </a:p>
        </p:txBody>
      </p:sp>
      <p:sp>
        <p:nvSpPr>
          <p:cNvPr id="298" name="Google Shape;298;g3f65440cd3d_2_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f64edb0747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g3f64edb0747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zh-TW" sz="1400">
                <a:latin typeface="Arial"/>
                <a:ea typeface="Arial"/>
                <a:cs typeface="Arial"/>
                <a:sym typeface="Arial"/>
              </a:rPr>
              <a:t>結果中首先是先看最小單位以染色體呈現的</a:t>
            </a:r>
            <a:r>
              <a:rPr lang="zh-TW" sz="1400">
                <a:latin typeface="Arial"/>
                <a:ea typeface="Arial"/>
                <a:cs typeface="Arial"/>
                <a:sym typeface="Arial"/>
              </a:rPr>
              <a:t>兩張圖：</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zh-TW" sz="1400">
                <a:latin typeface="Arial"/>
                <a:ea typeface="Arial"/>
                <a:cs typeface="Arial"/>
                <a:sym typeface="Arial"/>
              </a:rPr>
              <a:t>左圖同一個位置：受試者的nucleotide genotype </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zh-TW" sz="1400">
                <a:latin typeface="Arial"/>
                <a:ea typeface="Arial"/>
                <a:cs typeface="Arial"/>
                <a:sym typeface="Arial"/>
              </a:rPr>
              <a:t>右圖同一個位置：該SNP是否位於LD interval </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zh-TW" sz="1400">
                <a:latin typeface="Arial"/>
                <a:ea typeface="Arial"/>
                <a:cs typeface="Arial"/>
                <a:sym typeface="Arial"/>
              </a:rPr>
              <a:t>黑色區域：Hilbert tile中的padding</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zh-TW" sz="1400">
                <a:latin typeface="Arial"/>
                <a:ea typeface="Arial"/>
                <a:cs typeface="Arial"/>
                <a:sym typeface="Arial"/>
              </a:rPr>
              <a:t>Version 5 的規則是：根據每條染色體的 SNP 數量，</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zh-TW" sz="1400">
                <a:latin typeface="Arial"/>
                <a:ea typeface="Arial"/>
                <a:cs typeface="Arial"/>
                <a:sym typeface="Arial"/>
              </a:rPr>
              <a:t>選擇「能容納所有 SNP 的最小 2的k次方*2的k次方 依據每條染色體的 SNP 數量</a:t>
            </a:r>
            <a:endParaRPr sz="1400">
              <a:latin typeface="Arial"/>
              <a:ea typeface="Arial"/>
              <a:cs typeface="Arial"/>
              <a:sym typeface="Arial"/>
            </a:endParaRPr>
          </a:p>
        </p:txBody>
      </p:sp>
      <p:sp>
        <p:nvSpPr>
          <p:cNvPr id="309" name="Google Shape;309;g3f64edb0747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64edb0747_0_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3f64edb0747_0_1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zh-TW" sz="1400">
                <a:latin typeface="Arial"/>
                <a:ea typeface="Arial"/>
                <a:cs typeface="Arial"/>
                <a:sym typeface="Arial"/>
              </a:rPr>
              <a:t>再來是看一個人的</a:t>
            </a:r>
            <a:r>
              <a:rPr lang="zh-TW" sz="1400">
                <a:latin typeface="Arial"/>
                <a:ea typeface="Arial"/>
                <a:cs typeface="Arial"/>
                <a:sym typeface="Arial"/>
              </a:rPr>
              <a:t>全基因染色體組圖譜 </a:t>
            </a:r>
            <a:endParaRPr sz="1400">
              <a:latin typeface="Arial"/>
              <a:ea typeface="Arial"/>
              <a:cs typeface="Arial"/>
              <a:sym typeface="Arial"/>
            </a:endParaRPr>
          </a:p>
          <a:p>
            <a:pPr indent="0" lvl="0" marL="0" rtl="0" algn="l">
              <a:spcBef>
                <a:spcPts val="0"/>
              </a:spcBef>
              <a:spcAft>
                <a:spcPts val="0"/>
              </a:spcAft>
              <a:buClr>
                <a:schemeClr val="dk1"/>
              </a:buClr>
              <a:buFont typeface="Arial"/>
              <a:buNone/>
            </a:pPr>
            <a:r>
              <a:rPr lang="zh-TW" sz="1400">
                <a:latin typeface="Arial"/>
                <a:ea typeface="Arial"/>
                <a:cs typeface="Arial"/>
                <a:sym typeface="Arial"/>
              </a:rPr>
              <a:t>一個人會有兩張圖</a:t>
            </a:r>
            <a:endParaRPr sz="1400">
              <a:latin typeface="Arial"/>
              <a:ea typeface="Arial"/>
              <a:cs typeface="Arial"/>
              <a:sym typeface="Arial"/>
            </a:endParaRPr>
          </a:p>
          <a:p>
            <a:pPr indent="-228600" lvl="0" marL="457200" rtl="0" algn="l">
              <a:spcBef>
                <a:spcPts val="0"/>
              </a:spcBef>
              <a:spcAft>
                <a:spcPts val="0"/>
              </a:spcAft>
              <a:buClr>
                <a:schemeClr val="dk1"/>
              </a:buClr>
              <a:buSzPts val="1400"/>
              <a:buFont typeface="Arial"/>
              <a:buNone/>
            </a:pPr>
            <a:r>
              <a:t/>
            </a:r>
            <a:endParaRPr/>
          </a:p>
        </p:txBody>
      </p:sp>
      <p:sp>
        <p:nvSpPr>
          <p:cNvPr id="328" name="Google Shape;328;g3f64edb0747_0_1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f64edb0747_0_2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f64edb0747_0_2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zh-TW">
                <a:highlight>
                  <a:schemeClr val="lt1"/>
                </a:highlight>
              </a:rPr>
              <a:t>全部十個人的 </a:t>
            </a:r>
            <a:r>
              <a:rPr lang="zh-TW">
                <a:highlight>
                  <a:schemeClr val="lt1"/>
                </a:highlight>
                <a:latin typeface="Arial"/>
                <a:ea typeface="Arial"/>
                <a:cs typeface="Arial"/>
                <a:sym typeface="Arial"/>
              </a:rPr>
              <a:t>全基因染色體組圖譜 </a:t>
            </a:r>
            <a:endParaRPr>
              <a:highlight>
                <a:schemeClr val="lt1"/>
              </a:highlight>
            </a:endParaRPr>
          </a:p>
          <a:p>
            <a:pPr indent="0" lvl="0" marL="0" rtl="0" algn="l">
              <a:spcBef>
                <a:spcPts val="0"/>
              </a:spcBef>
              <a:spcAft>
                <a:spcPts val="0"/>
              </a:spcAft>
              <a:buNone/>
            </a:pPr>
            <a:r>
              <a:t/>
            </a:r>
            <a:endParaRPr/>
          </a:p>
        </p:txBody>
      </p:sp>
      <p:sp>
        <p:nvSpPr>
          <p:cNvPr id="347" name="Google Shape;347;g3f64edb0747_0_29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zh-TW"/>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64edb0747_0_4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g3f64edb0747_0_4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spcBef>
                <a:spcPts val="0"/>
              </a:spcBef>
              <a:spcAft>
                <a:spcPts val="0"/>
              </a:spcAft>
              <a:buClr>
                <a:schemeClr val="dk1"/>
              </a:buClr>
              <a:buSzPts val="1400"/>
              <a:buFont typeface="Arial"/>
              <a:buNone/>
            </a:pPr>
            <a:r>
              <a:rPr lang="zh-TW" sz="1400">
                <a:latin typeface="Arial"/>
                <a:ea typeface="Arial"/>
                <a:cs typeface="Arial"/>
                <a:sym typeface="Arial"/>
              </a:rPr>
              <a:t>第六版則會考慮連鎖不平衡的強度 以反應生物資訊中較高的遺傳相關性的情況 </a:t>
            </a:r>
            <a:endParaRPr/>
          </a:p>
        </p:txBody>
      </p:sp>
      <p:sp>
        <p:nvSpPr>
          <p:cNvPr id="354" name="Google Shape;354;g3f64edb0747_0_4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zh-TW"/>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lang="zh-TW" sz="1200">
                <a:solidFill>
                  <a:schemeClr val="dk1"/>
                </a:solidFill>
                <a:latin typeface="Arial"/>
                <a:ea typeface="Arial"/>
                <a:cs typeface="Arial"/>
                <a:sym typeface="Arial"/>
              </a:rPr>
              <a:t>Version 5</a:t>
            </a:r>
            <a:endParaRPr b="0"/>
          </a:p>
          <a:p>
            <a:pPr indent="-228600" lvl="0" marL="457200" marR="0" rtl="0" algn="l">
              <a:lnSpc>
                <a:spcPct val="100000"/>
              </a:lnSpc>
              <a:spcBef>
                <a:spcPts val="0"/>
              </a:spcBef>
              <a:spcAft>
                <a:spcPts val="0"/>
              </a:spcAft>
              <a:buSzPts val="1400"/>
              <a:buNone/>
            </a:pPr>
            <a:r>
              <a:rPr b="0" lang="zh-TW"/>
              <a:t>核心改變就是不想要讓所有snp轉乘單一排列的影像 而是</a:t>
            </a:r>
            <a:r>
              <a:rPr b="0" lang="zh-TW" sz="1200">
                <a:solidFill>
                  <a:schemeClr val="dk1"/>
                </a:solidFill>
                <a:latin typeface="Arial"/>
                <a:ea typeface="Arial"/>
                <a:cs typeface="Arial"/>
                <a:sym typeface="Arial"/>
              </a:rPr>
              <a:t>採用</a:t>
            </a:r>
            <a:r>
              <a:rPr b="0" lang="zh-TW"/>
              <a:t>影像分層的方式</a:t>
            </a:r>
            <a:endParaRPr b="0"/>
          </a:p>
          <a:p>
            <a:pPr indent="-228600" lvl="0" marL="457200" marR="0" rtl="0" algn="l">
              <a:lnSpc>
                <a:spcPct val="100000"/>
              </a:lnSpc>
              <a:spcBef>
                <a:spcPts val="0"/>
              </a:spcBef>
              <a:spcAft>
                <a:spcPts val="0"/>
              </a:spcAft>
              <a:buSzPts val="1400"/>
              <a:buNone/>
            </a:pPr>
            <a:r>
              <a:rPr b="0" lang="zh-TW"/>
              <a:t>第一層利用Hilbert curve將相鄰像素可保留SNP的順序關係 建立多通道的影像</a:t>
            </a:r>
            <a:endParaRPr b="0"/>
          </a:p>
          <a:p>
            <a:pPr indent="-228600" lvl="0" marL="457200" marR="0" rtl="0" algn="l">
              <a:lnSpc>
                <a:spcPct val="100000"/>
              </a:lnSpc>
              <a:spcBef>
                <a:spcPts val="0"/>
              </a:spcBef>
              <a:spcAft>
                <a:spcPts val="0"/>
              </a:spcAft>
              <a:buSzPts val="1400"/>
              <a:buNone/>
            </a:pPr>
            <a:r>
              <a:rPr b="0" lang="zh-TW"/>
              <a:t>第二層加入連鎖不平衡的生物結構資訊</a:t>
            </a:r>
            <a:endParaRPr b="0"/>
          </a:p>
          <a:p>
            <a:pPr indent="-228600" lvl="0" marL="457200" marR="0" rtl="0" algn="l">
              <a:lnSpc>
                <a:spcPct val="100000"/>
              </a:lnSpc>
              <a:spcBef>
                <a:spcPts val="0"/>
              </a:spcBef>
              <a:spcAft>
                <a:spcPts val="0"/>
              </a:spcAft>
              <a:buSzPts val="1400"/>
              <a:buNone/>
            </a:pPr>
            <a:r>
              <a:rPr b="0" lang="zh-TW"/>
              <a:t>其中排除y染色體及保留粒線體後有618563個snp</a:t>
            </a:r>
            <a:endParaRPr b="0"/>
          </a:p>
          <a:p>
            <a:pPr indent="-228600" lvl="0" marL="457200" marR="0" rtl="0" algn="l">
              <a:lnSpc>
                <a:spcPct val="100000"/>
              </a:lnSpc>
              <a:spcBef>
                <a:spcPts val="0"/>
              </a:spcBef>
              <a:spcAft>
                <a:spcPts val="0"/>
              </a:spcAft>
              <a:buSzPts val="1400"/>
              <a:buNone/>
            </a:pPr>
            <a:r>
              <a:t/>
            </a:r>
            <a:endParaRPr b="0"/>
          </a:p>
          <a:p>
            <a:pPr indent="-228600" lvl="0" marL="457200" marR="0" rtl="0" algn="l">
              <a:lnSpc>
                <a:spcPct val="100000"/>
              </a:lnSpc>
              <a:spcBef>
                <a:spcPts val="0"/>
              </a:spcBef>
              <a:spcAft>
                <a:spcPts val="0"/>
              </a:spcAft>
              <a:buSzPts val="1400"/>
              <a:buNone/>
            </a:pPr>
            <a:r>
              <a:t/>
            </a:r>
            <a:endParaRPr b="0"/>
          </a:p>
          <a:p>
            <a:pPr indent="-228600" lvl="0" marL="457200" marR="0" rtl="0" algn="l">
              <a:lnSpc>
                <a:spcPct val="100000"/>
              </a:lnSpc>
              <a:spcBef>
                <a:spcPts val="0"/>
              </a:spcBef>
              <a:spcAft>
                <a:spcPts val="0"/>
              </a:spcAft>
              <a:buSzPts val="1400"/>
              <a:buNone/>
            </a:pPr>
            <a:r>
              <a:rPr lang="zh-TW"/>
              <a:t>步驟簡單來說是利用轉換好nucleotide 的資料 依照染色體座標排序</a:t>
            </a:r>
            <a:endParaRPr/>
          </a:p>
          <a:p>
            <a:pPr indent="-228600" lvl="0" marL="457200" marR="0" rtl="0" algn="l">
              <a:lnSpc>
                <a:spcPct val="100000"/>
              </a:lnSpc>
              <a:spcBef>
                <a:spcPts val="0"/>
              </a:spcBef>
              <a:spcAft>
                <a:spcPts val="0"/>
              </a:spcAft>
              <a:buSzPts val="1400"/>
              <a:buNone/>
            </a:pPr>
            <a:r>
              <a:rPr lang="zh-TW"/>
              <a:t>並根據順序給每個snp hilbert index 進行二維的座標轉換依據</a:t>
            </a:r>
            <a:endParaRPr/>
          </a:p>
          <a:p>
            <a:pPr indent="-228600" lvl="0" marL="457200" rtl="0" algn="l">
              <a:lnSpc>
                <a:spcPct val="100000"/>
              </a:lnSpc>
              <a:spcBef>
                <a:spcPts val="0"/>
              </a:spcBef>
              <a:spcAft>
                <a:spcPts val="0"/>
              </a:spcAft>
              <a:buSzPts val="1400"/>
              <a:buNone/>
            </a:pPr>
            <a:r>
              <a:rPr lang="zh-TW"/>
              <a:t>因此相鄰 SNP 會沿 Hilbert path 放到相鄰的二維像素； </a:t>
            </a:r>
            <a:endParaRPr/>
          </a:p>
          <a:p>
            <a:pPr indent="-228600" lvl="0" marL="457200" rtl="0" algn="l">
              <a:lnSpc>
                <a:spcPct val="100000"/>
              </a:lnSpc>
              <a:spcBef>
                <a:spcPts val="0"/>
              </a:spcBef>
              <a:spcAft>
                <a:spcPts val="0"/>
              </a:spcAft>
              <a:buSzPts val="1400"/>
              <a:buNone/>
            </a:pPr>
            <a:r>
              <a:rPr lang="zh-TW"/>
              <a:t>Chr1 最後一個 SNP 不會和 Chr2 第一個 SNP 相接； </a:t>
            </a:r>
            <a:endParaRPr/>
          </a:p>
          <a:p>
            <a:pPr indent="-228600" lvl="0" marL="457200" rtl="0" algn="l">
              <a:lnSpc>
                <a:spcPct val="100000"/>
              </a:lnSpc>
              <a:spcBef>
                <a:spcPts val="0"/>
              </a:spcBef>
              <a:spcAft>
                <a:spcPts val="0"/>
              </a:spcAft>
              <a:buSzPts val="1400"/>
              <a:buNone/>
            </a:pPr>
            <a:r>
              <a:rPr lang="zh-TW"/>
              <a:t>每條染色體都有自己的 Hilbert tile； </a:t>
            </a:r>
            <a:endParaRPr/>
          </a:p>
          <a:p>
            <a:pPr indent="-228600" lvl="0" marL="457200" rtl="0" algn="l">
              <a:lnSpc>
                <a:spcPct val="100000"/>
              </a:lnSpc>
              <a:spcBef>
                <a:spcPts val="0"/>
              </a:spcBef>
              <a:spcAft>
                <a:spcPts val="0"/>
              </a:spcAft>
              <a:buSzPts val="1400"/>
              <a:buNone/>
            </a:pPr>
            <a:r>
              <a:rPr lang="zh-TW"/>
              <a:t>不同染色體依 SNP 數量使用不同 tile 大小</a:t>
            </a:r>
            <a:endParaRPr/>
          </a:p>
          <a:p>
            <a:pPr indent="-228600" lvl="0" marL="457200" rtl="0" algn="l">
              <a:lnSpc>
                <a:spcPct val="100000"/>
              </a:lnSpc>
              <a:spcBef>
                <a:spcPts val="0"/>
              </a:spcBef>
              <a:spcAft>
                <a:spcPts val="0"/>
              </a:spcAft>
              <a:buSzPts val="1400"/>
              <a:buNone/>
            </a:pPr>
            <a:r>
              <a:t/>
            </a:r>
            <a:endParaRPr/>
          </a:p>
          <a:p>
            <a:pPr indent="-228600" lvl="0" marL="457200" rtl="0" algn="l">
              <a:lnSpc>
                <a:spcPct val="100000"/>
              </a:lnSpc>
              <a:spcBef>
                <a:spcPts val="0"/>
              </a:spcBef>
              <a:spcAft>
                <a:spcPts val="0"/>
              </a:spcAft>
              <a:buSzPts val="1400"/>
              <a:buNone/>
            </a:pPr>
            <a:r>
              <a:rPr lang="zh-TW"/>
              <a:t>最後在一固定位置組合全基因染色體圖譜</a:t>
            </a:r>
            <a:endParaRPr/>
          </a:p>
          <a:p>
            <a:pPr indent="-228600" lvl="0" marL="457200" rtl="0" algn="l">
              <a:lnSpc>
                <a:spcPct val="100000"/>
              </a:lnSpc>
              <a:spcBef>
                <a:spcPts val="0"/>
              </a:spcBef>
              <a:spcAft>
                <a:spcPts val="0"/>
              </a:spcAft>
              <a:buSzPts val="1400"/>
              <a:buNone/>
            </a:pPr>
            <a:r>
              <a:rPr lang="zh-TW"/>
              <a:t>在genotype layer轉乘彩色的圖</a:t>
            </a:r>
            <a:endParaRPr/>
          </a:p>
          <a:p>
            <a:pPr indent="-228600" lvl="0" marL="457200" rtl="0" algn="l">
              <a:lnSpc>
                <a:spcPct val="100000"/>
              </a:lnSpc>
              <a:spcBef>
                <a:spcPts val="0"/>
              </a:spcBef>
              <a:spcAft>
                <a:spcPts val="0"/>
              </a:spcAft>
              <a:buSzPts val="1400"/>
              <a:buNone/>
            </a:pPr>
            <a:r>
              <a:rPr lang="zh-TW"/>
              <a:t>生物結構的部分則是先以二元的方式用灰階影像</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zh-TW"/>
              <a:t>上色規則（放圖）</a:t>
            </a:r>
            <a:endParaRPr/>
          </a:p>
          <a:p>
            <a:pPr indent="-228600" lvl="0" marL="457200" marR="0" rtl="0" algn="l">
              <a:lnSpc>
                <a:spcPct val="100000"/>
              </a:lnSpc>
              <a:spcBef>
                <a:spcPts val="0"/>
              </a:spcBef>
              <a:spcAft>
                <a:spcPts val="0"/>
              </a:spcAft>
              <a:buSzPts val="1400"/>
              <a:buNone/>
            </a:pPr>
            <a:r>
              <a:t/>
            </a:r>
            <a:endParaRPr/>
          </a:p>
        </p:txBody>
      </p:sp>
      <p:sp>
        <p:nvSpPr>
          <p:cNvPr id="409" name="Google Shape;40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zh-TW"/>
              <a:t>LD 全名是 </a:t>
            </a:r>
            <a:r>
              <a:rPr b="1" lang="zh-TW"/>
              <a:t>linkage disequilibrium，連鎖不平衡</a:t>
            </a:r>
            <a:r>
              <a:rPr lang="zh-TW"/>
              <a:t>。</a:t>
            </a:r>
            <a:endParaRPr/>
          </a:p>
          <a:p>
            <a:pPr indent="-228600" lvl="0" marL="457200" marR="0" rtl="0" algn="l">
              <a:lnSpc>
                <a:spcPct val="100000"/>
              </a:lnSpc>
              <a:spcBef>
                <a:spcPts val="0"/>
              </a:spcBef>
              <a:spcAft>
                <a:spcPts val="0"/>
              </a:spcAft>
              <a:buSzPts val="1400"/>
              <a:buNone/>
            </a:pPr>
            <a:r>
              <a:rPr lang="zh-TW"/>
              <a:t>它表示兩個 SNP 的 allele 組合出現頻率，與「彼此獨立」時預期的頻率不同。簡單來說：</a:t>
            </a:r>
            <a:endParaRPr/>
          </a:p>
          <a:p>
            <a:pPr indent="-228600" lvl="0" marL="457200" marR="0" rtl="0" algn="l">
              <a:lnSpc>
                <a:spcPct val="100000"/>
              </a:lnSpc>
              <a:spcBef>
                <a:spcPts val="0"/>
              </a:spcBef>
              <a:spcAft>
                <a:spcPts val="0"/>
              </a:spcAft>
              <a:buSzPts val="1400"/>
              <a:buNone/>
            </a:pPr>
            <a:r>
              <a:rPr lang="zh-TW"/>
              <a:t>某些相鄰 SNP 常一起被遺傳，因此它們的 genotype 具有較強相關性。</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b="1" lang="zh-TW"/>
              <a:t>LD block</a:t>
            </a:r>
            <a:r>
              <a:rPr lang="zh-TW"/>
              <a:t> 是一段基因組區域，其中多個 SNP 彼此具有較強的 LD：一組彼此具有較強遺傳相關性的 SNP，以及它們所涵蓋的基因組區間</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b="1" lang="zh-TW"/>
              <a:t>LD mask 不是 PLINK 原始分析結果的名稱</a:t>
            </a:r>
            <a:r>
              <a:rPr lang="zh-TW"/>
              <a:t>，而是我們為了建立影像，將 LD 結果轉成的數值標記：這個pixel對應的SNP是否位於LD結構中，1：具有該結構 0：不具有該結構</a:t>
            </a:r>
            <a:endParaRPr/>
          </a:p>
        </p:txBody>
      </p:sp>
      <p:sp>
        <p:nvSpPr>
          <p:cNvPr id="427" name="Google Shape;42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zh-TW"/>
              <a:t>每條染色體各自建立 Hilbert tile。 </a:t>
            </a:r>
            <a:endParaRPr/>
          </a:p>
          <a:p>
            <a:pPr indent="-228600" lvl="0" marL="457200" rtl="0" algn="l">
              <a:lnSpc>
                <a:spcPct val="100000"/>
              </a:lnSpc>
              <a:spcBef>
                <a:spcPts val="0"/>
              </a:spcBef>
              <a:spcAft>
                <a:spcPts val="0"/>
              </a:spcAft>
              <a:buSzPts val="1400"/>
              <a:buNone/>
            </a:pPr>
            <a:r>
              <a:rPr lang="zh-TW"/>
              <a:t>再把 1–22、X、MT 排成一張全基因組圖譜。</a:t>
            </a:r>
            <a:endParaRPr/>
          </a:p>
          <a:p>
            <a:pPr indent="-228600" lvl="0" marL="457200" marR="0" rtl="0" algn="l">
              <a:lnSpc>
                <a:spcPct val="100000"/>
              </a:lnSpc>
              <a:spcBef>
                <a:spcPts val="0"/>
              </a:spcBef>
              <a:spcAft>
                <a:spcPts val="0"/>
              </a:spcAft>
              <a:buSzPts val="1400"/>
              <a:buNone/>
            </a:pPr>
            <a:r>
              <a:t/>
            </a:r>
            <a:endParaRPr/>
          </a:p>
        </p:txBody>
      </p:sp>
      <p:sp>
        <p:nvSpPr>
          <p:cNvPr id="439" name="Google Shape;43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48" name="Google Shape;448;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59" name="Google Shape;45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t/>
            </a:r>
            <a:endParaRPr/>
          </a:p>
        </p:txBody>
      </p:sp>
      <p:sp>
        <p:nvSpPr>
          <p:cNvPr id="478" name="Google Shape;478;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zh-TW"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5" name="Shape 15"/>
        <p:cNvGrpSpPr/>
        <p:nvPr/>
      </p:nvGrpSpPr>
      <p:grpSpPr>
        <a:xfrm>
          <a:off x="0" y="0"/>
          <a:ext cx="0" cy="0"/>
          <a:chOff x="0" y="0"/>
          <a:chExt cx="0" cy="0"/>
        </a:xfrm>
      </p:grpSpPr>
      <p:sp>
        <p:nvSpPr>
          <p:cNvPr id="16" name="Google Shape;16;p3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21" name="Shape 21"/>
        <p:cNvGrpSpPr/>
        <p:nvPr/>
      </p:nvGrpSpPr>
      <p:grpSpPr>
        <a:xfrm>
          <a:off x="0" y="0"/>
          <a:ext cx="0" cy="0"/>
          <a:chOff x="0" y="0"/>
          <a:chExt cx="0" cy="0"/>
        </a:xfrm>
      </p:grpSpPr>
      <p:sp>
        <p:nvSpPr>
          <p:cNvPr id="22" name="Google Shape;22;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26" name="Shape 26"/>
        <p:cNvGrpSpPr/>
        <p:nvPr/>
      </p:nvGrpSpPr>
      <p:grpSpPr>
        <a:xfrm>
          <a:off x="0" y="0"/>
          <a:ext cx="0" cy="0"/>
          <a:chOff x="0" y="0"/>
          <a:chExt cx="0" cy="0"/>
        </a:xfrm>
      </p:grpSpPr>
      <p:sp>
        <p:nvSpPr>
          <p:cNvPr id="27" name="Google Shape;2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內容" type="objTx">
  <p:cSld name="OBJECT_WITH_CAPTION_TEXT">
    <p:spTree>
      <p:nvGrpSpPr>
        <p:cNvPr id="30" name="Shape 30"/>
        <p:cNvGrpSpPr/>
        <p:nvPr/>
      </p:nvGrpSpPr>
      <p:grpSpPr>
        <a:xfrm>
          <a:off x="0" y="0"/>
          <a:ext cx="0" cy="0"/>
          <a:chOff x="0" y="0"/>
          <a:chExt cx="0" cy="0"/>
        </a:xfrm>
      </p:grpSpPr>
      <p:sp>
        <p:nvSpPr>
          <p:cNvPr id="31" name="Google Shape;31;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3" name="Google Shape;33;p4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4" name="Google Shape;34;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圖片" type="picTx">
  <p:cSld name="PICTURE_WITH_CAPTION_TEXT">
    <p:spTree>
      <p:nvGrpSpPr>
        <p:cNvPr id="37" name="Shape 37"/>
        <p:cNvGrpSpPr/>
        <p:nvPr/>
      </p:nvGrpSpPr>
      <p:grpSpPr>
        <a:xfrm>
          <a:off x="0" y="0"/>
          <a:ext cx="0" cy="0"/>
          <a:chOff x="0" y="0"/>
          <a:chExt cx="0" cy="0"/>
        </a:xfrm>
      </p:grpSpPr>
      <p:sp>
        <p:nvSpPr>
          <p:cNvPr id="38" name="Google Shape;38;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2"/>
          <p:cNvSpPr/>
          <p:nvPr>
            <p:ph idx="2" type="pic"/>
          </p:nvPr>
        </p:nvSpPr>
        <p:spPr>
          <a:xfrm>
            <a:off x="5183188" y="987425"/>
            <a:ext cx="6172200" cy="4873625"/>
          </a:xfrm>
          <a:prstGeom prst="rect">
            <a:avLst/>
          </a:prstGeom>
          <a:noFill/>
          <a:ln>
            <a:noFill/>
          </a:ln>
        </p:spPr>
      </p:sp>
      <p:sp>
        <p:nvSpPr>
          <p:cNvPr id="40" name="Google Shape;40;p4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1" name="Google Shape;4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44" name="Shape 44"/>
        <p:cNvGrpSpPr/>
        <p:nvPr/>
      </p:nvGrpSpPr>
      <p:grpSpPr>
        <a:xfrm>
          <a:off x="0" y="0"/>
          <a:ext cx="0" cy="0"/>
          <a:chOff x="0" y="0"/>
          <a:chExt cx="0" cy="0"/>
        </a:xfrm>
      </p:grpSpPr>
      <p:sp>
        <p:nvSpPr>
          <p:cNvPr id="45" name="Google Shape;45;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50" name="Shape 50"/>
        <p:cNvGrpSpPr/>
        <p:nvPr/>
      </p:nvGrpSpPr>
      <p:grpSpPr>
        <a:xfrm>
          <a:off x="0" y="0"/>
          <a:ext cx="0" cy="0"/>
          <a:chOff x="0" y="0"/>
          <a:chExt cx="0" cy="0"/>
        </a:xfrm>
      </p:grpSpPr>
      <p:sp>
        <p:nvSpPr>
          <p:cNvPr id="51" name="Google Shape;51;p4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24.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10.png"/><Relationship Id="rId6"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
          <p:cNvPicPr preferRelativeResize="0"/>
          <p:nvPr/>
        </p:nvPicPr>
        <p:blipFill rotWithShape="1">
          <a:blip r:embed="rId3">
            <a:alphaModFix/>
          </a:blip>
          <a:srcRect b="0" l="0" r="80745" t="0"/>
          <a:stretch/>
        </p:blipFill>
        <p:spPr>
          <a:xfrm>
            <a:off x="8014002" y="540000"/>
            <a:ext cx="842099" cy="819050"/>
          </a:xfrm>
          <a:prstGeom prst="rect">
            <a:avLst/>
          </a:prstGeom>
          <a:noFill/>
          <a:ln>
            <a:noFill/>
          </a:ln>
        </p:spPr>
      </p:pic>
      <p:pic>
        <p:nvPicPr>
          <p:cNvPr id="62" name="Google Shape;62;p1"/>
          <p:cNvPicPr preferRelativeResize="0"/>
          <p:nvPr/>
        </p:nvPicPr>
        <p:blipFill rotWithShape="1">
          <a:blip r:embed="rId4">
            <a:alphaModFix/>
          </a:blip>
          <a:srcRect b="0" l="18467" r="0" t="0"/>
          <a:stretch/>
        </p:blipFill>
        <p:spPr>
          <a:xfrm>
            <a:off x="8856100" y="622900"/>
            <a:ext cx="2843900" cy="653250"/>
          </a:xfrm>
          <a:prstGeom prst="rect">
            <a:avLst/>
          </a:prstGeom>
          <a:noFill/>
          <a:ln>
            <a:noFill/>
          </a:ln>
        </p:spPr>
      </p:pic>
      <p:sp>
        <p:nvSpPr>
          <p:cNvPr id="63" name="Google Shape;63;p1"/>
          <p:cNvSpPr/>
          <p:nvPr/>
        </p:nvSpPr>
        <p:spPr>
          <a:xfrm>
            <a:off x="-3322025" y="0"/>
            <a:ext cx="6249300" cy="6858000"/>
          </a:xfrm>
          <a:prstGeom prst="flowChartDelay">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4" name="Google Shape;64;p1"/>
          <p:cNvSpPr txBox="1"/>
          <p:nvPr>
            <p:ph type="ctrTitle"/>
          </p:nvPr>
        </p:nvSpPr>
        <p:spPr>
          <a:xfrm>
            <a:off x="4864000" y="2908800"/>
            <a:ext cx="5928900" cy="1040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6000"/>
              <a:buNone/>
            </a:pPr>
            <a:r>
              <a:rPr b="1" lang="zh-TW" sz="4800">
                <a:latin typeface="Playfair Display SemiBold"/>
                <a:ea typeface="Playfair Display SemiBold"/>
                <a:cs typeface="Playfair Display SemiBold"/>
                <a:sym typeface="Playfair Display SemiBold"/>
              </a:rPr>
              <a:t>SUMMER INTERN</a:t>
            </a:r>
            <a:endParaRPr b="1" sz="4800">
              <a:latin typeface="Playfair Display SemiBold"/>
              <a:ea typeface="Playfair Display SemiBold"/>
              <a:cs typeface="Playfair Display SemiBold"/>
              <a:sym typeface="Playfair Display SemiBold"/>
            </a:endParaRPr>
          </a:p>
        </p:txBody>
      </p:sp>
      <p:sp>
        <p:nvSpPr>
          <p:cNvPr id="65" name="Google Shape;65;p1"/>
          <p:cNvSpPr txBox="1"/>
          <p:nvPr/>
        </p:nvSpPr>
        <p:spPr>
          <a:xfrm>
            <a:off x="783093" y="1912050"/>
            <a:ext cx="3314400" cy="30339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chemeClr val="dk1"/>
              </a:buClr>
              <a:buSzPts val="6000"/>
              <a:buFont typeface="Calibri"/>
              <a:buNone/>
            </a:pPr>
            <a:r>
              <a:rPr b="1" i="0" lang="zh-TW" sz="12000" u="none" cap="none" strike="noStrike">
                <a:solidFill>
                  <a:schemeClr val="dk1"/>
                </a:solidFill>
                <a:latin typeface="Playfair Display SemiBold"/>
                <a:ea typeface="Playfair Display SemiBold"/>
                <a:cs typeface="Playfair Display SemiBold"/>
                <a:sym typeface="Playfair Display SemiBold"/>
              </a:rPr>
              <a:t>20</a:t>
            </a:r>
            <a:endParaRPr b="1" i="0" sz="12000" u="none" cap="none" strike="noStrike">
              <a:solidFill>
                <a:schemeClr val="dk1"/>
              </a:solidFill>
              <a:latin typeface="Playfair Display SemiBold"/>
              <a:ea typeface="Playfair Display SemiBold"/>
              <a:cs typeface="Playfair Display SemiBold"/>
              <a:sym typeface="Playfair Display SemiBold"/>
            </a:endParaRPr>
          </a:p>
          <a:p>
            <a:pPr indent="0" lvl="0" marL="0" marR="0" rtl="0" algn="ctr">
              <a:lnSpc>
                <a:spcPct val="90000"/>
              </a:lnSpc>
              <a:spcBef>
                <a:spcPts val="0"/>
              </a:spcBef>
              <a:spcAft>
                <a:spcPts val="0"/>
              </a:spcAft>
              <a:buClr>
                <a:schemeClr val="dk1"/>
              </a:buClr>
              <a:buSzPts val="6000"/>
              <a:buFont typeface="Calibri"/>
              <a:buNone/>
            </a:pPr>
            <a:r>
              <a:rPr b="1" i="0" lang="zh-TW" sz="12000" u="none" cap="none" strike="noStrike">
                <a:solidFill>
                  <a:schemeClr val="dk1"/>
                </a:solidFill>
                <a:latin typeface="Playfair Display SemiBold"/>
                <a:ea typeface="Playfair Display SemiBold"/>
                <a:cs typeface="Playfair Display SemiBold"/>
                <a:sym typeface="Playfair Display SemiBold"/>
              </a:rPr>
              <a:t>    26</a:t>
            </a:r>
            <a:endParaRPr b="1" i="0" sz="12000" u="none" cap="none" strike="noStrike">
              <a:solidFill>
                <a:schemeClr val="dk1"/>
              </a:solidFill>
              <a:latin typeface="Playfair Display SemiBold"/>
              <a:ea typeface="Playfair Display SemiBold"/>
              <a:cs typeface="Playfair Display SemiBold"/>
              <a:sym typeface="Playfair Display SemiBold"/>
            </a:endParaRPr>
          </a:p>
        </p:txBody>
      </p:sp>
      <p:sp>
        <p:nvSpPr>
          <p:cNvPr id="66" name="Google Shape;66;p1"/>
          <p:cNvSpPr txBox="1"/>
          <p:nvPr/>
        </p:nvSpPr>
        <p:spPr>
          <a:xfrm>
            <a:off x="7731775" y="5321300"/>
            <a:ext cx="5446800" cy="144087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400"/>
              <a:buFont typeface="Arial"/>
              <a:buNone/>
            </a:pPr>
            <a:r>
              <a:rPr b="0" i="0" lang="zh-TW" sz="1400" u="none" cap="none" strike="noStrike">
                <a:solidFill>
                  <a:srgbClr val="222222"/>
                </a:solidFill>
                <a:latin typeface="Playfair Display"/>
                <a:ea typeface="Playfair Display"/>
                <a:cs typeface="Playfair Display"/>
                <a:sym typeface="Playfair Display"/>
              </a:rPr>
              <a:t>Presenter: Tsai-Hsuan,Lin (Sheena)</a:t>
            </a:r>
            <a:endParaRPr b="0" i="0" sz="1400" u="none" cap="none" strike="noStrike">
              <a:solidFill>
                <a:srgbClr val="222222"/>
              </a:solidFill>
              <a:latin typeface="Playfair Display"/>
              <a:ea typeface="Playfair Display"/>
              <a:cs typeface="Playfair Display"/>
              <a:sym typeface="Playfair Display"/>
            </a:endParaRPr>
          </a:p>
          <a:p>
            <a:pPr indent="0" lvl="0" marL="0" marR="0" rtl="0" algn="l">
              <a:lnSpc>
                <a:spcPct val="115000"/>
              </a:lnSpc>
              <a:spcBef>
                <a:spcPts val="1000"/>
              </a:spcBef>
              <a:spcAft>
                <a:spcPts val="0"/>
              </a:spcAft>
              <a:buClr>
                <a:srgbClr val="000000"/>
              </a:buClr>
              <a:buSzPts val="1400"/>
              <a:buFont typeface="Arial"/>
              <a:buNone/>
            </a:pPr>
            <a:r>
              <a:rPr b="0" i="0" lang="zh-TW" sz="1400" u="none" cap="none" strike="noStrike">
                <a:solidFill>
                  <a:srgbClr val="222222"/>
                </a:solidFill>
                <a:latin typeface="Playfair Display"/>
                <a:ea typeface="Playfair Display"/>
                <a:cs typeface="Playfair Display"/>
                <a:sym typeface="Playfair Display"/>
              </a:rPr>
              <a:t>Advisor: Prof. Hsuan-Yu Chen  </a:t>
            </a:r>
            <a:endParaRPr b="0" i="0" sz="1400" u="none" cap="none" strike="noStrike">
              <a:solidFill>
                <a:srgbClr val="222222"/>
              </a:solidFill>
              <a:latin typeface="Playfair Display"/>
              <a:ea typeface="Playfair Display"/>
              <a:cs typeface="Playfair Display"/>
              <a:sym typeface="Playfair Display"/>
            </a:endParaRPr>
          </a:p>
          <a:p>
            <a:pPr indent="0" lvl="0" marL="0" marR="0" rtl="0" algn="l">
              <a:lnSpc>
                <a:spcPct val="115000"/>
              </a:lnSpc>
              <a:spcBef>
                <a:spcPts val="1000"/>
              </a:spcBef>
              <a:spcAft>
                <a:spcPts val="1000"/>
              </a:spcAft>
              <a:buClr>
                <a:srgbClr val="000000"/>
              </a:buClr>
              <a:buSzPts val="1400"/>
              <a:buFont typeface="Arial"/>
              <a:buNone/>
            </a:pPr>
            <a:r>
              <a:rPr b="0" i="0" lang="zh-TW" sz="1400" u="none" cap="none" strike="noStrike">
                <a:solidFill>
                  <a:srgbClr val="222222"/>
                </a:solidFill>
                <a:latin typeface="Playfair Display"/>
                <a:ea typeface="Playfair Display"/>
                <a:cs typeface="Playfair Display"/>
                <a:sym typeface="Playfair Display"/>
              </a:rPr>
              <a:t>Institute of Statistical Science Academia Sinica</a:t>
            </a:r>
            <a:endParaRPr b="0" i="0" sz="1400" u="none" cap="none" strike="noStrike">
              <a:solidFill>
                <a:srgbClr val="000000"/>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p:nvPr/>
        </p:nvSpPr>
        <p:spPr>
          <a:xfrm>
            <a:off x="0" y="6390000"/>
            <a:ext cx="12192000" cy="46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3" name="Google Shape;73;p2"/>
          <p:cNvSpPr txBox="1"/>
          <p:nvPr/>
        </p:nvSpPr>
        <p:spPr>
          <a:xfrm>
            <a:off x="5219114" y="540000"/>
            <a:ext cx="18288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0"/>
              </a:spcAft>
              <a:buClr>
                <a:srgbClr val="000000"/>
              </a:buClr>
              <a:buSzPts val="3600"/>
              <a:buFont typeface="Arial"/>
              <a:buNone/>
            </a:pPr>
            <a:r>
              <a:rPr i="0" lang="zh-TW" sz="3600" u="none" cap="none" strike="noStrike">
                <a:solidFill>
                  <a:schemeClr val="dk1"/>
                </a:solidFill>
                <a:latin typeface="Alegreya"/>
                <a:ea typeface="Alegreya"/>
                <a:cs typeface="Alegreya"/>
                <a:sym typeface="Alegreya"/>
              </a:rPr>
              <a:t>Outline</a:t>
            </a:r>
            <a:endParaRPr i="0" sz="3600" u="none" cap="none" strike="noStrike">
              <a:solidFill>
                <a:schemeClr val="dk1"/>
              </a:solidFill>
              <a:latin typeface="Alegreya"/>
              <a:ea typeface="Alegreya"/>
              <a:cs typeface="Alegreya"/>
              <a:sym typeface="Alegreya"/>
            </a:endParaRPr>
          </a:p>
        </p:txBody>
      </p:sp>
      <p:sp>
        <p:nvSpPr>
          <p:cNvPr id="74" name="Google Shape;74;p2"/>
          <p:cNvSpPr/>
          <p:nvPr/>
        </p:nvSpPr>
        <p:spPr>
          <a:xfrm>
            <a:off x="3680875" y="2272068"/>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5" name="Google Shape;75;p2"/>
          <p:cNvSpPr txBox="1"/>
          <p:nvPr/>
        </p:nvSpPr>
        <p:spPr>
          <a:xfrm>
            <a:off x="3733525" y="2318631"/>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b="0" i="0" lang="zh-TW" sz="3000" u="none" cap="none" strike="noStrike">
                <a:solidFill>
                  <a:schemeClr val="dk1"/>
                </a:solidFill>
                <a:latin typeface="Playfair Display"/>
                <a:ea typeface="Playfair Display"/>
                <a:cs typeface="Playfair Display"/>
                <a:sym typeface="Playfair Display"/>
              </a:rPr>
              <a:t>1</a:t>
            </a:r>
            <a:endParaRPr b="0" i="0" sz="3000" u="none" cap="none" strike="noStrike">
              <a:solidFill>
                <a:schemeClr val="dk1"/>
              </a:solidFill>
              <a:latin typeface="Playfair Display"/>
              <a:ea typeface="Playfair Display"/>
              <a:cs typeface="Playfair Display"/>
              <a:sym typeface="Playfair Display"/>
            </a:endParaRPr>
          </a:p>
        </p:txBody>
      </p:sp>
      <p:sp>
        <p:nvSpPr>
          <p:cNvPr id="76" name="Google Shape;76;p2"/>
          <p:cNvSpPr txBox="1"/>
          <p:nvPr/>
        </p:nvSpPr>
        <p:spPr>
          <a:xfrm>
            <a:off x="4718850" y="2276238"/>
            <a:ext cx="2754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400"/>
              <a:buFont typeface="Arial"/>
              <a:buNone/>
            </a:pPr>
            <a:r>
              <a:rPr i="0" lang="zh-TW" sz="2400" u="none" cap="none" strike="noStrike">
                <a:solidFill>
                  <a:schemeClr val="dk1"/>
                </a:solidFill>
                <a:latin typeface="Alegreya"/>
                <a:ea typeface="Alegreya"/>
                <a:cs typeface="Alegreya"/>
                <a:sym typeface="Alegreya"/>
              </a:rPr>
              <a:t>Brief   background</a:t>
            </a:r>
            <a:endParaRPr i="0" sz="2400" u="none" cap="none" strike="noStrike">
              <a:solidFill>
                <a:schemeClr val="dk1"/>
              </a:solidFill>
              <a:latin typeface="Alegreya"/>
              <a:ea typeface="Alegreya"/>
              <a:cs typeface="Alegreya"/>
              <a:sym typeface="Alegreya"/>
            </a:endParaRPr>
          </a:p>
        </p:txBody>
      </p:sp>
      <p:sp>
        <p:nvSpPr>
          <p:cNvPr id="77" name="Google Shape;77;p2"/>
          <p:cNvSpPr/>
          <p:nvPr/>
        </p:nvSpPr>
        <p:spPr>
          <a:xfrm>
            <a:off x="3680875" y="3194643"/>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78" name="Google Shape;78;p2"/>
          <p:cNvSpPr txBox="1"/>
          <p:nvPr/>
        </p:nvSpPr>
        <p:spPr>
          <a:xfrm>
            <a:off x="3733525" y="3241206"/>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b="0" i="0" lang="zh-TW" sz="3000" u="none" cap="none" strike="noStrike">
                <a:solidFill>
                  <a:schemeClr val="dk1"/>
                </a:solidFill>
                <a:latin typeface="Playfair Display"/>
                <a:ea typeface="Playfair Display"/>
                <a:cs typeface="Playfair Display"/>
                <a:sym typeface="Playfair Display"/>
              </a:rPr>
              <a:t>2</a:t>
            </a:r>
            <a:endParaRPr b="0" i="0" sz="3000" u="none" cap="none" strike="noStrike">
              <a:solidFill>
                <a:schemeClr val="dk1"/>
              </a:solidFill>
              <a:latin typeface="Playfair Display"/>
              <a:ea typeface="Playfair Display"/>
              <a:cs typeface="Playfair Display"/>
              <a:sym typeface="Playfair Display"/>
            </a:endParaRPr>
          </a:p>
        </p:txBody>
      </p:sp>
      <p:sp>
        <p:nvSpPr>
          <p:cNvPr id="79" name="Google Shape;79;p2"/>
          <p:cNvSpPr/>
          <p:nvPr/>
        </p:nvSpPr>
        <p:spPr>
          <a:xfrm>
            <a:off x="3680875" y="4117218"/>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80" name="Google Shape;80;p2"/>
          <p:cNvSpPr txBox="1"/>
          <p:nvPr/>
        </p:nvSpPr>
        <p:spPr>
          <a:xfrm>
            <a:off x="3733525" y="4163781"/>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b="0" i="0" lang="zh-TW" sz="3000" u="none" cap="none" strike="noStrike">
                <a:solidFill>
                  <a:schemeClr val="dk1"/>
                </a:solidFill>
                <a:latin typeface="Playfair Display"/>
                <a:ea typeface="Playfair Display"/>
                <a:cs typeface="Playfair Display"/>
                <a:sym typeface="Playfair Display"/>
              </a:rPr>
              <a:t>3</a:t>
            </a:r>
            <a:endParaRPr b="0" i="0" sz="3000" u="none" cap="none" strike="noStrike">
              <a:solidFill>
                <a:schemeClr val="dk1"/>
              </a:solidFill>
              <a:latin typeface="Playfair Display"/>
              <a:ea typeface="Playfair Display"/>
              <a:cs typeface="Playfair Display"/>
              <a:sym typeface="Playfair Display"/>
            </a:endParaRPr>
          </a:p>
        </p:txBody>
      </p:sp>
      <p:sp>
        <p:nvSpPr>
          <p:cNvPr id="81" name="Google Shape;81;p2"/>
          <p:cNvSpPr txBox="1"/>
          <p:nvPr/>
        </p:nvSpPr>
        <p:spPr>
          <a:xfrm>
            <a:off x="11566900" y="6220650"/>
            <a:ext cx="3000000" cy="41546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0" i="0" lang="zh-TW" sz="1000" u="none" cap="none" strike="noStrike">
                <a:solidFill>
                  <a:srgbClr val="9E9E9E"/>
                </a:solidFill>
                <a:latin typeface="Alegreya"/>
                <a:ea typeface="Alegreya"/>
                <a:cs typeface="Alegreya"/>
                <a:sym typeface="Alegreya"/>
              </a:rPr>
              <a:t>1</a:t>
            </a:r>
            <a:endParaRPr b="0" i="0" sz="1000" u="none" cap="none" strike="noStrike">
              <a:solidFill>
                <a:srgbClr val="9E9E9E"/>
              </a:solidFill>
              <a:latin typeface="Alegreya"/>
              <a:ea typeface="Alegreya"/>
              <a:cs typeface="Alegreya"/>
              <a:sym typeface="Alegreya"/>
            </a:endParaRPr>
          </a:p>
        </p:txBody>
      </p:sp>
      <p:sp>
        <p:nvSpPr>
          <p:cNvPr id="82" name="Google Shape;82;p2"/>
          <p:cNvSpPr txBox="1"/>
          <p:nvPr/>
        </p:nvSpPr>
        <p:spPr>
          <a:xfrm>
            <a:off x="4718850" y="3196699"/>
            <a:ext cx="2754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400"/>
              <a:buFont typeface="Arial"/>
              <a:buNone/>
            </a:pPr>
            <a:r>
              <a:rPr i="0" lang="zh-TW" sz="2400" u="none" cap="none" strike="noStrike">
                <a:solidFill>
                  <a:schemeClr val="dk1"/>
                </a:solidFill>
                <a:latin typeface="Alegreya"/>
                <a:ea typeface="Alegreya"/>
                <a:cs typeface="Alegreya"/>
                <a:sym typeface="Alegreya"/>
              </a:rPr>
              <a:t>Recent  work</a:t>
            </a:r>
            <a:endParaRPr i="0" sz="2400" u="none" cap="none" strike="noStrike">
              <a:solidFill>
                <a:schemeClr val="dk1"/>
              </a:solidFill>
              <a:latin typeface="Alegreya"/>
              <a:ea typeface="Alegreya"/>
              <a:cs typeface="Alegreya"/>
              <a:sym typeface="Alegreya"/>
            </a:endParaRPr>
          </a:p>
        </p:txBody>
      </p:sp>
      <p:sp>
        <p:nvSpPr>
          <p:cNvPr id="83" name="Google Shape;83;p2"/>
          <p:cNvSpPr txBox="1"/>
          <p:nvPr/>
        </p:nvSpPr>
        <p:spPr>
          <a:xfrm>
            <a:off x="4718850" y="4112140"/>
            <a:ext cx="27543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400"/>
              <a:buFont typeface="Arial"/>
              <a:buNone/>
            </a:pPr>
            <a:r>
              <a:rPr i="0" lang="zh-TW" sz="2400" u="none" cap="none" strike="noStrike">
                <a:solidFill>
                  <a:schemeClr val="dk1"/>
                </a:solidFill>
                <a:latin typeface="Alegreya"/>
                <a:ea typeface="Alegreya"/>
                <a:cs typeface="Alegreya"/>
                <a:sym typeface="Alegreya"/>
              </a:rPr>
              <a:t>Future  work</a:t>
            </a:r>
            <a:endParaRPr i="0" sz="2400" u="none" cap="none" strike="noStrike">
              <a:solidFill>
                <a:schemeClr val="dk1"/>
              </a:solidFill>
              <a:latin typeface="Alegreya"/>
              <a:ea typeface="Alegreya"/>
              <a:cs typeface="Alegreya"/>
              <a:sym typeface="Alegrey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8"/>
          <p:cNvSpPr txBox="1"/>
          <p:nvPr/>
        </p:nvSpPr>
        <p:spPr>
          <a:xfrm>
            <a:off x="468122" y="1186300"/>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Image construction (Version 2)</a:t>
            </a:r>
            <a:endParaRPr>
              <a:latin typeface="Alegreya"/>
              <a:ea typeface="Alegreya"/>
              <a:cs typeface="Alegreya"/>
              <a:sym typeface="Alegreya"/>
            </a:endParaRPr>
          </a:p>
        </p:txBody>
      </p:sp>
      <p:grpSp>
        <p:nvGrpSpPr>
          <p:cNvPr id="90" name="Google Shape;90;p8"/>
          <p:cNvGrpSpPr/>
          <p:nvPr/>
        </p:nvGrpSpPr>
        <p:grpSpPr>
          <a:xfrm>
            <a:off x="492000" y="540000"/>
            <a:ext cx="2375892" cy="546000"/>
            <a:chOff x="492000" y="540000"/>
            <a:chExt cx="2375892" cy="546000"/>
          </a:xfrm>
        </p:grpSpPr>
        <p:sp>
          <p:nvSpPr>
            <p:cNvPr id="91" name="Google Shape;91;p8"/>
            <p:cNvSpPr/>
            <p:nvPr/>
          </p:nvSpPr>
          <p:spPr>
            <a:xfrm>
              <a:off x="492000" y="540000"/>
              <a:ext cx="2375892"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2" name="Google Shape;92;p8"/>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93" name="Google Shape;93;p8"/>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0" i="0" lang="zh-TW" sz="3000" u="none" cap="none" strike="noStrike">
                <a:solidFill>
                  <a:schemeClr val="dk1"/>
                </a:solidFill>
                <a:latin typeface="Playfair Display"/>
                <a:ea typeface="Playfair Display"/>
                <a:cs typeface="Playfair Display"/>
                <a:sym typeface="Playfair Display"/>
              </a:rPr>
              <a:t>1</a:t>
            </a:r>
            <a:endParaRPr/>
          </a:p>
        </p:txBody>
      </p:sp>
      <p:sp>
        <p:nvSpPr>
          <p:cNvPr id="94" name="Google Shape;94;p8"/>
          <p:cNvSpPr txBox="1"/>
          <p:nvPr/>
        </p:nvSpPr>
        <p:spPr>
          <a:xfrm>
            <a:off x="11566900" y="6220650"/>
            <a:ext cx="3000000" cy="41546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0" i="0" lang="zh-TW" sz="1000" u="none" cap="none" strike="noStrike">
                <a:solidFill>
                  <a:srgbClr val="9E9E9E"/>
                </a:solidFill>
                <a:latin typeface="Alegreya"/>
                <a:ea typeface="Alegreya"/>
                <a:cs typeface="Alegreya"/>
                <a:sym typeface="Alegreya"/>
              </a:rPr>
              <a:t>2</a:t>
            </a:r>
            <a:endParaRPr b="0" i="0" sz="1000" u="none" cap="none" strike="noStrike">
              <a:solidFill>
                <a:srgbClr val="9E9E9E"/>
              </a:solidFill>
              <a:latin typeface="Alegreya"/>
              <a:ea typeface="Alegreya"/>
              <a:cs typeface="Alegreya"/>
              <a:sym typeface="Alegreya"/>
            </a:endParaRPr>
          </a:p>
        </p:txBody>
      </p:sp>
      <p:grpSp>
        <p:nvGrpSpPr>
          <p:cNvPr id="95" name="Google Shape;95;p8"/>
          <p:cNvGrpSpPr/>
          <p:nvPr/>
        </p:nvGrpSpPr>
        <p:grpSpPr>
          <a:xfrm>
            <a:off x="492000" y="540000"/>
            <a:ext cx="2856111" cy="546000"/>
            <a:chOff x="492000" y="540000"/>
            <a:chExt cx="2856111" cy="546000"/>
          </a:xfrm>
        </p:grpSpPr>
        <p:sp>
          <p:nvSpPr>
            <p:cNvPr id="96" name="Google Shape;96;p8"/>
            <p:cNvSpPr/>
            <p:nvPr/>
          </p:nvSpPr>
          <p:spPr>
            <a:xfrm>
              <a:off x="492000" y="540000"/>
              <a:ext cx="2856111"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97" name="Google Shape;97;p8"/>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98" name="Google Shape;98;p8"/>
          <p:cNvSpPr txBox="1"/>
          <p:nvPr/>
        </p:nvSpPr>
        <p:spPr>
          <a:xfrm>
            <a:off x="1109201" y="566697"/>
            <a:ext cx="2238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i="0" lang="zh-TW" sz="2000" u="none" cap="none" strike="noStrike">
                <a:solidFill>
                  <a:schemeClr val="dk1"/>
                </a:solidFill>
                <a:latin typeface="Alegreya"/>
                <a:ea typeface="Alegreya"/>
                <a:cs typeface="Alegreya"/>
                <a:sym typeface="Alegreya"/>
              </a:rPr>
              <a:t>Brief   background</a:t>
            </a:r>
            <a:endParaRPr>
              <a:latin typeface="Alegreya"/>
              <a:ea typeface="Alegreya"/>
              <a:cs typeface="Alegreya"/>
              <a:sym typeface="Alegreya"/>
            </a:endParaRPr>
          </a:p>
        </p:txBody>
      </p:sp>
      <p:sp>
        <p:nvSpPr>
          <p:cNvPr id="99" name="Google Shape;99;p8"/>
          <p:cNvSpPr txBox="1"/>
          <p:nvPr/>
        </p:nvSpPr>
        <p:spPr>
          <a:xfrm>
            <a:off x="914333" y="2060598"/>
            <a:ext cx="6534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i="0" lang="zh-TW" sz="1600" u="none" cap="none" strike="noStrike">
                <a:solidFill>
                  <a:srgbClr val="073763"/>
                </a:solidFill>
                <a:latin typeface="Alegreya"/>
                <a:ea typeface="Alegreya"/>
                <a:cs typeface="Alegreya"/>
                <a:sym typeface="Alegreya"/>
              </a:rPr>
              <a:t>Genotype (AA/AB/BB) → Nucleotide (e.g., A/A, A/G, G/T)</a:t>
            </a:r>
            <a:endParaRPr i="0" sz="1600" u="none" cap="none" strike="noStrike">
              <a:solidFill>
                <a:srgbClr val="000000"/>
              </a:solidFill>
              <a:latin typeface="Alegreya"/>
              <a:ea typeface="Alegreya"/>
              <a:cs typeface="Alegreya"/>
              <a:sym typeface="Alegreya"/>
            </a:endParaRPr>
          </a:p>
        </p:txBody>
      </p:sp>
      <p:sp>
        <p:nvSpPr>
          <p:cNvPr id="100" name="Google Shape;100;p8"/>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b="0" i="0" lang="zh-TW" sz="3000" u="none" cap="none" strike="noStrike">
                <a:solidFill>
                  <a:schemeClr val="dk1"/>
                </a:solidFill>
                <a:latin typeface="Playfair Display"/>
                <a:ea typeface="Playfair Display"/>
                <a:cs typeface="Playfair Display"/>
                <a:sym typeface="Playfair Display"/>
              </a:rPr>
              <a:t>1</a:t>
            </a:r>
            <a:endParaRPr b="0" i="0" sz="3000" u="none" cap="none" strike="noStrike">
              <a:solidFill>
                <a:schemeClr val="dk1"/>
              </a:solidFill>
              <a:latin typeface="Playfair Display"/>
              <a:ea typeface="Playfair Display"/>
              <a:cs typeface="Playfair Display"/>
              <a:sym typeface="Playfair Display"/>
            </a:endParaRPr>
          </a:p>
        </p:txBody>
      </p:sp>
      <p:sp>
        <p:nvSpPr>
          <p:cNvPr id="101" name="Google Shape;101;p8"/>
          <p:cNvSpPr txBox="1"/>
          <p:nvPr/>
        </p:nvSpPr>
        <p:spPr>
          <a:xfrm>
            <a:off x="610243" y="1715600"/>
            <a:ext cx="4392900" cy="1077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Purpose  : </a:t>
            </a:r>
            <a:endParaRPr>
              <a:latin typeface="Alegreya"/>
              <a:ea typeface="Alegreya"/>
              <a:cs typeface="Alegreya"/>
              <a:sym typeface="Alegreya"/>
            </a:endParaRPr>
          </a:p>
          <a:p>
            <a:pPr indent="0" lvl="0" marL="0" marR="0" rtl="0" algn="l">
              <a:lnSpc>
                <a:spcPct val="150000"/>
              </a:lnSpc>
              <a:spcBef>
                <a:spcPts val="0"/>
              </a:spcBef>
              <a:spcAft>
                <a:spcPts val="0"/>
              </a:spcAft>
              <a:buNone/>
            </a:pPr>
            <a:r>
              <a:t/>
            </a:r>
            <a:endParaRPr i="0" sz="1600" u="none" cap="none" strike="noStrike">
              <a:solidFill>
                <a:srgbClr val="000000"/>
              </a:solidFill>
              <a:latin typeface="Alegreya"/>
              <a:ea typeface="Alegreya"/>
              <a:cs typeface="Alegreya"/>
              <a:sym typeface="Alegreya"/>
            </a:endParaRPr>
          </a:p>
          <a:p>
            <a:pPr indent="-285750" lvl="0" marL="28575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SNP : 630,941</a:t>
            </a:r>
            <a:endParaRPr>
              <a:latin typeface="Alegreya"/>
              <a:ea typeface="Alegreya"/>
              <a:cs typeface="Alegreya"/>
              <a:sym typeface="Alegreya"/>
            </a:endParaRPr>
          </a:p>
        </p:txBody>
      </p:sp>
      <p:sp>
        <p:nvSpPr>
          <p:cNvPr id="102" name="Google Shape;102;p8"/>
          <p:cNvSpPr txBox="1"/>
          <p:nvPr/>
        </p:nvSpPr>
        <p:spPr>
          <a:xfrm>
            <a:off x="468122" y="3422500"/>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Image construction (Version 3)</a:t>
            </a:r>
            <a:endParaRPr>
              <a:latin typeface="Alegreya"/>
              <a:ea typeface="Alegreya"/>
              <a:cs typeface="Alegreya"/>
              <a:sym typeface="Alegreya"/>
            </a:endParaRPr>
          </a:p>
        </p:txBody>
      </p:sp>
      <p:sp>
        <p:nvSpPr>
          <p:cNvPr id="103" name="Google Shape;103;p8"/>
          <p:cNvSpPr txBox="1"/>
          <p:nvPr/>
        </p:nvSpPr>
        <p:spPr>
          <a:xfrm>
            <a:off x="610238" y="3951809"/>
            <a:ext cx="9638700" cy="1077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Purpose  : </a:t>
            </a:r>
            <a:endParaRPr>
              <a:latin typeface="Alegreya"/>
              <a:ea typeface="Alegreya"/>
              <a:cs typeface="Alegreya"/>
              <a:sym typeface="Alegreya"/>
            </a:endParaRPr>
          </a:p>
          <a:p>
            <a:pPr indent="0" lvl="0" marL="0" marR="0" rtl="0" algn="l">
              <a:lnSpc>
                <a:spcPct val="150000"/>
              </a:lnSpc>
              <a:spcBef>
                <a:spcPts val="0"/>
              </a:spcBef>
              <a:spcAft>
                <a:spcPts val="0"/>
              </a:spcAft>
              <a:buNone/>
            </a:pPr>
            <a:r>
              <a:t/>
            </a:r>
            <a:endParaRPr i="0" sz="1600" u="none" cap="none" strike="noStrike">
              <a:solidFill>
                <a:srgbClr val="000000"/>
              </a:solidFill>
              <a:latin typeface="Alegreya"/>
              <a:ea typeface="Alegreya"/>
              <a:cs typeface="Alegreya"/>
              <a:sym typeface="Alegreya"/>
            </a:endParaRPr>
          </a:p>
          <a:p>
            <a:pPr indent="-285750" lvl="0" marL="28575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SNP : 630,941</a:t>
            </a:r>
            <a:endParaRPr>
              <a:latin typeface="Alegreya"/>
              <a:ea typeface="Alegreya"/>
              <a:cs typeface="Alegreya"/>
              <a:sym typeface="Alegreya"/>
            </a:endParaRPr>
          </a:p>
        </p:txBody>
      </p:sp>
      <p:sp>
        <p:nvSpPr>
          <p:cNvPr id="104" name="Google Shape;104;p8"/>
          <p:cNvSpPr txBox="1"/>
          <p:nvPr/>
        </p:nvSpPr>
        <p:spPr>
          <a:xfrm>
            <a:off x="914335" y="4337414"/>
            <a:ext cx="108267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zh-TW" sz="1600" u="none" cap="none" strike="noStrike">
                <a:solidFill>
                  <a:srgbClr val="1E4E79"/>
                </a:solidFill>
                <a:latin typeface="Alegreya"/>
                <a:ea typeface="Alegreya"/>
                <a:cs typeface="Alegreya"/>
                <a:sym typeface="Alegreya"/>
              </a:rPr>
              <a:t>Group SNPs within the same cytoband as a continuous block.</a:t>
            </a:r>
            <a:endParaRPr>
              <a:latin typeface="Alegreya"/>
              <a:ea typeface="Alegreya"/>
              <a:cs typeface="Alegreya"/>
              <a:sym typeface="Alegrey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 name="Shape 109"/>
        <p:cNvGrpSpPr/>
        <p:nvPr/>
      </p:nvGrpSpPr>
      <p:grpSpPr>
        <a:xfrm>
          <a:off x="0" y="0"/>
          <a:ext cx="0" cy="0"/>
          <a:chOff x="0" y="0"/>
          <a:chExt cx="0" cy="0"/>
        </a:xfrm>
      </p:grpSpPr>
      <p:pic>
        <p:nvPicPr>
          <p:cNvPr id="110" name="Google Shape;110;p13"/>
          <p:cNvPicPr preferRelativeResize="0"/>
          <p:nvPr/>
        </p:nvPicPr>
        <p:blipFill rotWithShape="1">
          <a:blip r:embed="rId3">
            <a:alphaModFix/>
          </a:blip>
          <a:srcRect b="9858" l="639" r="1294" t="65915"/>
          <a:stretch/>
        </p:blipFill>
        <p:spPr>
          <a:xfrm>
            <a:off x="1500467" y="3809434"/>
            <a:ext cx="9191065" cy="1856354"/>
          </a:xfrm>
          <a:prstGeom prst="rect">
            <a:avLst/>
          </a:prstGeom>
          <a:noFill/>
          <a:ln>
            <a:noFill/>
          </a:ln>
        </p:spPr>
      </p:pic>
      <p:pic>
        <p:nvPicPr>
          <p:cNvPr id="111" name="Google Shape;111;p13"/>
          <p:cNvPicPr preferRelativeResize="0"/>
          <p:nvPr/>
        </p:nvPicPr>
        <p:blipFill rotWithShape="1">
          <a:blip r:embed="rId3">
            <a:alphaModFix/>
          </a:blip>
          <a:srcRect b="58252" l="639" r="1294" t="17883"/>
          <a:stretch/>
        </p:blipFill>
        <p:spPr>
          <a:xfrm>
            <a:off x="1499569" y="1440303"/>
            <a:ext cx="9191065" cy="1828609"/>
          </a:xfrm>
          <a:prstGeom prst="rect">
            <a:avLst/>
          </a:prstGeom>
          <a:noFill/>
          <a:ln>
            <a:noFill/>
          </a:ln>
        </p:spPr>
      </p:pic>
      <p:pic>
        <p:nvPicPr>
          <p:cNvPr id="112" name="Google Shape;112;p13"/>
          <p:cNvPicPr preferRelativeResize="0"/>
          <p:nvPr/>
        </p:nvPicPr>
        <p:blipFill rotWithShape="1">
          <a:blip r:embed="rId4">
            <a:alphaModFix/>
          </a:blip>
          <a:srcRect b="96083" l="0" r="0" t="0"/>
          <a:stretch/>
        </p:blipFill>
        <p:spPr>
          <a:xfrm>
            <a:off x="1265897" y="1327896"/>
            <a:ext cx="9747897" cy="314721"/>
          </a:xfrm>
          <a:prstGeom prst="rect">
            <a:avLst/>
          </a:prstGeom>
          <a:noFill/>
          <a:ln>
            <a:noFill/>
          </a:ln>
        </p:spPr>
      </p:pic>
      <p:pic>
        <p:nvPicPr>
          <p:cNvPr id="113" name="Google Shape;113;p13"/>
          <p:cNvPicPr preferRelativeResize="0"/>
          <p:nvPr/>
        </p:nvPicPr>
        <p:blipFill rotWithShape="1">
          <a:blip r:embed="rId4">
            <a:alphaModFix/>
          </a:blip>
          <a:srcRect b="45521" l="0" r="0" t="49580"/>
          <a:stretch/>
        </p:blipFill>
        <p:spPr>
          <a:xfrm>
            <a:off x="1340163" y="3539149"/>
            <a:ext cx="9692911" cy="407618"/>
          </a:xfrm>
          <a:prstGeom prst="rect">
            <a:avLst/>
          </a:prstGeom>
          <a:noFill/>
          <a:ln>
            <a:noFill/>
          </a:ln>
        </p:spPr>
      </p:pic>
      <p:cxnSp>
        <p:nvCxnSpPr>
          <p:cNvPr id="114" name="Google Shape;114;p13"/>
          <p:cNvCxnSpPr/>
          <p:nvPr/>
        </p:nvCxnSpPr>
        <p:spPr>
          <a:xfrm>
            <a:off x="1397030" y="1327896"/>
            <a:ext cx="0" cy="4268239"/>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15" name="Google Shape;115;p13"/>
          <p:cNvCxnSpPr/>
          <p:nvPr/>
        </p:nvCxnSpPr>
        <p:spPr>
          <a:xfrm rot="10800000">
            <a:off x="1464588" y="5596135"/>
            <a:ext cx="3608895" cy="0"/>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16" name="Google Shape;116;p13"/>
          <p:cNvCxnSpPr/>
          <p:nvPr/>
        </p:nvCxnSpPr>
        <p:spPr>
          <a:xfrm>
            <a:off x="5141043" y="3442063"/>
            <a:ext cx="0" cy="2190994"/>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17" name="Google Shape;117;p13"/>
          <p:cNvCxnSpPr/>
          <p:nvPr/>
        </p:nvCxnSpPr>
        <p:spPr>
          <a:xfrm rot="10800000">
            <a:off x="5141043" y="3402373"/>
            <a:ext cx="3750296" cy="0"/>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18" name="Google Shape;118;p13"/>
          <p:cNvCxnSpPr/>
          <p:nvPr/>
        </p:nvCxnSpPr>
        <p:spPr>
          <a:xfrm>
            <a:off x="8988751" y="1327896"/>
            <a:ext cx="0" cy="2162713"/>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19" name="Google Shape;119;p13"/>
          <p:cNvCxnSpPr/>
          <p:nvPr/>
        </p:nvCxnSpPr>
        <p:spPr>
          <a:xfrm rot="10800000">
            <a:off x="1464588" y="1327896"/>
            <a:ext cx="7426751" cy="0"/>
          </a:xfrm>
          <a:prstGeom prst="straightConnector1">
            <a:avLst/>
          </a:prstGeom>
          <a:noFill/>
          <a:ln cap="flat" cmpd="sng" w="28575">
            <a:solidFill>
              <a:schemeClr val="lt2">
                <a:alpha val="64706"/>
              </a:schemeClr>
            </a:solidFill>
            <a:prstDash val="lgDash"/>
            <a:round/>
            <a:headEnd len="sm" w="sm" type="none"/>
            <a:tailEnd len="sm" w="sm" type="none"/>
          </a:ln>
        </p:spPr>
      </p:cxnSp>
      <p:sp>
        <p:nvSpPr>
          <p:cNvPr id="120" name="Google Shape;120;p13"/>
          <p:cNvSpPr txBox="1"/>
          <p:nvPr/>
        </p:nvSpPr>
        <p:spPr>
          <a:xfrm>
            <a:off x="11566900" y="6220650"/>
            <a:ext cx="3000000" cy="41546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0" i="0" lang="zh-TW" sz="1000" u="none" cap="none" strike="noStrike">
                <a:solidFill>
                  <a:srgbClr val="9E9E9E"/>
                </a:solidFill>
                <a:latin typeface="Alegreya"/>
                <a:ea typeface="Alegreya"/>
                <a:cs typeface="Alegreya"/>
                <a:sym typeface="Alegreya"/>
              </a:rPr>
              <a:t>7</a:t>
            </a:r>
            <a:endParaRPr b="0" i="0" sz="1000" u="none" cap="none" strike="noStrike">
              <a:solidFill>
                <a:srgbClr val="9E9E9E"/>
              </a:solidFill>
              <a:latin typeface="Alegreya"/>
              <a:ea typeface="Alegreya"/>
              <a:cs typeface="Alegreya"/>
              <a:sym typeface="Alegrey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 name="Shape 125"/>
        <p:cNvGrpSpPr/>
        <p:nvPr/>
      </p:nvGrpSpPr>
      <p:grpSpPr>
        <a:xfrm>
          <a:off x="0" y="0"/>
          <a:ext cx="0" cy="0"/>
          <a:chOff x="0" y="0"/>
          <a:chExt cx="0" cy="0"/>
        </a:xfrm>
      </p:grpSpPr>
      <p:pic>
        <p:nvPicPr>
          <p:cNvPr id="126" name="Google Shape;126;p14"/>
          <p:cNvPicPr preferRelativeResize="0"/>
          <p:nvPr/>
        </p:nvPicPr>
        <p:blipFill rotWithShape="1">
          <a:blip r:embed="rId3">
            <a:alphaModFix amt="30000"/>
          </a:blip>
          <a:srcRect b="9858" l="639" r="1294" t="65915"/>
          <a:stretch/>
        </p:blipFill>
        <p:spPr>
          <a:xfrm>
            <a:off x="1500467" y="3809434"/>
            <a:ext cx="9191065" cy="1856354"/>
          </a:xfrm>
          <a:prstGeom prst="rect">
            <a:avLst/>
          </a:prstGeom>
          <a:noFill/>
          <a:ln>
            <a:noFill/>
          </a:ln>
        </p:spPr>
      </p:pic>
      <p:pic>
        <p:nvPicPr>
          <p:cNvPr id="127" name="Google Shape;127;p14"/>
          <p:cNvPicPr preferRelativeResize="0"/>
          <p:nvPr/>
        </p:nvPicPr>
        <p:blipFill rotWithShape="1">
          <a:blip r:embed="rId3">
            <a:alphaModFix amt="30000"/>
          </a:blip>
          <a:srcRect b="58252" l="639" r="1294" t="17883"/>
          <a:stretch/>
        </p:blipFill>
        <p:spPr>
          <a:xfrm>
            <a:off x="1499569" y="1440303"/>
            <a:ext cx="9191065" cy="1828609"/>
          </a:xfrm>
          <a:prstGeom prst="rect">
            <a:avLst/>
          </a:prstGeom>
          <a:noFill/>
          <a:ln>
            <a:noFill/>
          </a:ln>
        </p:spPr>
      </p:pic>
      <p:pic>
        <p:nvPicPr>
          <p:cNvPr id="128" name="Google Shape;128;p14"/>
          <p:cNvPicPr preferRelativeResize="0"/>
          <p:nvPr/>
        </p:nvPicPr>
        <p:blipFill rotWithShape="1">
          <a:blip r:embed="rId4">
            <a:alphaModFix amt="23000"/>
          </a:blip>
          <a:srcRect b="96083" l="0" r="0" t="0"/>
          <a:stretch/>
        </p:blipFill>
        <p:spPr>
          <a:xfrm>
            <a:off x="1265897" y="1327896"/>
            <a:ext cx="9747897" cy="314721"/>
          </a:xfrm>
          <a:prstGeom prst="rect">
            <a:avLst/>
          </a:prstGeom>
          <a:noFill/>
          <a:ln>
            <a:noFill/>
          </a:ln>
        </p:spPr>
      </p:pic>
      <p:pic>
        <p:nvPicPr>
          <p:cNvPr id="129" name="Google Shape;129;p14"/>
          <p:cNvPicPr preferRelativeResize="0"/>
          <p:nvPr/>
        </p:nvPicPr>
        <p:blipFill rotWithShape="1">
          <a:blip r:embed="rId4">
            <a:alphaModFix amt="23000"/>
          </a:blip>
          <a:srcRect b="45521" l="0" r="0" t="49580"/>
          <a:stretch/>
        </p:blipFill>
        <p:spPr>
          <a:xfrm>
            <a:off x="1340163" y="3539149"/>
            <a:ext cx="9692911" cy="407618"/>
          </a:xfrm>
          <a:prstGeom prst="rect">
            <a:avLst/>
          </a:prstGeom>
          <a:noFill/>
          <a:ln>
            <a:noFill/>
          </a:ln>
        </p:spPr>
      </p:pic>
      <p:cxnSp>
        <p:nvCxnSpPr>
          <p:cNvPr id="130" name="Google Shape;130;p14"/>
          <p:cNvCxnSpPr/>
          <p:nvPr/>
        </p:nvCxnSpPr>
        <p:spPr>
          <a:xfrm>
            <a:off x="1397030" y="1327896"/>
            <a:ext cx="0" cy="4268239"/>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31" name="Google Shape;131;p14"/>
          <p:cNvCxnSpPr/>
          <p:nvPr/>
        </p:nvCxnSpPr>
        <p:spPr>
          <a:xfrm rot="10800000">
            <a:off x="1464588" y="5596135"/>
            <a:ext cx="3608895" cy="0"/>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32" name="Google Shape;132;p14"/>
          <p:cNvCxnSpPr/>
          <p:nvPr/>
        </p:nvCxnSpPr>
        <p:spPr>
          <a:xfrm>
            <a:off x="5141043" y="3442063"/>
            <a:ext cx="0" cy="2190994"/>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33" name="Google Shape;133;p14"/>
          <p:cNvCxnSpPr/>
          <p:nvPr/>
        </p:nvCxnSpPr>
        <p:spPr>
          <a:xfrm rot="10800000">
            <a:off x="5141043" y="3402373"/>
            <a:ext cx="3750296" cy="0"/>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34" name="Google Shape;134;p14"/>
          <p:cNvCxnSpPr/>
          <p:nvPr/>
        </p:nvCxnSpPr>
        <p:spPr>
          <a:xfrm>
            <a:off x="8988751" y="1327896"/>
            <a:ext cx="0" cy="2162713"/>
          </a:xfrm>
          <a:prstGeom prst="straightConnector1">
            <a:avLst/>
          </a:prstGeom>
          <a:noFill/>
          <a:ln cap="flat" cmpd="sng" w="28575">
            <a:solidFill>
              <a:schemeClr val="lt2">
                <a:alpha val="64706"/>
              </a:schemeClr>
            </a:solidFill>
            <a:prstDash val="lgDash"/>
            <a:round/>
            <a:headEnd len="sm" w="sm" type="none"/>
            <a:tailEnd len="sm" w="sm" type="none"/>
          </a:ln>
        </p:spPr>
      </p:cxnSp>
      <p:cxnSp>
        <p:nvCxnSpPr>
          <p:cNvPr id="135" name="Google Shape;135;p14"/>
          <p:cNvCxnSpPr/>
          <p:nvPr/>
        </p:nvCxnSpPr>
        <p:spPr>
          <a:xfrm rot="10800000">
            <a:off x="1464588" y="1327896"/>
            <a:ext cx="7426751" cy="0"/>
          </a:xfrm>
          <a:prstGeom prst="straightConnector1">
            <a:avLst/>
          </a:prstGeom>
          <a:noFill/>
          <a:ln cap="flat" cmpd="sng" w="28575">
            <a:solidFill>
              <a:schemeClr val="lt2">
                <a:alpha val="64706"/>
              </a:schemeClr>
            </a:solidFill>
            <a:prstDash val="lgDash"/>
            <a:round/>
            <a:headEnd len="sm" w="sm" type="none"/>
            <a:tailEnd len="sm" w="sm" type="none"/>
          </a:ln>
        </p:spPr>
      </p:cxnSp>
      <p:sp>
        <p:nvSpPr>
          <p:cNvPr id="136" name="Google Shape;136;p14"/>
          <p:cNvSpPr txBox="1"/>
          <p:nvPr/>
        </p:nvSpPr>
        <p:spPr>
          <a:xfrm>
            <a:off x="11566900" y="6220650"/>
            <a:ext cx="3000000" cy="41546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0" i="0" lang="zh-TW" sz="1000" u="none" cap="none" strike="noStrike">
                <a:solidFill>
                  <a:srgbClr val="9E9E9E"/>
                </a:solidFill>
                <a:latin typeface="Alegreya"/>
                <a:ea typeface="Alegreya"/>
                <a:cs typeface="Alegreya"/>
                <a:sym typeface="Alegreya"/>
              </a:rPr>
              <a:t>8</a:t>
            </a:r>
            <a:endParaRPr b="0" i="0" sz="1000" u="none" cap="none" strike="noStrike">
              <a:solidFill>
                <a:srgbClr val="9E9E9E"/>
              </a:solidFill>
              <a:latin typeface="Alegreya"/>
              <a:ea typeface="Alegreya"/>
              <a:cs typeface="Alegreya"/>
              <a:sym typeface="Alegreya"/>
            </a:endParaRPr>
          </a:p>
        </p:txBody>
      </p:sp>
      <p:pic>
        <p:nvPicPr>
          <p:cNvPr id="137" name="Google Shape;137;p14"/>
          <p:cNvPicPr preferRelativeResize="0"/>
          <p:nvPr/>
        </p:nvPicPr>
        <p:blipFill rotWithShape="1">
          <a:blip r:embed="rId5">
            <a:alphaModFix/>
          </a:blip>
          <a:srcRect b="7991" l="21057" r="21220" t="14812"/>
          <a:stretch/>
        </p:blipFill>
        <p:spPr>
          <a:xfrm>
            <a:off x="2206925" y="2135425"/>
            <a:ext cx="3129474" cy="3077734"/>
          </a:xfrm>
          <a:prstGeom prst="rect">
            <a:avLst/>
          </a:prstGeom>
          <a:noFill/>
          <a:ln>
            <a:noFill/>
          </a:ln>
        </p:spPr>
      </p:pic>
      <p:sp>
        <p:nvSpPr>
          <p:cNvPr id="138" name="Google Shape;138;p14"/>
          <p:cNvSpPr/>
          <p:nvPr/>
        </p:nvSpPr>
        <p:spPr>
          <a:xfrm flipH="1" rot="10800000">
            <a:off x="3394472" y="1876754"/>
            <a:ext cx="754380" cy="738664"/>
          </a:xfrm>
          <a:prstGeom prst="ellipse">
            <a:avLst/>
          </a:prstGeom>
          <a:noFill/>
          <a:ln cap="flat" cmpd="sng" w="889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139" name="Google Shape;139;p14"/>
          <p:cNvPicPr preferRelativeResize="0"/>
          <p:nvPr/>
        </p:nvPicPr>
        <p:blipFill rotWithShape="1">
          <a:blip r:embed="rId5">
            <a:alphaModFix/>
          </a:blip>
          <a:srcRect b="92107" l="10960" r="29308" t="-114"/>
          <a:stretch/>
        </p:blipFill>
        <p:spPr>
          <a:xfrm>
            <a:off x="3960682" y="607450"/>
            <a:ext cx="4609881" cy="4498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f64edb0747_0_13"/>
          <p:cNvSpPr/>
          <p:nvPr/>
        </p:nvSpPr>
        <p:spPr>
          <a:xfrm>
            <a:off x="3341025" y="3175750"/>
            <a:ext cx="4880400" cy="795600"/>
          </a:xfrm>
          <a:prstGeom prst="roundRect">
            <a:avLst>
              <a:gd fmla="val 16667" name="adj"/>
            </a:avLst>
          </a:prstGeom>
          <a:solidFill>
            <a:srgbClr val="ED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00" u="none" cap="none" strike="noStrike">
              <a:solidFill>
                <a:schemeClr val="lt1"/>
              </a:solidFill>
              <a:latin typeface="Arial"/>
              <a:ea typeface="Arial"/>
              <a:cs typeface="Arial"/>
              <a:sym typeface="Arial"/>
            </a:endParaRPr>
          </a:p>
        </p:txBody>
      </p:sp>
      <p:sp>
        <p:nvSpPr>
          <p:cNvPr id="146" name="Google Shape;146;g3f64edb0747_0_13"/>
          <p:cNvSpPr txBox="1"/>
          <p:nvPr/>
        </p:nvSpPr>
        <p:spPr>
          <a:xfrm>
            <a:off x="468122" y="1186300"/>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Image construction (Version </a:t>
            </a:r>
            <a:r>
              <a:rPr b="1" lang="zh-TW" sz="1800">
                <a:solidFill>
                  <a:schemeClr val="dk1"/>
                </a:solidFill>
                <a:latin typeface="Alegreya"/>
                <a:ea typeface="Alegreya"/>
                <a:cs typeface="Alegreya"/>
                <a:sym typeface="Alegreya"/>
              </a:rPr>
              <a:t>4</a:t>
            </a:r>
            <a:r>
              <a:rPr b="1" i="0" lang="zh-TW" sz="1800" u="none" cap="none" strike="noStrike">
                <a:solidFill>
                  <a:schemeClr val="dk1"/>
                </a:solidFill>
                <a:latin typeface="Alegreya"/>
                <a:ea typeface="Alegreya"/>
                <a:cs typeface="Alegreya"/>
                <a:sym typeface="Alegreya"/>
              </a:rPr>
              <a:t>)</a:t>
            </a:r>
            <a:endParaRPr>
              <a:latin typeface="Alegreya"/>
              <a:ea typeface="Alegreya"/>
              <a:cs typeface="Alegreya"/>
              <a:sym typeface="Alegreya"/>
            </a:endParaRPr>
          </a:p>
        </p:txBody>
      </p:sp>
      <p:sp>
        <p:nvSpPr>
          <p:cNvPr id="147" name="Google Shape;147;g3f64edb0747_0_13"/>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3</a:t>
            </a:r>
            <a:endParaRPr b="0" i="0" sz="1000" u="none" cap="none" strike="noStrike">
              <a:solidFill>
                <a:srgbClr val="9E9E9E"/>
              </a:solidFill>
              <a:latin typeface="Alegreya"/>
              <a:ea typeface="Alegreya"/>
              <a:cs typeface="Alegreya"/>
              <a:sym typeface="Alegreya"/>
            </a:endParaRPr>
          </a:p>
        </p:txBody>
      </p:sp>
      <p:sp>
        <p:nvSpPr>
          <p:cNvPr id="148" name="Google Shape;148;g3f64edb0747_0_13"/>
          <p:cNvSpPr txBox="1"/>
          <p:nvPr/>
        </p:nvSpPr>
        <p:spPr>
          <a:xfrm>
            <a:off x="4020837" y="3401008"/>
            <a:ext cx="35208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zh-TW" sz="1600">
                <a:solidFill>
                  <a:schemeClr val="dk1"/>
                </a:solidFill>
                <a:latin typeface="Alegreya"/>
                <a:ea typeface="Alegreya"/>
                <a:cs typeface="Alegreya"/>
                <a:sym typeface="Alegreya"/>
              </a:rPr>
              <a:t>linkage disequilibrium(LD) estimation</a:t>
            </a:r>
            <a:endParaRPr i="0" sz="1600" u="none" cap="none" strike="noStrike">
              <a:solidFill>
                <a:schemeClr val="dk1"/>
              </a:solidFill>
              <a:latin typeface="Alegreya"/>
              <a:ea typeface="Alegreya"/>
              <a:cs typeface="Alegreya"/>
              <a:sym typeface="Alegreya"/>
            </a:endParaRPr>
          </a:p>
        </p:txBody>
      </p:sp>
      <p:sp>
        <p:nvSpPr>
          <p:cNvPr id="149" name="Google Shape;149;g3f64edb0747_0_13"/>
          <p:cNvSpPr txBox="1"/>
          <p:nvPr/>
        </p:nvSpPr>
        <p:spPr>
          <a:xfrm>
            <a:off x="610247" y="1715600"/>
            <a:ext cx="7263600" cy="10773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Purpose  : </a:t>
            </a:r>
            <a:endParaRPr sz="1600">
              <a:latin typeface="Alegreya"/>
              <a:ea typeface="Alegreya"/>
              <a:cs typeface="Alegreya"/>
              <a:sym typeface="Alegreya"/>
            </a:endParaRPr>
          </a:p>
          <a:p>
            <a:pPr indent="0" lvl="0" marL="0" marR="0" rtl="0" algn="l">
              <a:lnSpc>
                <a:spcPct val="150000"/>
              </a:lnSpc>
              <a:spcBef>
                <a:spcPts val="0"/>
              </a:spcBef>
              <a:spcAft>
                <a:spcPts val="0"/>
              </a:spcAft>
              <a:buNone/>
            </a:pPr>
            <a:r>
              <a:t/>
            </a:r>
            <a:endParaRPr i="0" sz="1600" u="none" cap="none" strike="noStrike">
              <a:solidFill>
                <a:srgbClr val="000000"/>
              </a:solidFill>
              <a:latin typeface="Alegreya"/>
              <a:ea typeface="Alegreya"/>
              <a:cs typeface="Alegreya"/>
              <a:sym typeface="Alegreya"/>
            </a:endParaRPr>
          </a:p>
          <a:p>
            <a:pPr indent="-285750" lvl="0" marL="28575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SNP : </a:t>
            </a:r>
            <a:r>
              <a:rPr lang="zh-TW" sz="1600">
                <a:solidFill>
                  <a:schemeClr val="dk1"/>
                </a:solidFill>
                <a:latin typeface="Alegreya"/>
                <a:ea typeface="Alegreya"/>
                <a:cs typeface="Alegreya"/>
                <a:sym typeface="Alegreya"/>
              </a:rPr>
              <a:t>344,656</a:t>
            </a:r>
            <a:endParaRPr sz="1600">
              <a:latin typeface="Alegreya"/>
              <a:ea typeface="Alegreya"/>
              <a:cs typeface="Alegreya"/>
              <a:sym typeface="Alegreya"/>
            </a:endParaRPr>
          </a:p>
        </p:txBody>
      </p:sp>
      <p:sp>
        <p:nvSpPr>
          <p:cNvPr id="150" name="Google Shape;150;g3f64edb0747_0_13"/>
          <p:cNvSpPr/>
          <p:nvPr/>
        </p:nvSpPr>
        <p:spPr>
          <a:xfrm>
            <a:off x="2505279" y="3448910"/>
            <a:ext cx="582000" cy="249300"/>
          </a:xfrm>
          <a:prstGeom prst="rightArrow">
            <a:avLst>
              <a:gd fmla="val 50000" name="adj1"/>
              <a:gd fmla="val 50000" name="adj2"/>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1" name="Google Shape;151;g3f64edb0747_0_13"/>
          <p:cNvSpPr txBox="1"/>
          <p:nvPr/>
        </p:nvSpPr>
        <p:spPr>
          <a:xfrm>
            <a:off x="916579" y="2084175"/>
            <a:ext cx="6804900" cy="338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zh-TW" sz="1600">
                <a:solidFill>
                  <a:srgbClr val="073763"/>
                </a:solidFill>
                <a:latin typeface="Alegreya"/>
                <a:ea typeface="Alegreya"/>
                <a:cs typeface="Alegreya"/>
                <a:sym typeface="Alegreya"/>
              </a:rPr>
              <a:t>linkage disequilibrium(LD) + excluded chromosome Y</a:t>
            </a:r>
            <a:endParaRPr sz="1600">
              <a:solidFill>
                <a:srgbClr val="073763"/>
              </a:solidFill>
              <a:latin typeface="Alegreya"/>
              <a:ea typeface="Alegreya"/>
              <a:cs typeface="Alegreya"/>
              <a:sym typeface="Alegreya"/>
            </a:endParaRPr>
          </a:p>
        </p:txBody>
      </p:sp>
      <p:sp>
        <p:nvSpPr>
          <p:cNvPr id="152" name="Google Shape;152;g3f64edb0747_0_13"/>
          <p:cNvSpPr txBox="1"/>
          <p:nvPr/>
        </p:nvSpPr>
        <p:spPr>
          <a:xfrm>
            <a:off x="610238" y="2814980"/>
            <a:ext cx="9638700" cy="338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Steps :</a:t>
            </a:r>
            <a:endParaRPr i="0" sz="1600" u="none" cap="none" strike="noStrike">
              <a:solidFill>
                <a:srgbClr val="000000"/>
              </a:solidFill>
              <a:latin typeface="Alegreya"/>
              <a:ea typeface="Alegreya"/>
              <a:cs typeface="Alegreya"/>
              <a:sym typeface="Alegreya"/>
            </a:endParaRPr>
          </a:p>
        </p:txBody>
      </p:sp>
      <p:sp>
        <p:nvSpPr>
          <p:cNvPr id="153" name="Google Shape;153;g3f64edb0747_0_13"/>
          <p:cNvSpPr/>
          <p:nvPr/>
        </p:nvSpPr>
        <p:spPr>
          <a:xfrm>
            <a:off x="956338" y="3175750"/>
            <a:ext cx="1332000" cy="795600"/>
          </a:xfrm>
          <a:prstGeom prst="roundRect">
            <a:avLst>
              <a:gd fmla="val 16667" name="adj"/>
            </a:avLst>
          </a:prstGeom>
          <a:solidFill>
            <a:srgbClr val="ED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600" u="none" cap="none" strike="noStrike">
              <a:solidFill>
                <a:schemeClr val="lt1"/>
              </a:solidFill>
              <a:latin typeface="Arial"/>
              <a:ea typeface="Arial"/>
              <a:cs typeface="Arial"/>
              <a:sym typeface="Arial"/>
            </a:endParaRPr>
          </a:p>
        </p:txBody>
      </p:sp>
      <p:grpSp>
        <p:nvGrpSpPr>
          <p:cNvPr id="154" name="Google Shape;154;g3f64edb0747_0_13"/>
          <p:cNvGrpSpPr/>
          <p:nvPr/>
        </p:nvGrpSpPr>
        <p:grpSpPr>
          <a:xfrm>
            <a:off x="8475171" y="3175755"/>
            <a:ext cx="3556379" cy="1694432"/>
            <a:chOff x="6306671" y="3433005"/>
            <a:chExt cx="3556379" cy="1694432"/>
          </a:xfrm>
        </p:grpSpPr>
        <p:grpSp>
          <p:nvGrpSpPr>
            <p:cNvPr id="155" name="Google Shape;155;g3f64edb0747_0_13"/>
            <p:cNvGrpSpPr/>
            <p:nvPr/>
          </p:nvGrpSpPr>
          <p:grpSpPr>
            <a:xfrm>
              <a:off x="6306671" y="3433005"/>
              <a:ext cx="2338565" cy="795600"/>
              <a:chOff x="6306671" y="3433005"/>
              <a:chExt cx="2338565" cy="795600"/>
            </a:xfrm>
          </p:grpSpPr>
          <p:sp>
            <p:nvSpPr>
              <p:cNvPr id="156" name="Google Shape;156;g3f64edb0747_0_13"/>
              <p:cNvSpPr/>
              <p:nvPr/>
            </p:nvSpPr>
            <p:spPr>
              <a:xfrm>
                <a:off x="7105636" y="3433005"/>
                <a:ext cx="1539600" cy="795600"/>
              </a:xfrm>
              <a:prstGeom prst="roundRect">
                <a:avLst>
                  <a:gd fmla="val 16667" name="adj"/>
                </a:avLst>
              </a:prstGeom>
              <a:solidFill>
                <a:srgbClr val="EDED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i="0" sz="1600" u="none" cap="none" strike="noStrike">
                  <a:solidFill>
                    <a:schemeClr val="lt1"/>
                  </a:solidFill>
                  <a:latin typeface="Alegreya"/>
                  <a:ea typeface="Alegreya"/>
                  <a:cs typeface="Alegreya"/>
                  <a:sym typeface="Alegreya"/>
                </a:endParaRPr>
              </a:p>
            </p:txBody>
          </p:sp>
          <p:grpSp>
            <p:nvGrpSpPr>
              <p:cNvPr id="157" name="Google Shape;157;g3f64edb0747_0_13"/>
              <p:cNvGrpSpPr/>
              <p:nvPr/>
            </p:nvGrpSpPr>
            <p:grpSpPr>
              <a:xfrm>
                <a:off x="6306671" y="3514804"/>
                <a:ext cx="2217200" cy="585000"/>
                <a:chOff x="6306671" y="3514804"/>
                <a:chExt cx="2217200" cy="585000"/>
              </a:xfrm>
            </p:grpSpPr>
            <p:sp>
              <p:nvSpPr>
                <p:cNvPr id="158" name="Google Shape;158;g3f64edb0747_0_13"/>
                <p:cNvSpPr txBox="1"/>
                <p:nvPr/>
              </p:nvSpPr>
              <p:spPr>
                <a:xfrm>
                  <a:off x="7226971" y="3514804"/>
                  <a:ext cx="12969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zh-TW" sz="1600" u="none" cap="none" strike="noStrike">
                      <a:solidFill>
                        <a:srgbClr val="000000"/>
                      </a:solidFill>
                      <a:latin typeface="Alegreya"/>
                      <a:ea typeface="Alegreya"/>
                      <a:cs typeface="Alegreya"/>
                      <a:sym typeface="Alegreya"/>
                    </a:rPr>
                    <a:t>Image construction</a:t>
                  </a:r>
                  <a:endParaRPr i="0" sz="1600" u="none" cap="none" strike="noStrike">
                    <a:solidFill>
                      <a:srgbClr val="000000"/>
                    </a:solidFill>
                    <a:latin typeface="Alegreya"/>
                    <a:ea typeface="Alegreya"/>
                    <a:cs typeface="Alegreya"/>
                    <a:sym typeface="Alegreya"/>
                  </a:endParaRPr>
                </a:p>
              </p:txBody>
            </p:sp>
            <p:sp>
              <p:nvSpPr>
                <p:cNvPr id="159" name="Google Shape;159;g3f64edb0747_0_13"/>
                <p:cNvSpPr/>
                <p:nvPr/>
              </p:nvSpPr>
              <p:spPr>
                <a:xfrm>
                  <a:off x="6306671" y="3706148"/>
                  <a:ext cx="582000" cy="249300"/>
                </a:xfrm>
                <a:prstGeom prst="rightArrow">
                  <a:avLst>
                    <a:gd fmla="val 50000" name="adj1"/>
                    <a:gd fmla="val 50000" name="adj2"/>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i="0" sz="1400" u="none" cap="none" strike="noStrike">
                    <a:solidFill>
                      <a:schemeClr val="lt1"/>
                    </a:solidFill>
                    <a:latin typeface="Alegreya"/>
                    <a:ea typeface="Alegreya"/>
                    <a:cs typeface="Alegreya"/>
                    <a:sym typeface="Alegreya"/>
                  </a:endParaRPr>
                </a:p>
              </p:txBody>
            </p:sp>
          </p:grpSp>
        </p:grpSp>
        <p:sp>
          <p:nvSpPr>
            <p:cNvPr id="160" name="Google Shape;160;g3f64edb0747_0_13"/>
            <p:cNvSpPr txBox="1"/>
            <p:nvPr/>
          </p:nvSpPr>
          <p:spPr>
            <a:xfrm>
              <a:off x="6706150" y="4419437"/>
              <a:ext cx="3156900" cy="708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lang="zh-TW" sz="1600">
                  <a:solidFill>
                    <a:schemeClr val="dk1"/>
                  </a:solidFill>
                  <a:latin typeface="Alegreya"/>
                  <a:ea typeface="Alegreya"/>
                  <a:cs typeface="Alegreya"/>
                  <a:sym typeface="Alegreya"/>
                </a:rPr>
                <a:t>A  LD separator was inserted </a:t>
              </a:r>
              <a:endParaRPr sz="1600">
                <a:solidFill>
                  <a:schemeClr val="dk1"/>
                </a:solidFill>
                <a:latin typeface="Alegreya"/>
                <a:ea typeface="Alegreya"/>
                <a:cs typeface="Alegreya"/>
                <a:sym typeface="Alegreya"/>
              </a:endParaRPr>
            </a:p>
            <a:p>
              <a:pPr indent="0" lvl="0" marL="0" rtl="0" algn="l">
                <a:lnSpc>
                  <a:spcPct val="150000"/>
                </a:lnSpc>
                <a:spcBef>
                  <a:spcPts val="0"/>
                </a:spcBef>
                <a:spcAft>
                  <a:spcPts val="0"/>
                </a:spcAft>
                <a:buNone/>
              </a:pPr>
              <a:r>
                <a:rPr lang="zh-TW" sz="1600">
                  <a:solidFill>
                    <a:schemeClr val="dk1"/>
                  </a:solidFill>
                  <a:latin typeface="Alegreya"/>
                  <a:ea typeface="Alegreya"/>
                  <a:cs typeface="Alegreya"/>
                  <a:sym typeface="Alegreya"/>
                </a:rPr>
                <a:t>after each LD-block interval</a:t>
              </a:r>
              <a:endParaRPr sz="1600">
                <a:latin typeface="Alegreya"/>
                <a:ea typeface="Alegreya"/>
                <a:cs typeface="Alegreya"/>
                <a:sym typeface="Alegreya"/>
              </a:endParaRPr>
            </a:p>
          </p:txBody>
        </p:sp>
      </p:grpSp>
      <p:grpSp>
        <p:nvGrpSpPr>
          <p:cNvPr id="161" name="Google Shape;161;g3f64edb0747_0_13"/>
          <p:cNvGrpSpPr/>
          <p:nvPr/>
        </p:nvGrpSpPr>
        <p:grpSpPr>
          <a:xfrm>
            <a:off x="492000" y="540000"/>
            <a:ext cx="2376000" cy="546000"/>
            <a:chOff x="492000" y="540000"/>
            <a:chExt cx="2376000" cy="546000"/>
          </a:xfrm>
        </p:grpSpPr>
        <p:sp>
          <p:nvSpPr>
            <p:cNvPr id="162" name="Google Shape;162;g3f64edb0747_0_13"/>
            <p:cNvSpPr/>
            <p:nvPr/>
          </p:nvSpPr>
          <p:spPr>
            <a:xfrm>
              <a:off x="492000" y="540000"/>
              <a:ext cx="237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3" name="Google Shape;163;g3f64edb0747_0_13"/>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64" name="Google Shape;164;g3f64edb0747_0_13"/>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0" i="0" lang="zh-TW" sz="3000" u="none" cap="none" strike="noStrike">
                <a:solidFill>
                  <a:schemeClr val="dk1"/>
                </a:solidFill>
                <a:latin typeface="Playfair Display"/>
                <a:ea typeface="Playfair Display"/>
                <a:cs typeface="Playfair Display"/>
                <a:sym typeface="Playfair Display"/>
              </a:rPr>
              <a:t>1</a:t>
            </a:r>
            <a:endParaRPr/>
          </a:p>
        </p:txBody>
      </p:sp>
      <p:grpSp>
        <p:nvGrpSpPr>
          <p:cNvPr id="165" name="Google Shape;165;g3f64edb0747_0_13"/>
          <p:cNvGrpSpPr/>
          <p:nvPr/>
        </p:nvGrpSpPr>
        <p:grpSpPr>
          <a:xfrm>
            <a:off x="492000" y="540000"/>
            <a:ext cx="2856000" cy="546000"/>
            <a:chOff x="492000" y="540000"/>
            <a:chExt cx="2856000" cy="546000"/>
          </a:xfrm>
        </p:grpSpPr>
        <p:sp>
          <p:nvSpPr>
            <p:cNvPr id="166" name="Google Shape;166;g3f64edb0747_0_13"/>
            <p:cNvSpPr/>
            <p:nvPr/>
          </p:nvSpPr>
          <p:spPr>
            <a:xfrm>
              <a:off x="492000" y="540000"/>
              <a:ext cx="285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67" name="Google Shape;167;g3f64edb0747_0_13"/>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68" name="Google Shape;168;g3f64edb0747_0_13"/>
          <p:cNvSpPr txBox="1"/>
          <p:nvPr/>
        </p:nvSpPr>
        <p:spPr>
          <a:xfrm>
            <a:off x="1124721" y="564873"/>
            <a:ext cx="172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zh-TW" sz="2000">
                <a:solidFill>
                  <a:schemeClr val="dk1"/>
                </a:solidFill>
                <a:latin typeface="Alegreya"/>
                <a:ea typeface="Alegreya"/>
                <a:cs typeface="Alegreya"/>
                <a:sym typeface="Alegreya"/>
              </a:rPr>
              <a:t>Recent work</a:t>
            </a:r>
            <a:endParaRPr>
              <a:latin typeface="Alegreya"/>
              <a:ea typeface="Alegreya"/>
              <a:cs typeface="Alegreya"/>
              <a:sym typeface="Alegreya"/>
            </a:endParaRPr>
          </a:p>
        </p:txBody>
      </p:sp>
      <p:sp>
        <p:nvSpPr>
          <p:cNvPr id="169" name="Google Shape;169;g3f64edb0747_0_13"/>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lang="zh-TW" sz="3000">
                <a:solidFill>
                  <a:schemeClr val="dk1"/>
                </a:solidFill>
                <a:latin typeface="Playfair Display"/>
                <a:ea typeface="Playfair Display"/>
                <a:cs typeface="Playfair Display"/>
                <a:sym typeface="Playfair Display"/>
              </a:rPr>
              <a:t>2</a:t>
            </a:r>
            <a:endParaRPr b="0" i="0" sz="3000" u="none" cap="none" strike="noStrike">
              <a:solidFill>
                <a:schemeClr val="dk1"/>
              </a:solidFill>
              <a:latin typeface="Playfair Display"/>
              <a:ea typeface="Playfair Display"/>
              <a:cs typeface="Playfair Display"/>
              <a:sym typeface="Playfair Display"/>
            </a:endParaRPr>
          </a:p>
        </p:txBody>
      </p:sp>
      <p:sp>
        <p:nvSpPr>
          <p:cNvPr id="170" name="Google Shape;170;g3f64edb0747_0_13"/>
          <p:cNvSpPr txBox="1"/>
          <p:nvPr/>
        </p:nvSpPr>
        <p:spPr>
          <a:xfrm>
            <a:off x="556825" y="4200960"/>
            <a:ext cx="2856000" cy="831000"/>
          </a:xfrm>
          <a:prstGeom prst="rect">
            <a:avLst/>
          </a:prstGeom>
          <a:noFill/>
          <a:ln>
            <a:noFill/>
          </a:ln>
        </p:spPr>
        <p:txBody>
          <a:bodyPr anchorCtr="0" anchor="t" bIns="45700" lIns="91425" spcFirstLastPara="1" rIns="91425" wrap="square" tIns="45700">
            <a:spAutoFit/>
          </a:bodyPr>
          <a:lstStyle/>
          <a:p>
            <a:pPr indent="-330200" lvl="0" marL="457200" rtl="0" algn="l">
              <a:spcBef>
                <a:spcPts val="0"/>
              </a:spcBef>
              <a:spcAft>
                <a:spcPts val="0"/>
              </a:spcAft>
              <a:buClr>
                <a:schemeClr val="dk1"/>
              </a:buClr>
              <a:buSzPts val="1600"/>
              <a:buFont typeface="Alegreya"/>
              <a:buAutoNum type="arabicPeriod"/>
            </a:pPr>
            <a:r>
              <a:rPr lang="zh-TW" sz="1600">
                <a:solidFill>
                  <a:schemeClr val="dk1"/>
                </a:solidFill>
                <a:latin typeface="Alegreya"/>
                <a:ea typeface="Alegreya"/>
                <a:cs typeface="Alegreya"/>
                <a:sym typeface="Alegreya"/>
              </a:rPr>
              <a:t>excluded chromosome Y</a:t>
            </a:r>
            <a:endParaRPr sz="1600">
              <a:solidFill>
                <a:schemeClr val="dk1"/>
              </a:solidFill>
              <a:latin typeface="Alegreya"/>
              <a:ea typeface="Alegreya"/>
              <a:cs typeface="Alegreya"/>
              <a:sym typeface="Alegreya"/>
            </a:endParaRPr>
          </a:p>
          <a:p>
            <a:pPr indent="-330200" lvl="0" marL="457200" marR="0" rtl="0" algn="l">
              <a:lnSpc>
                <a:spcPct val="100000"/>
              </a:lnSpc>
              <a:spcBef>
                <a:spcPts val="0"/>
              </a:spcBef>
              <a:spcAft>
                <a:spcPts val="0"/>
              </a:spcAft>
              <a:buClr>
                <a:schemeClr val="dk1"/>
              </a:buClr>
              <a:buSzPts val="1600"/>
              <a:buFont typeface="Alegreya"/>
              <a:buAutoNum type="arabicPeriod"/>
            </a:pPr>
            <a:r>
              <a:rPr lang="zh-TW" sz="1600">
                <a:solidFill>
                  <a:schemeClr val="dk1"/>
                </a:solidFill>
                <a:latin typeface="Alegreya"/>
                <a:ea typeface="Alegreya"/>
                <a:cs typeface="Alegreya"/>
                <a:sym typeface="Alegreya"/>
              </a:rPr>
              <a:t>PLINK: </a:t>
            </a:r>
            <a:endParaRPr i="0" sz="1600" u="none" cap="none" strike="noStrike">
              <a:solidFill>
                <a:schemeClr val="dk1"/>
              </a:solidFill>
              <a:latin typeface="Alegreya"/>
              <a:ea typeface="Alegreya"/>
              <a:cs typeface="Alegreya"/>
              <a:sym typeface="Alegreya"/>
            </a:endParaRPr>
          </a:p>
          <a:p>
            <a:pPr indent="0" lvl="0" marL="457200" marR="0" rtl="0" algn="l">
              <a:lnSpc>
                <a:spcPct val="100000"/>
              </a:lnSpc>
              <a:spcBef>
                <a:spcPts val="0"/>
              </a:spcBef>
              <a:spcAft>
                <a:spcPts val="0"/>
              </a:spcAft>
              <a:buNone/>
            </a:pPr>
            <a:r>
              <a:rPr i="0" lang="zh-TW" sz="1600" u="none" cap="none" strike="noStrike">
                <a:solidFill>
                  <a:schemeClr val="dk1"/>
                </a:solidFill>
                <a:latin typeface="Alegreya"/>
                <a:ea typeface="Alegreya"/>
                <a:cs typeface="Alegreya"/>
                <a:sym typeface="Alegreya"/>
              </a:rPr>
              <a:t> .bed /.bim /.fam</a:t>
            </a:r>
            <a:endParaRPr i="0" sz="1600" u="none" cap="none" strike="noStrike">
              <a:solidFill>
                <a:schemeClr val="dk1"/>
              </a:solidFill>
              <a:latin typeface="Alegreya"/>
              <a:ea typeface="Alegreya"/>
              <a:cs typeface="Alegreya"/>
              <a:sym typeface="Alegreya"/>
            </a:endParaRPr>
          </a:p>
        </p:txBody>
      </p:sp>
      <p:sp>
        <p:nvSpPr>
          <p:cNvPr id="171" name="Google Shape;171;g3f64edb0747_0_13"/>
          <p:cNvSpPr txBox="1"/>
          <p:nvPr/>
        </p:nvSpPr>
        <p:spPr>
          <a:xfrm>
            <a:off x="956331" y="3404194"/>
            <a:ext cx="13320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zh-TW" sz="1600">
                <a:latin typeface="Alegreya"/>
                <a:ea typeface="Alegreya"/>
                <a:cs typeface="Alegreya"/>
                <a:sym typeface="Alegreya"/>
              </a:rPr>
              <a:t>QC</a:t>
            </a:r>
            <a:endParaRPr i="0" sz="1600" u="none" cap="none" strike="noStrike">
              <a:solidFill>
                <a:srgbClr val="000000"/>
              </a:solidFill>
              <a:latin typeface="Alegreya"/>
              <a:ea typeface="Alegreya"/>
              <a:cs typeface="Alegreya"/>
              <a:sym typeface="Alegreya"/>
            </a:endParaRPr>
          </a:p>
        </p:txBody>
      </p:sp>
      <p:sp>
        <p:nvSpPr>
          <p:cNvPr id="172" name="Google Shape;172;g3f64edb0747_0_13"/>
          <p:cNvSpPr txBox="1"/>
          <p:nvPr/>
        </p:nvSpPr>
        <p:spPr>
          <a:xfrm>
            <a:off x="3341023" y="4175100"/>
            <a:ext cx="5971800" cy="1471500"/>
          </a:xfrm>
          <a:prstGeom prst="rect">
            <a:avLst/>
          </a:prstGeom>
          <a:noFill/>
          <a:ln>
            <a:noFill/>
          </a:ln>
        </p:spPr>
        <p:txBody>
          <a:bodyPr anchorCtr="0" anchor="t" bIns="45700" lIns="91425" spcFirstLastPara="1" rIns="91425" wrap="square" tIns="45700">
            <a:spAutoFit/>
          </a:bodyPr>
          <a:lstStyle/>
          <a:p>
            <a:pPr indent="-330200" lvl="0" marL="457200" rtl="0" algn="l">
              <a:lnSpc>
                <a:spcPct val="115000"/>
              </a:lnSpc>
              <a:spcBef>
                <a:spcPts val="0"/>
              </a:spcBef>
              <a:spcAft>
                <a:spcPts val="0"/>
              </a:spcAft>
              <a:buClr>
                <a:schemeClr val="dk1"/>
              </a:buClr>
              <a:buSzPts val="1600"/>
              <a:buChar char="●"/>
            </a:pPr>
            <a:r>
              <a:rPr lang="zh-TW" sz="1600">
                <a:solidFill>
                  <a:schemeClr val="dk1"/>
                </a:solidFill>
                <a:latin typeface="Alegreya"/>
                <a:ea typeface="Alegreya"/>
                <a:cs typeface="Alegreya"/>
                <a:sym typeface="Alegreya"/>
              </a:rPr>
              <a:t>SNP after excluding chromosome Y: 617,808</a:t>
            </a:r>
            <a:endParaRPr sz="1600">
              <a:solidFill>
                <a:schemeClr val="dk1"/>
              </a:solidFill>
              <a:latin typeface="Alegreya"/>
              <a:ea typeface="Alegreya"/>
              <a:cs typeface="Alegreya"/>
              <a:sym typeface="Alegreya"/>
            </a:endParaRPr>
          </a:p>
          <a:p>
            <a:pPr indent="-330200" lvl="0" marL="457200" marR="0" rtl="0" algn="l">
              <a:lnSpc>
                <a:spcPct val="115000"/>
              </a:lnSpc>
              <a:spcBef>
                <a:spcPts val="0"/>
              </a:spcBef>
              <a:spcAft>
                <a:spcPts val="0"/>
              </a:spcAft>
              <a:buSzPts val="1600"/>
              <a:buChar char="●"/>
            </a:pPr>
            <a:r>
              <a:rPr b="1" lang="zh-TW" sz="1600">
                <a:solidFill>
                  <a:schemeClr val="dk1"/>
                </a:solidFill>
                <a:latin typeface="Alegreya"/>
                <a:ea typeface="Alegreya"/>
                <a:cs typeface="Alegreya"/>
                <a:sym typeface="Alegreya"/>
              </a:rPr>
              <a:t>SNPs retained for LD estimation: 344,656</a:t>
            </a:r>
            <a:endParaRPr b="1" sz="1600">
              <a:latin typeface="Alegreya"/>
              <a:ea typeface="Alegreya"/>
              <a:cs typeface="Alegreya"/>
              <a:sym typeface="Alegreya"/>
            </a:endParaRPr>
          </a:p>
          <a:p>
            <a:pPr indent="0" lvl="0" marL="457200" marR="0" rtl="0" algn="l">
              <a:lnSpc>
                <a:spcPct val="115000"/>
              </a:lnSpc>
              <a:spcBef>
                <a:spcPts val="0"/>
              </a:spcBef>
              <a:spcAft>
                <a:spcPts val="0"/>
              </a:spcAft>
              <a:buNone/>
            </a:pPr>
            <a:r>
              <a:rPr lang="zh-TW" sz="1600">
                <a:solidFill>
                  <a:srgbClr val="073763"/>
                </a:solidFill>
                <a:latin typeface="Alegreya"/>
                <a:ea typeface="Alegreya"/>
                <a:cs typeface="Alegreya"/>
                <a:sym typeface="Alegreya"/>
              </a:rPr>
              <a:t>removed:</a:t>
            </a:r>
            <a:endParaRPr sz="1600">
              <a:solidFill>
                <a:srgbClr val="073763"/>
              </a:solidFill>
              <a:latin typeface="Alegreya"/>
              <a:ea typeface="Alegreya"/>
              <a:cs typeface="Alegreya"/>
              <a:sym typeface="Alegreya"/>
            </a:endParaRPr>
          </a:p>
          <a:p>
            <a:pPr indent="-330200" lvl="0" marL="914400" marR="0" rtl="0" algn="l">
              <a:lnSpc>
                <a:spcPct val="115000"/>
              </a:lnSpc>
              <a:spcBef>
                <a:spcPts val="0"/>
              </a:spcBef>
              <a:spcAft>
                <a:spcPts val="0"/>
              </a:spcAft>
              <a:buClr>
                <a:srgbClr val="073763"/>
              </a:buClr>
              <a:buSzPts val="1600"/>
              <a:buFont typeface="Alegreya"/>
              <a:buAutoNum type="arabicPeriod"/>
            </a:pPr>
            <a:r>
              <a:rPr i="0" lang="zh-TW" sz="1600" u="none" cap="none" strike="noStrike">
                <a:solidFill>
                  <a:srgbClr val="073763"/>
                </a:solidFill>
                <a:latin typeface="Alegreya"/>
                <a:ea typeface="Alegreya"/>
                <a:cs typeface="Alegreya"/>
                <a:sym typeface="Alegreya"/>
              </a:rPr>
              <a:t>missing </a:t>
            </a:r>
            <a:r>
              <a:rPr lang="zh-TW" sz="1600">
                <a:solidFill>
                  <a:srgbClr val="073763"/>
                </a:solidFill>
                <a:latin typeface="Alegreya"/>
                <a:ea typeface="Alegreya"/>
                <a:cs typeface="Alegreya"/>
                <a:sym typeface="Alegreya"/>
              </a:rPr>
              <a:t>genotype: </a:t>
            </a:r>
            <a:r>
              <a:rPr i="0" lang="zh-TW" sz="1600" u="none" cap="none" strike="noStrike">
                <a:solidFill>
                  <a:srgbClr val="073763"/>
                </a:solidFill>
                <a:latin typeface="Alegreya"/>
                <a:ea typeface="Alegreya"/>
                <a:cs typeface="Alegreya"/>
                <a:sym typeface="Alegreya"/>
              </a:rPr>
              <a:t>8</a:t>
            </a:r>
            <a:endParaRPr i="0" sz="1600" u="none" cap="none" strike="noStrike">
              <a:solidFill>
                <a:srgbClr val="073763"/>
              </a:solidFill>
              <a:latin typeface="Alegreya"/>
              <a:ea typeface="Alegreya"/>
              <a:cs typeface="Alegreya"/>
              <a:sym typeface="Alegreya"/>
            </a:endParaRPr>
          </a:p>
          <a:p>
            <a:pPr indent="-330200" lvl="0" marL="914400" marR="0" rtl="0" algn="l">
              <a:lnSpc>
                <a:spcPct val="115000"/>
              </a:lnSpc>
              <a:spcBef>
                <a:spcPts val="0"/>
              </a:spcBef>
              <a:spcAft>
                <a:spcPts val="0"/>
              </a:spcAft>
              <a:buClr>
                <a:srgbClr val="073763"/>
              </a:buClr>
              <a:buSzPts val="1600"/>
              <a:buFont typeface="Alegreya"/>
              <a:buAutoNum type="arabicPeriod"/>
            </a:pPr>
            <a:r>
              <a:rPr lang="zh-TW" sz="1600">
                <a:solidFill>
                  <a:srgbClr val="073763"/>
                </a:solidFill>
                <a:latin typeface="Alegreya"/>
                <a:ea typeface="Alegreya"/>
                <a:cs typeface="Alegreya"/>
                <a:sym typeface="Alegreya"/>
              </a:rPr>
              <a:t>minor allele frequency(MAF)&lt;0.05: 273,144 </a:t>
            </a:r>
            <a:endParaRPr sz="1600">
              <a:latin typeface="Alegreya"/>
              <a:ea typeface="Alegreya"/>
              <a:cs typeface="Alegreya"/>
              <a:sym typeface="Alegreya"/>
            </a:endParaRPr>
          </a:p>
        </p:txBody>
      </p:sp>
      <p:sp>
        <p:nvSpPr>
          <p:cNvPr id="173" name="Google Shape;173;g3f64edb0747_0_13"/>
          <p:cNvSpPr txBox="1"/>
          <p:nvPr/>
        </p:nvSpPr>
        <p:spPr>
          <a:xfrm>
            <a:off x="3348000" y="5651975"/>
            <a:ext cx="6600300" cy="997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PLINK-defined LD blocks: 632</a:t>
            </a:r>
            <a:endParaRPr sz="1600">
              <a:solidFill>
                <a:schemeClr val="dk1"/>
              </a:solidFill>
              <a:latin typeface="Alegreya"/>
              <a:ea typeface="Alegreya"/>
              <a:cs typeface="Alegreya"/>
              <a:sym typeface="Alegreya"/>
            </a:endParaRPr>
          </a:p>
          <a:p>
            <a:pPr indent="-330200" lvl="0" marL="914400" rtl="0" algn="l">
              <a:lnSpc>
                <a:spcPct val="115000"/>
              </a:lnSpc>
              <a:spcBef>
                <a:spcPts val="0"/>
              </a:spcBef>
              <a:spcAft>
                <a:spcPts val="0"/>
              </a:spcAft>
              <a:buClr>
                <a:srgbClr val="073763"/>
              </a:buClr>
              <a:buSzPts val="1600"/>
              <a:buFont typeface="Alegreya"/>
              <a:buAutoNum type="arabicPeriod"/>
            </a:pPr>
            <a:r>
              <a:rPr b="1" lang="zh-TW" sz="1600">
                <a:solidFill>
                  <a:srgbClr val="073763"/>
                </a:solidFill>
                <a:latin typeface="Alegreya"/>
                <a:ea typeface="Alegreya"/>
                <a:cs typeface="Alegreya"/>
                <a:sym typeface="Alegreya"/>
              </a:rPr>
              <a:t>Formal LD-block member SNPs: 5,156</a:t>
            </a:r>
            <a:endParaRPr b="1" sz="1600">
              <a:solidFill>
                <a:srgbClr val="073763"/>
              </a:solidFill>
              <a:latin typeface="Alegreya"/>
              <a:ea typeface="Alegreya"/>
              <a:cs typeface="Alegreya"/>
              <a:sym typeface="Alegreya"/>
            </a:endParaRPr>
          </a:p>
          <a:p>
            <a:pPr indent="-330200" lvl="0" marL="914400" rtl="0" algn="l">
              <a:lnSpc>
                <a:spcPct val="115000"/>
              </a:lnSpc>
              <a:spcBef>
                <a:spcPts val="0"/>
              </a:spcBef>
              <a:spcAft>
                <a:spcPts val="0"/>
              </a:spcAft>
              <a:buClr>
                <a:srgbClr val="073763"/>
              </a:buClr>
              <a:buSzPts val="1600"/>
              <a:buFont typeface="Alegreya"/>
              <a:buAutoNum type="arabicPeriod"/>
            </a:pPr>
            <a:r>
              <a:rPr lang="zh-TW" sz="1600">
                <a:solidFill>
                  <a:srgbClr val="073763"/>
                </a:solidFill>
                <a:latin typeface="Alegreya"/>
                <a:ea typeface="Alegreya"/>
                <a:cs typeface="Alegreya"/>
                <a:sym typeface="Alegreya"/>
              </a:rPr>
              <a:t>Chromosome 6 block-member SNPs: 1,447 </a:t>
            </a:r>
            <a:endParaRPr sz="1600">
              <a:solidFill>
                <a:srgbClr val="073763"/>
              </a:solidFill>
              <a:latin typeface="Alegreya"/>
              <a:ea typeface="Alegreya"/>
              <a:cs typeface="Alegreya"/>
              <a:sym typeface="Alegrey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7" name="Shape 177"/>
        <p:cNvGrpSpPr/>
        <p:nvPr/>
      </p:nvGrpSpPr>
      <p:grpSpPr>
        <a:xfrm>
          <a:off x="0" y="0"/>
          <a:ext cx="0" cy="0"/>
          <a:chOff x="0" y="0"/>
          <a:chExt cx="0" cy="0"/>
        </a:xfrm>
      </p:grpSpPr>
      <p:pic>
        <p:nvPicPr>
          <p:cNvPr id="178" name="Google Shape;178;g3f64edb0747_0_447"/>
          <p:cNvPicPr preferRelativeResize="0"/>
          <p:nvPr/>
        </p:nvPicPr>
        <p:blipFill rotWithShape="1">
          <a:blip r:embed="rId3">
            <a:alphaModFix/>
          </a:blip>
          <a:srcRect b="0" l="0" r="53199" t="0"/>
          <a:stretch/>
        </p:blipFill>
        <p:spPr>
          <a:xfrm>
            <a:off x="-4412275" y="1022900"/>
            <a:ext cx="4148824" cy="5765227"/>
          </a:xfrm>
          <a:prstGeom prst="rect">
            <a:avLst/>
          </a:prstGeom>
          <a:noFill/>
          <a:ln>
            <a:noFill/>
          </a:ln>
        </p:spPr>
      </p:pic>
      <p:sp>
        <p:nvSpPr>
          <p:cNvPr id="179" name="Google Shape;179;g3f64edb0747_0_447"/>
          <p:cNvSpPr txBox="1"/>
          <p:nvPr/>
        </p:nvSpPr>
        <p:spPr>
          <a:xfrm>
            <a:off x="5403369" y="1022888"/>
            <a:ext cx="84831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原始 variants：617,808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zh-TW"/>
              <a:t>removed:</a:t>
            </a:r>
            <a:endParaRPr/>
          </a:p>
          <a:p>
            <a:pPr indent="-317500" lvl="0" marL="457200" marR="0" rtl="0" algn="l">
              <a:lnSpc>
                <a:spcPct val="100000"/>
              </a:lnSpc>
              <a:spcBef>
                <a:spcPts val="0"/>
              </a:spcBef>
              <a:spcAft>
                <a:spcPts val="0"/>
              </a:spcAft>
              <a:buSzPts val="1400"/>
              <a:buAutoNum type="arabicPeriod"/>
            </a:pPr>
            <a:r>
              <a:rPr b="0" i="0" lang="zh-TW" sz="1400" u="none" cap="none" strike="noStrike">
                <a:solidFill>
                  <a:srgbClr val="000000"/>
                </a:solidFill>
                <a:latin typeface="Arial"/>
                <a:ea typeface="Arial"/>
                <a:cs typeface="Arial"/>
                <a:sym typeface="Arial"/>
              </a:rPr>
              <a:t>missing </a:t>
            </a:r>
            <a:r>
              <a:rPr lang="zh-TW"/>
              <a:t>genotype</a:t>
            </a:r>
            <a:r>
              <a:rPr b="0" i="0" lang="zh-TW" sz="1400" u="none" cap="none" strike="noStrike">
                <a:solidFill>
                  <a:srgbClr val="000000"/>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SzPts val="1400"/>
              <a:buAutoNum type="arabicPeriod"/>
            </a:pPr>
            <a:r>
              <a:rPr lang="zh-TW"/>
              <a:t>minor allel frequency(MAF)&lt;0.05: </a:t>
            </a:r>
            <a:r>
              <a:rPr lang="zh-TW">
                <a:solidFill>
                  <a:schemeClr val="dk1"/>
                </a:solidFill>
              </a:rPr>
              <a:t>273,144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-&gt;273,144 個 SNP 被 MAF 篩掉，主要表示這些 SNP 在 10 人中沒有變異，或 minor allele 太少</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最後保留：344,656 </a:t>
            </a:r>
            <a:r>
              <a:rPr lang="zh-TW">
                <a:solidFill>
                  <a:schemeClr val="dk1"/>
                </a:solidFill>
              </a:rPr>
              <a:t>→ 被分入632個LD blocks：5,156</a:t>
            </a:r>
            <a:endParaRPr/>
          </a:p>
        </p:txBody>
      </p:sp>
      <p:sp>
        <p:nvSpPr>
          <p:cNvPr id="180" name="Google Shape;180;g3f64edb0747_0_447"/>
          <p:cNvSpPr txBox="1"/>
          <p:nvPr/>
        </p:nvSpPr>
        <p:spPr>
          <a:xfrm>
            <a:off x="5527269" y="3121194"/>
            <a:ext cx="37785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500 kb 內且 r² ≥ 0.8 的 SNP pairs 已成功算完</a:t>
            </a:r>
            <a:endParaRPr b="0" i="0" sz="1400" u="none" cap="none" strike="noStrike">
              <a:solidFill>
                <a:srgbClr val="000000"/>
              </a:solidFill>
              <a:latin typeface="Arial"/>
              <a:ea typeface="Arial"/>
              <a:cs typeface="Arial"/>
              <a:sym typeface="Arial"/>
            </a:endParaRPr>
          </a:p>
        </p:txBody>
      </p:sp>
      <p:sp>
        <p:nvSpPr>
          <p:cNvPr id="181" name="Google Shape;181;g3f64edb0747_0_447"/>
          <p:cNvSpPr txBox="1"/>
          <p:nvPr/>
        </p:nvSpPr>
        <p:spPr>
          <a:xfrm>
            <a:off x="5403369" y="4464226"/>
            <a:ext cx="138261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原始SNP：617,808 → geno篩除：8 → MAF篩除：273,144 → 實際參與LD分析：344,656 → 被分入632個LD blocks：5,156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表示：</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Version 4 全部 SNP 中，有 0.83% （5,156 ÷ 617,808 = 0.83%）被 PLINK 分入 LD block。</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但相對於真正參與 LD block estimation 的 SNP：5,156 ÷ 344,656 = 1.50%在通過 LD QC 的 344,656 個 SNP 中，5,156 個 SNP（1.50%）被分入 632 個 haplotype blocks。</a:t>
            </a:r>
            <a:endParaRPr b="0" i="0" sz="1400" u="none" cap="none" strike="noStrike">
              <a:solidFill>
                <a:srgbClr val="000000"/>
              </a:solidFill>
              <a:latin typeface="Arial"/>
              <a:ea typeface="Arial"/>
              <a:cs typeface="Arial"/>
              <a:sym typeface="Arial"/>
            </a:endParaRPr>
          </a:p>
        </p:txBody>
      </p:sp>
      <p:pic>
        <p:nvPicPr>
          <p:cNvPr id="182" name="Google Shape;182;g3f64edb0747_0_447"/>
          <p:cNvPicPr preferRelativeResize="0"/>
          <p:nvPr/>
        </p:nvPicPr>
        <p:blipFill rotWithShape="1">
          <a:blip r:embed="rId3">
            <a:alphaModFix/>
          </a:blip>
          <a:srcRect b="0" l="49853" r="-1471" t="23862"/>
          <a:stretch/>
        </p:blipFill>
        <p:spPr>
          <a:xfrm>
            <a:off x="295825" y="1022900"/>
            <a:ext cx="5302349" cy="5086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6" name="Shape 186"/>
        <p:cNvGrpSpPr/>
        <p:nvPr/>
      </p:nvGrpSpPr>
      <p:grpSpPr>
        <a:xfrm>
          <a:off x="0" y="0"/>
          <a:ext cx="0" cy="0"/>
          <a:chOff x="0" y="0"/>
          <a:chExt cx="0" cy="0"/>
        </a:xfrm>
      </p:grpSpPr>
      <p:sp>
        <p:nvSpPr>
          <p:cNvPr id="187" name="Google Shape;187;g3f64edb0747_0_454"/>
          <p:cNvSpPr txBox="1"/>
          <p:nvPr/>
        </p:nvSpPr>
        <p:spPr>
          <a:xfrm>
            <a:off x="580325" y="667720"/>
            <a:ext cx="10241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發現第六條染色體特別多snp( 1,447個block SNP, 站全部的28.06%)-&gt;在這 10 位樣本的 pilot analysis 中，Chr 6 約 27–33 Mb 區域形成較多且較密集的 haplotype blocks</a:t>
            </a:r>
            <a:endParaRPr b="0" i="0" sz="1400" u="none" cap="none" strike="noStrike">
              <a:solidFill>
                <a:srgbClr val="000000"/>
              </a:solidFill>
              <a:latin typeface="Arial"/>
              <a:ea typeface="Arial"/>
              <a:cs typeface="Arial"/>
              <a:sym typeface="Arial"/>
            </a:endParaRPr>
          </a:p>
        </p:txBody>
      </p:sp>
      <p:pic>
        <p:nvPicPr>
          <p:cNvPr id="188" name="Google Shape;188;g3f64edb0747_0_454"/>
          <p:cNvPicPr preferRelativeResize="0"/>
          <p:nvPr/>
        </p:nvPicPr>
        <p:blipFill rotWithShape="1">
          <a:blip r:embed="rId3">
            <a:alphaModFix/>
          </a:blip>
          <a:srcRect b="0" l="0" r="0" t="0"/>
          <a:stretch/>
        </p:blipFill>
        <p:spPr>
          <a:xfrm>
            <a:off x="1006852" y="2348101"/>
            <a:ext cx="7772399" cy="3173249"/>
          </a:xfrm>
          <a:prstGeom prst="rect">
            <a:avLst/>
          </a:prstGeom>
          <a:noFill/>
          <a:ln>
            <a:noFill/>
          </a:ln>
        </p:spPr>
      </p:pic>
      <p:sp>
        <p:nvSpPr>
          <p:cNvPr id="189" name="Google Shape;189;g3f64edb0747_0_454"/>
          <p:cNvSpPr txBox="1"/>
          <p:nvPr/>
        </p:nvSpPr>
        <p:spPr>
          <a:xfrm>
            <a:off x="9283485" y="2348101"/>
            <a:ext cx="1640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QC後剩下太少snp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g3f64edb0747_0_460"/>
          <p:cNvPicPr preferRelativeResize="0"/>
          <p:nvPr/>
        </p:nvPicPr>
        <p:blipFill rotWithShape="1">
          <a:blip r:embed="rId3">
            <a:alphaModFix/>
          </a:blip>
          <a:srcRect b="0" l="0" r="0" t="0"/>
          <a:stretch/>
        </p:blipFill>
        <p:spPr>
          <a:xfrm>
            <a:off x="132039" y="371262"/>
            <a:ext cx="11985652" cy="6115475"/>
          </a:xfrm>
          <a:prstGeom prst="rect">
            <a:avLst/>
          </a:prstGeom>
          <a:noFill/>
          <a:ln>
            <a:noFill/>
          </a:ln>
        </p:spPr>
      </p:pic>
      <p:sp>
        <p:nvSpPr>
          <p:cNvPr id="195" name="Google Shape;195;g3f64edb0747_0_460"/>
          <p:cNvSpPr txBox="1"/>
          <p:nvPr/>
        </p:nvSpPr>
        <p:spPr>
          <a:xfrm>
            <a:off x="11566900" y="6393825"/>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4</a:t>
            </a:r>
            <a:endParaRPr b="0" i="0" sz="1000" u="none" cap="none" strike="noStrike">
              <a:solidFill>
                <a:srgbClr val="9E9E9E"/>
              </a:solidFill>
              <a:latin typeface="Alegreya"/>
              <a:ea typeface="Alegreya"/>
              <a:cs typeface="Alegreya"/>
              <a:sym typeface="Alegrey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f64edb0747_0_49"/>
          <p:cNvSpPr txBox="1"/>
          <p:nvPr/>
        </p:nvSpPr>
        <p:spPr>
          <a:xfrm>
            <a:off x="468122" y="1186300"/>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a:t>
            </a:r>
            <a:r>
              <a:rPr b="1" lang="zh-TW" sz="1800">
                <a:solidFill>
                  <a:schemeClr val="dk1"/>
                </a:solidFill>
                <a:latin typeface="Alegreya"/>
                <a:ea typeface="Alegreya"/>
                <a:cs typeface="Alegreya"/>
                <a:sym typeface="Alegreya"/>
              </a:rPr>
              <a:t>Paper review</a:t>
            </a:r>
            <a:endParaRPr>
              <a:latin typeface="Alegreya"/>
              <a:ea typeface="Alegreya"/>
              <a:cs typeface="Alegreya"/>
              <a:sym typeface="Alegreya"/>
            </a:endParaRPr>
          </a:p>
        </p:txBody>
      </p:sp>
      <p:sp>
        <p:nvSpPr>
          <p:cNvPr id="202" name="Google Shape;202;g3f64edb0747_0_49"/>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5</a:t>
            </a:r>
            <a:endParaRPr b="0" i="0" sz="1000" u="none" cap="none" strike="noStrike">
              <a:solidFill>
                <a:srgbClr val="9E9E9E"/>
              </a:solidFill>
              <a:latin typeface="Alegreya"/>
              <a:ea typeface="Alegreya"/>
              <a:cs typeface="Alegreya"/>
              <a:sym typeface="Alegreya"/>
            </a:endParaRPr>
          </a:p>
        </p:txBody>
      </p:sp>
      <p:grpSp>
        <p:nvGrpSpPr>
          <p:cNvPr id="203" name="Google Shape;203;g3f64edb0747_0_49"/>
          <p:cNvGrpSpPr/>
          <p:nvPr/>
        </p:nvGrpSpPr>
        <p:grpSpPr>
          <a:xfrm>
            <a:off x="492000" y="540000"/>
            <a:ext cx="2376000" cy="546000"/>
            <a:chOff x="492000" y="540000"/>
            <a:chExt cx="2376000" cy="546000"/>
          </a:xfrm>
        </p:grpSpPr>
        <p:sp>
          <p:nvSpPr>
            <p:cNvPr id="204" name="Google Shape;204;g3f64edb0747_0_49"/>
            <p:cNvSpPr/>
            <p:nvPr/>
          </p:nvSpPr>
          <p:spPr>
            <a:xfrm>
              <a:off x="492000" y="540000"/>
              <a:ext cx="237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05" name="Google Shape;205;g3f64edb0747_0_49"/>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06" name="Google Shape;206;g3f64edb0747_0_49"/>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0" i="0" lang="zh-TW" sz="3000" u="none" cap="none" strike="noStrike">
                <a:solidFill>
                  <a:schemeClr val="dk1"/>
                </a:solidFill>
                <a:latin typeface="Playfair Display"/>
                <a:ea typeface="Playfair Display"/>
                <a:cs typeface="Playfair Display"/>
                <a:sym typeface="Playfair Display"/>
              </a:rPr>
              <a:t>1</a:t>
            </a:r>
            <a:endParaRPr/>
          </a:p>
        </p:txBody>
      </p:sp>
      <p:grpSp>
        <p:nvGrpSpPr>
          <p:cNvPr id="207" name="Google Shape;207;g3f64edb0747_0_49"/>
          <p:cNvGrpSpPr/>
          <p:nvPr/>
        </p:nvGrpSpPr>
        <p:grpSpPr>
          <a:xfrm>
            <a:off x="492000" y="540000"/>
            <a:ext cx="2856000" cy="546000"/>
            <a:chOff x="492000" y="540000"/>
            <a:chExt cx="2856000" cy="546000"/>
          </a:xfrm>
        </p:grpSpPr>
        <p:sp>
          <p:nvSpPr>
            <p:cNvPr id="208" name="Google Shape;208;g3f64edb0747_0_49"/>
            <p:cNvSpPr/>
            <p:nvPr/>
          </p:nvSpPr>
          <p:spPr>
            <a:xfrm>
              <a:off x="492000" y="540000"/>
              <a:ext cx="285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09" name="Google Shape;209;g3f64edb0747_0_49"/>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10" name="Google Shape;210;g3f64edb0747_0_49"/>
          <p:cNvSpPr txBox="1"/>
          <p:nvPr/>
        </p:nvSpPr>
        <p:spPr>
          <a:xfrm>
            <a:off x="1124721" y="564873"/>
            <a:ext cx="172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zh-TW" sz="2000">
                <a:solidFill>
                  <a:schemeClr val="dk1"/>
                </a:solidFill>
                <a:latin typeface="Alegreya"/>
                <a:ea typeface="Alegreya"/>
                <a:cs typeface="Alegreya"/>
                <a:sym typeface="Alegreya"/>
              </a:rPr>
              <a:t>Recent work</a:t>
            </a:r>
            <a:endParaRPr>
              <a:latin typeface="Alegreya"/>
              <a:ea typeface="Alegreya"/>
              <a:cs typeface="Alegreya"/>
              <a:sym typeface="Alegreya"/>
            </a:endParaRPr>
          </a:p>
        </p:txBody>
      </p:sp>
      <p:sp>
        <p:nvSpPr>
          <p:cNvPr id="211" name="Google Shape;211;g3f64edb0747_0_49"/>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lang="zh-TW" sz="3000">
                <a:solidFill>
                  <a:schemeClr val="dk1"/>
                </a:solidFill>
                <a:latin typeface="Playfair Display"/>
                <a:ea typeface="Playfair Display"/>
                <a:cs typeface="Playfair Display"/>
                <a:sym typeface="Playfair Display"/>
              </a:rPr>
              <a:t>2</a:t>
            </a:r>
            <a:endParaRPr b="0" i="0" sz="3000" u="none" cap="none" strike="noStrike">
              <a:solidFill>
                <a:schemeClr val="dk1"/>
              </a:solidFill>
              <a:latin typeface="Playfair Display"/>
              <a:ea typeface="Playfair Display"/>
              <a:cs typeface="Playfair Display"/>
              <a:sym typeface="Playfair Display"/>
            </a:endParaRPr>
          </a:p>
        </p:txBody>
      </p:sp>
      <p:sp>
        <p:nvSpPr>
          <p:cNvPr id="212" name="Google Shape;212;g3f64edb0747_0_49"/>
          <p:cNvSpPr txBox="1"/>
          <p:nvPr/>
        </p:nvSpPr>
        <p:spPr>
          <a:xfrm>
            <a:off x="492000" y="1655900"/>
            <a:ext cx="10525500" cy="15393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chemeClr val="dk1"/>
              </a:buClr>
              <a:buSzPts val="1600"/>
              <a:buFont typeface="Alegreya"/>
              <a:buChar char="●"/>
            </a:pPr>
            <a:r>
              <a:rPr b="1" lang="zh-TW" sz="1600">
                <a:solidFill>
                  <a:schemeClr val="dk1"/>
                </a:solidFill>
                <a:latin typeface="Alegreya"/>
                <a:ea typeface="Alegreya"/>
                <a:cs typeface="Alegreya"/>
                <a:sym typeface="Alegreya"/>
              </a:rPr>
              <a:t>Strategy 1: Multi-image / multi-channel design</a:t>
            </a:r>
            <a:endParaRPr b="1" sz="1600">
              <a:solidFill>
                <a:schemeClr val="dk1"/>
              </a:solidFill>
              <a:latin typeface="Alegreya"/>
              <a:ea typeface="Alegreya"/>
              <a:cs typeface="Alegreya"/>
              <a:sym typeface="Alegreya"/>
            </a:endParaRPr>
          </a:p>
          <a:p>
            <a:pPr indent="-330200" lvl="1" marL="9144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Different biological information is represented in separate aligned images or channels.</a:t>
            </a:r>
            <a:endParaRPr sz="1600">
              <a:solidFill>
                <a:schemeClr val="dk1"/>
              </a:solidFill>
              <a:highlight>
                <a:srgbClr val="D0E0E3"/>
              </a:highlight>
              <a:latin typeface="Alegreya"/>
              <a:ea typeface="Alegreya"/>
              <a:cs typeface="Alegreya"/>
              <a:sym typeface="Alegreya"/>
            </a:endParaRPr>
          </a:p>
          <a:p>
            <a:pPr indent="-330200" lvl="2" marL="13716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Genotype / nucleotide genotype: ordered by </a:t>
            </a:r>
            <a:r>
              <a:rPr lang="zh-TW" sz="1600">
                <a:solidFill>
                  <a:srgbClr val="990000"/>
                </a:solidFill>
                <a:latin typeface="Alegreya"/>
                <a:ea typeface="Alegreya"/>
                <a:cs typeface="Alegreya"/>
                <a:sym typeface="Alegreya"/>
              </a:rPr>
              <a:t>genomic position</a:t>
            </a:r>
            <a:r>
              <a:rPr lang="zh-TW" sz="1600">
                <a:solidFill>
                  <a:schemeClr val="dk1"/>
                </a:solidFill>
                <a:latin typeface="Alegreya"/>
                <a:ea typeface="Alegreya"/>
                <a:cs typeface="Alegreya"/>
                <a:sym typeface="Alegreya"/>
              </a:rPr>
              <a:t> and mapped with a </a:t>
            </a:r>
            <a:r>
              <a:rPr lang="zh-TW" sz="1600">
                <a:solidFill>
                  <a:srgbClr val="990000"/>
                </a:solidFill>
                <a:latin typeface="Alegreya"/>
                <a:ea typeface="Alegreya"/>
                <a:cs typeface="Alegreya"/>
                <a:sym typeface="Alegreya"/>
              </a:rPr>
              <a:t>Hilbert curve</a:t>
            </a:r>
            <a:endParaRPr sz="1600">
              <a:solidFill>
                <a:srgbClr val="990000"/>
              </a:solidFill>
              <a:latin typeface="Alegreya"/>
              <a:ea typeface="Alegreya"/>
              <a:cs typeface="Alegreya"/>
              <a:sym typeface="Alegreya"/>
            </a:endParaRPr>
          </a:p>
          <a:p>
            <a:pPr indent="-330200" lvl="2" marL="13716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Structural information: cytoband, LD block </a:t>
            </a:r>
            <a:endParaRPr sz="1600">
              <a:solidFill>
                <a:schemeClr val="dk1"/>
              </a:solidFill>
              <a:latin typeface="Alegreya"/>
              <a:ea typeface="Alegreya"/>
              <a:cs typeface="Alegreya"/>
              <a:sym typeface="Alegreya"/>
            </a:endParaRPr>
          </a:p>
        </p:txBody>
      </p:sp>
      <p:sp>
        <p:nvSpPr>
          <p:cNvPr id="213" name="Google Shape;213;g3f64edb0747_0_49"/>
          <p:cNvSpPr txBox="1"/>
          <p:nvPr/>
        </p:nvSpPr>
        <p:spPr>
          <a:xfrm>
            <a:off x="518250" y="5758950"/>
            <a:ext cx="10473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000">
                <a:solidFill>
                  <a:schemeClr val="accent3"/>
                </a:solidFill>
                <a:highlight>
                  <a:srgbClr val="FFFFFF"/>
                </a:highlight>
                <a:latin typeface="Calibri"/>
                <a:ea typeface="Calibri"/>
                <a:cs typeface="Calibri"/>
                <a:sym typeface="Calibri"/>
              </a:rPr>
              <a:t>[1] </a:t>
            </a:r>
            <a:r>
              <a:rPr lang="zh-TW" sz="1000">
                <a:solidFill>
                  <a:schemeClr val="accent3"/>
                </a:solidFill>
                <a:highlight>
                  <a:srgbClr val="FFFFFF"/>
                </a:highlight>
                <a:latin typeface="Calibri"/>
                <a:ea typeface="Calibri"/>
                <a:cs typeface="Calibri"/>
                <a:sym typeface="Calibri"/>
              </a:rPr>
              <a:t>Flagel, L., Brandvain, Y., &amp; Schrider, D. R. (2019). The unreasonable effectiveness of convolutional neural networks in population genetic inference. </a:t>
            </a:r>
            <a:r>
              <a:rPr i="1" lang="zh-TW" sz="1000">
                <a:solidFill>
                  <a:schemeClr val="accent3"/>
                </a:solidFill>
                <a:highlight>
                  <a:srgbClr val="FFFFFF"/>
                </a:highlight>
                <a:latin typeface="Calibri"/>
                <a:ea typeface="Calibri"/>
                <a:cs typeface="Calibri"/>
                <a:sym typeface="Calibri"/>
              </a:rPr>
              <a:t>Molecular Biology and Evolution</a:t>
            </a:r>
            <a:r>
              <a:rPr lang="zh-TW" sz="1000">
                <a:solidFill>
                  <a:schemeClr val="accent3"/>
                </a:solidFill>
                <a:highlight>
                  <a:srgbClr val="FFFFFF"/>
                </a:highlight>
                <a:latin typeface="Calibri"/>
                <a:ea typeface="Calibri"/>
                <a:cs typeface="Calibri"/>
                <a:sym typeface="Calibri"/>
              </a:rPr>
              <a:t>, 36(2), 220–238.  </a:t>
            </a:r>
            <a:endParaRPr sz="1000">
              <a:solidFill>
                <a:schemeClr val="accent3"/>
              </a:solidFill>
              <a:highlight>
                <a:srgbClr val="FFFFFF"/>
              </a:highlight>
              <a:latin typeface="Calibri"/>
              <a:ea typeface="Calibri"/>
              <a:cs typeface="Calibri"/>
              <a:sym typeface="Calibri"/>
            </a:endParaRPr>
          </a:p>
          <a:p>
            <a:pPr indent="0" lvl="0" marL="0" rtl="0" algn="l">
              <a:spcBef>
                <a:spcPts val="0"/>
              </a:spcBef>
              <a:spcAft>
                <a:spcPts val="0"/>
              </a:spcAft>
              <a:buNone/>
            </a:pPr>
            <a:r>
              <a:rPr lang="zh-TW" sz="1000">
                <a:solidFill>
                  <a:schemeClr val="accent3"/>
                </a:solidFill>
                <a:highlight>
                  <a:srgbClr val="FFFFFF"/>
                </a:highlight>
                <a:latin typeface="Calibri"/>
                <a:ea typeface="Calibri"/>
                <a:cs typeface="Calibri"/>
                <a:sym typeface="Calibri"/>
              </a:rPr>
              <a:t>      DOI: 10.1093/molbev/msy224.</a:t>
            </a:r>
            <a:endParaRPr sz="1000">
              <a:solidFill>
                <a:schemeClr val="accent3"/>
              </a:solidFill>
              <a:highlight>
                <a:srgbClr val="FFFFFF"/>
              </a:highlight>
              <a:latin typeface="Calibri"/>
              <a:ea typeface="Calibri"/>
              <a:cs typeface="Calibri"/>
              <a:sym typeface="Calibri"/>
            </a:endParaRPr>
          </a:p>
          <a:p>
            <a:pPr indent="0" lvl="0" marL="0" rtl="0" algn="l">
              <a:spcBef>
                <a:spcPts val="0"/>
              </a:spcBef>
              <a:spcAft>
                <a:spcPts val="0"/>
              </a:spcAft>
              <a:buNone/>
            </a:pPr>
            <a:r>
              <a:rPr lang="zh-TW" sz="1000">
                <a:solidFill>
                  <a:schemeClr val="accent3"/>
                </a:solidFill>
                <a:highlight>
                  <a:srgbClr val="FFFFFF"/>
                </a:highlight>
                <a:latin typeface="Calibri"/>
                <a:ea typeface="Calibri"/>
                <a:cs typeface="Calibri"/>
                <a:sym typeface="Calibri"/>
              </a:rPr>
              <a:t>[2] Sharma, A., Lysenko, A., Boroevich, K. A., &amp; Tsunoda, T. (2023). DeepInsight-3D architecture for anti-cancer drug response prediction with deep-learning on multi-omics. </a:t>
            </a:r>
            <a:r>
              <a:rPr i="1" lang="zh-TW" sz="1000">
                <a:solidFill>
                  <a:schemeClr val="accent3"/>
                </a:solidFill>
                <a:highlight>
                  <a:srgbClr val="FFFFFF"/>
                </a:highlight>
                <a:latin typeface="Calibri"/>
                <a:ea typeface="Calibri"/>
                <a:cs typeface="Calibri"/>
                <a:sym typeface="Calibri"/>
              </a:rPr>
              <a:t>Scientific Reports</a:t>
            </a:r>
            <a:r>
              <a:rPr lang="zh-TW" sz="1000">
                <a:solidFill>
                  <a:schemeClr val="accent3"/>
                </a:solidFill>
                <a:highlight>
                  <a:srgbClr val="FFFFFF"/>
                </a:highlight>
                <a:latin typeface="Calibri"/>
                <a:ea typeface="Calibri"/>
                <a:cs typeface="Calibri"/>
                <a:sym typeface="Calibri"/>
              </a:rPr>
              <a:t>, 13, 2483.</a:t>
            </a:r>
            <a:endParaRPr sz="1000">
              <a:solidFill>
                <a:schemeClr val="accent3"/>
              </a:solidFill>
              <a:highlight>
                <a:srgbClr val="FFFFFF"/>
              </a:highlight>
              <a:latin typeface="Calibri"/>
              <a:ea typeface="Calibri"/>
              <a:cs typeface="Calibri"/>
              <a:sym typeface="Calibri"/>
            </a:endParaRPr>
          </a:p>
          <a:p>
            <a:pPr indent="0" lvl="0" marL="0" rtl="0" algn="l">
              <a:spcBef>
                <a:spcPts val="0"/>
              </a:spcBef>
              <a:spcAft>
                <a:spcPts val="0"/>
              </a:spcAft>
              <a:buNone/>
            </a:pPr>
            <a:r>
              <a:rPr lang="zh-TW" sz="1000">
                <a:solidFill>
                  <a:schemeClr val="accent3"/>
                </a:solidFill>
                <a:highlight>
                  <a:srgbClr val="FFFFFF"/>
                </a:highlight>
                <a:latin typeface="Calibri"/>
                <a:ea typeface="Calibri"/>
                <a:cs typeface="Calibri"/>
                <a:sym typeface="Calibri"/>
              </a:rPr>
              <a:t>      DOI: 10.1038/s41598-023-29644-3.</a:t>
            </a:r>
            <a:endParaRPr sz="1000">
              <a:solidFill>
                <a:schemeClr val="accent3"/>
              </a:solidFill>
              <a:highlight>
                <a:srgbClr val="FFFFFF"/>
              </a:highlight>
              <a:latin typeface="Calibri"/>
              <a:ea typeface="Calibri"/>
              <a:cs typeface="Calibri"/>
              <a:sym typeface="Calibri"/>
            </a:endParaRPr>
          </a:p>
          <a:p>
            <a:pPr indent="0" lvl="0" marL="0" rtl="0" algn="l">
              <a:spcBef>
                <a:spcPts val="0"/>
              </a:spcBef>
              <a:spcAft>
                <a:spcPts val="0"/>
              </a:spcAft>
              <a:buNone/>
            </a:pPr>
            <a:r>
              <a:rPr lang="zh-TW" sz="1000">
                <a:solidFill>
                  <a:schemeClr val="accent3"/>
                </a:solidFill>
                <a:highlight>
                  <a:srgbClr val="FFFFFF"/>
                </a:highlight>
                <a:latin typeface="Calibri"/>
                <a:ea typeface="Calibri"/>
                <a:cs typeface="Calibri"/>
                <a:sym typeface="Calibri"/>
              </a:rPr>
              <a:t>[3] </a:t>
            </a:r>
            <a:r>
              <a:rPr lang="zh-TW" sz="1000">
                <a:solidFill>
                  <a:schemeClr val="accent3"/>
                </a:solidFill>
                <a:latin typeface="Calibri"/>
                <a:ea typeface="Calibri"/>
                <a:cs typeface="Calibri"/>
                <a:sym typeface="Calibri"/>
              </a:rPr>
              <a:t>Anders, S. (2009). Visualization of genomic data with the Hilbert curve. </a:t>
            </a:r>
            <a:r>
              <a:rPr i="1" lang="zh-TW" sz="1000">
                <a:solidFill>
                  <a:schemeClr val="accent3"/>
                </a:solidFill>
                <a:latin typeface="Calibri"/>
                <a:ea typeface="Calibri"/>
                <a:cs typeface="Calibri"/>
                <a:sym typeface="Calibri"/>
              </a:rPr>
              <a:t>Bioinformatics, 25</a:t>
            </a:r>
            <a:r>
              <a:rPr lang="zh-TW" sz="1000">
                <a:solidFill>
                  <a:schemeClr val="accent3"/>
                </a:solidFill>
                <a:latin typeface="Calibri"/>
                <a:ea typeface="Calibri"/>
                <a:cs typeface="Calibri"/>
                <a:sym typeface="Calibri"/>
              </a:rPr>
              <a:t>(10), 1231–1235. DOI: 10.1093/bioinformatics/btp152.</a:t>
            </a:r>
            <a:endParaRPr sz="1000">
              <a:solidFill>
                <a:schemeClr val="accent3"/>
              </a:solidFill>
              <a:highlight>
                <a:srgbClr val="FFFFFF"/>
              </a:highlight>
              <a:latin typeface="Calibri"/>
              <a:ea typeface="Calibri"/>
              <a:cs typeface="Calibri"/>
              <a:sym typeface="Calibri"/>
            </a:endParaRPr>
          </a:p>
        </p:txBody>
      </p:sp>
      <p:sp>
        <p:nvSpPr>
          <p:cNvPr id="214" name="Google Shape;214;g3f64edb0747_0_49"/>
          <p:cNvSpPr txBox="1"/>
          <p:nvPr/>
        </p:nvSpPr>
        <p:spPr>
          <a:xfrm>
            <a:off x="4951294" y="1711938"/>
            <a:ext cx="352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000">
                <a:solidFill>
                  <a:srgbClr val="9E9E9E"/>
                </a:solidFill>
                <a:highlight>
                  <a:srgbClr val="FFFFFF"/>
                </a:highlight>
                <a:latin typeface="Calibri"/>
                <a:ea typeface="Calibri"/>
                <a:cs typeface="Calibri"/>
                <a:sym typeface="Calibri"/>
              </a:rPr>
              <a:t>[1]</a:t>
            </a:r>
            <a:endParaRPr sz="1000">
              <a:solidFill>
                <a:srgbClr val="9E9E9E"/>
              </a:solidFill>
              <a:highlight>
                <a:srgbClr val="FFFFFF"/>
              </a:highlight>
              <a:latin typeface="Calibri"/>
              <a:ea typeface="Calibri"/>
              <a:cs typeface="Calibri"/>
              <a:sym typeface="Calibri"/>
            </a:endParaRPr>
          </a:p>
        </p:txBody>
      </p:sp>
      <p:grpSp>
        <p:nvGrpSpPr>
          <p:cNvPr id="215" name="Google Shape;215;g3f64edb0747_0_49"/>
          <p:cNvGrpSpPr/>
          <p:nvPr/>
        </p:nvGrpSpPr>
        <p:grpSpPr>
          <a:xfrm>
            <a:off x="544650" y="2871875"/>
            <a:ext cx="9346800" cy="1908600"/>
            <a:chOff x="544650" y="2871875"/>
            <a:chExt cx="9346800" cy="1908600"/>
          </a:xfrm>
        </p:grpSpPr>
        <p:sp>
          <p:nvSpPr>
            <p:cNvPr id="216" name="Google Shape;216;g3f64edb0747_0_49"/>
            <p:cNvSpPr txBox="1"/>
            <p:nvPr/>
          </p:nvSpPr>
          <p:spPr>
            <a:xfrm>
              <a:off x="544650" y="2871875"/>
              <a:ext cx="9346800" cy="1908600"/>
            </a:xfrm>
            <a:prstGeom prst="rect">
              <a:avLst/>
            </a:prstGeom>
            <a:noFill/>
            <a:ln>
              <a:noFill/>
            </a:ln>
          </p:spPr>
          <p:txBody>
            <a:bodyPr anchorCtr="0" anchor="t" bIns="91425" lIns="91425" spcFirstLastPara="1" rIns="91425" wrap="square" tIns="91425">
              <a:spAutoFit/>
            </a:bodyPr>
            <a:lstStyle/>
            <a:p>
              <a:pPr indent="0" lvl="0" marL="1828800" rtl="0" algn="l">
                <a:lnSpc>
                  <a:spcPct val="150000"/>
                </a:lnSpc>
                <a:spcBef>
                  <a:spcPts val="0"/>
                </a:spcBef>
                <a:spcAft>
                  <a:spcPts val="0"/>
                </a:spcAft>
                <a:buNone/>
              </a:pPr>
              <a:r>
                <a:t/>
              </a:r>
              <a:endParaRPr sz="1600">
                <a:solidFill>
                  <a:schemeClr val="dk1"/>
                </a:solidFill>
                <a:latin typeface="Alegreya"/>
                <a:ea typeface="Alegreya"/>
                <a:cs typeface="Alegreya"/>
                <a:sym typeface="Alegreya"/>
              </a:endParaRPr>
            </a:p>
            <a:p>
              <a:pPr indent="-330200" lvl="0" marL="457200" rtl="0" algn="l">
                <a:lnSpc>
                  <a:spcPct val="150000"/>
                </a:lnSpc>
                <a:spcBef>
                  <a:spcPts val="0"/>
                </a:spcBef>
                <a:spcAft>
                  <a:spcPts val="0"/>
                </a:spcAft>
                <a:buClr>
                  <a:schemeClr val="dk1"/>
                </a:buClr>
                <a:buSzPts val="1600"/>
                <a:buFont typeface="Alegreya"/>
                <a:buChar char="●"/>
              </a:pPr>
              <a:r>
                <a:rPr b="1" lang="zh-TW" sz="1600">
                  <a:solidFill>
                    <a:schemeClr val="dk1"/>
                  </a:solidFill>
                  <a:latin typeface="Alegreya"/>
                  <a:ea typeface="Alegreya"/>
                  <a:cs typeface="Alegreya"/>
                  <a:sym typeface="Alegreya"/>
                </a:rPr>
                <a:t>Strategy 2: Concentric-circle layout</a:t>
              </a:r>
              <a:endParaRPr b="1" sz="1600">
                <a:solidFill>
                  <a:schemeClr val="dk1"/>
                </a:solidFill>
                <a:latin typeface="Alegreya"/>
                <a:ea typeface="Alegreya"/>
                <a:cs typeface="Alegreya"/>
                <a:sym typeface="Alegreya"/>
              </a:endParaRPr>
            </a:p>
            <a:p>
              <a:pPr indent="-330200" lvl="1" marL="9144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Chromosomes are arranged according to their lengths in a circular form.</a:t>
              </a:r>
              <a:endParaRPr sz="1600">
                <a:solidFill>
                  <a:schemeClr val="dk1"/>
                </a:solidFill>
                <a:latin typeface="Alegreya"/>
                <a:ea typeface="Alegreya"/>
                <a:cs typeface="Alegreya"/>
                <a:sym typeface="Alegreya"/>
              </a:endParaRPr>
            </a:p>
            <a:p>
              <a:pPr indent="-330200" lvl="1" marL="9144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This approach was considered less feasible →  pixels near the center become highly compressed</a:t>
              </a:r>
              <a:endParaRPr sz="1600">
                <a:solidFill>
                  <a:schemeClr val="dk1"/>
                </a:solidFill>
                <a:latin typeface="Alegreya"/>
                <a:ea typeface="Alegreya"/>
                <a:cs typeface="Alegreya"/>
                <a:sym typeface="Alegreya"/>
              </a:endParaRPr>
            </a:p>
            <a:p>
              <a:pPr indent="-330200" lvl="1" marL="9144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Integrating all chromosomes into one concentric layout → blur patterns</a:t>
              </a:r>
              <a:endParaRPr sz="1600">
                <a:solidFill>
                  <a:schemeClr val="dk1"/>
                </a:solidFill>
                <a:latin typeface="Alegreya"/>
                <a:ea typeface="Alegreya"/>
                <a:cs typeface="Alegreya"/>
                <a:sym typeface="Alegreya"/>
              </a:endParaRPr>
            </a:p>
          </p:txBody>
        </p:sp>
        <p:sp>
          <p:nvSpPr>
            <p:cNvPr id="217" name="Google Shape;217;g3f64edb0747_0_49"/>
            <p:cNvSpPr txBox="1"/>
            <p:nvPr/>
          </p:nvSpPr>
          <p:spPr>
            <a:xfrm>
              <a:off x="4136769" y="3295488"/>
              <a:ext cx="352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000">
                  <a:solidFill>
                    <a:srgbClr val="9E9E9E"/>
                  </a:solidFill>
                  <a:highlight>
                    <a:srgbClr val="FFFFFF"/>
                  </a:highlight>
                  <a:latin typeface="Calibri"/>
                  <a:ea typeface="Calibri"/>
                  <a:cs typeface="Calibri"/>
                  <a:sym typeface="Calibri"/>
                </a:rPr>
                <a:t>[3]</a:t>
              </a:r>
              <a:endParaRPr sz="1000">
                <a:solidFill>
                  <a:srgbClr val="9E9E9E"/>
                </a:solidFill>
                <a:highlight>
                  <a:srgbClr val="FFFFFF"/>
                </a:highlight>
                <a:latin typeface="Calibri"/>
                <a:ea typeface="Calibri"/>
                <a:cs typeface="Calibri"/>
                <a:sym typeface="Calibri"/>
              </a:endParaRPr>
            </a:p>
          </p:txBody>
        </p:sp>
      </p:grpSp>
      <p:sp>
        <p:nvSpPr>
          <p:cNvPr id="218" name="Google Shape;218;g3f64edb0747_0_49"/>
          <p:cNvSpPr txBox="1"/>
          <p:nvPr/>
        </p:nvSpPr>
        <p:spPr>
          <a:xfrm>
            <a:off x="8668369" y="2065070"/>
            <a:ext cx="352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000">
                <a:solidFill>
                  <a:srgbClr val="9E9E9E"/>
                </a:solidFill>
                <a:highlight>
                  <a:srgbClr val="FFFFFF"/>
                </a:highlight>
                <a:latin typeface="Calibri"/>
                <a:ea typeface="Calibri"/>
                <a:cs typeface="Calibri"/>
                <a:sym typeface="Calibri"/>
              </a:rPr>
              <a:t>[2]</a:t>
            </a:r>
            <a:endParaRPr sz="1000">
              <a:solidFill>
                <a:srgbClr val="9E9E9E"/>
              </a:solidFill>
              <a:highlight>
                <a:srgbClr val="FFFFFF"/>
              </a:highlight>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g3f64edb0747_0_297"/>
          <p:cNvPicPr preferRelativeResize="0"/>
          <p:nvPr/>
        </p:nvPicPr>
        <p:blipFill rotWithShape="1">
          <a:blip r:embed="rId3">
            <a:alphaModFix/>
          </a:blip>
          <a:srcRect b="21507" l="0" r="0" t="6129"/>
          <a:stretch/>
        </p:blipFill>
        <p:spPr>
          <a:xfrm>
            <a:off x="1124725" y="1655900"/>
            <a:ext cx="10777750" cy="5210851"/>
          </a:xfrm>
          <a:prstGeom prst="rect">
            <a:avLst/>
          </a:prstGeom>
          <a:noFill/>
          <a:ln>
            <a:noFill/>
          </a:ln>
        </p:spPr>
      </p:pic>
      <p:sp>
        <p:nvSpPr>
          <p:cNvPr id="225" name="Google Shape;225;g3f64edb0747_0_297"/>
          <p:cNvSpPr txBox="1"/>
          <p:nvPr/>
        </p:nvSpPr>
        <p:spPr>
          <a:xfrm>
            <a:off x="468122" y="1186300"/>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Image construction (Version </a:t>
            </a:r>
            <a:r>
              <a:rPr b="1" lang="zh-TW" sz="1800">
                <a:solidFill>
                  <a:schemeClr val="dk1"/>
                </a:solidFill>
                <a:latin typeface="Alegreya"/>
                <a:ea typeface="Alegreya"/>
                <a:cs typeface="Alegreya"/>
                <a:sym typeface="Alegreya"/>
              </a:rPr>
              <a:t>5</a:t>
            </a:r>
            <a:r>
              <a:rPr b="1" i="0" lang="zh-TW" sz="1800" u="none" cap="none" strike="noStrike">
                <a:solidFill>
                  <a:schemeClr val="dk1"/>
                </a:solidFill>
                <a:latin typeface="Alegreya"/>
                <a:ea typeface="Alegreya"/>
                <a:cs typeface="Alegreya"/>
                <a:sym typeface="Alegreya"/>
              </a:rPr>
              <a:t>)</a:t>
            </a:r>
            <a:endParaRPr>
              <a:latin typeface="Alegreya"/>
              <a:ea typeface="Alegreya"/>
              <a:cs typeface="Alegreya"/>
              <a:sym typeface="Alegreya"/>
            </a:endParaRPr>
          </a:p>
        </p:txBody>
      </p:sp>
      <p:grpSp>
        <p:nvGrpSpPr>
          <p:cNvPr id="226" name="Google Shape;226;g3f64edb0747_0_297"/>
          <p:cNvGrpSpPr/>
          <p:nvPr/>
        </p:nvGrpSpPr>
        <p:grpSpPr>
          <a:xfrm>
            <a:off x="492000" y="540000"/>
            <a:ext cx="2376000" cy="546000"/>
            <a:chOff x="492000" y="540000"/>
            <a:chExt cx="2376000" cy="546000"/>
          </a:xfrm>
        </p:grpSpPr>
        <p:sp>
          <p:nvSpPr>
            <p:cNvPr id="227" name="Google Shape;227;g3f64edb0747_0_297"/>
            <p:cNvSpPr/>
            <p:nvPr/>
          </p:nvSpPr>
          <p:spPr>
            <a:xfrm>
              <a:off x="492000" y="540000"/>
              <a:ext cx="237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8" name="Google Shape;228;g3f64edb0747_0_297"/>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29" name="Google Shape;229;g3f64edb0747_0_297"/>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0" i="0" lang="zh-TW" sz="3000" u="none" cap="none" strike="noStrike">
                <a:solidFill>
                  <a:schemeClr val="dk1"/>
                </a:solidFill>
                <a:latin typeface="Playfair Display"/>
                <a:ea typeface="Playfair Display"/>
                <a:cs typeface="Playfair Display"/>
                <a:sym typeface="Playfair Display"/>
              </a:rPr>
              <a:t>1</a:t>
            </a:r>
            <a:endParaRPr/>
          </a:p>
        </p:txBody>
      </p:sp>
      <p:grpSp>
        <p:nvGrpSpPr>
          <p:cNvPr id="230" name="Google Shape;230;g3f64edb0747_0_297"/>
          <p:cNvGrpSpPr/>
          <p:nvPr/>
        </p:nvGrpSpPr>
        <p:grpSpPr>
          <a:xfrm>
            <a:off x="492000" y="540000"/>
            <a:ext cx="2856000" cy="546000"/>
            <a:chOff x="492000" y="540000"/>
            <a:chExt cx="2856000" cy="546000"/>
          </a:xfrm>
        </p:grpSpPr>
        <p:sp>
          <p:nvSpPr>
            <p:cNvPr id="231" name="Google Shape;231;g3f64edb0747_0_297"/>
            <p:cNvSpPr/>
            <p:nvPr/>
          </p:nvSpPr>
          <p:spPr>
            <a:xfrm>
              <a:off x="492000" y="540000"/>
              <a:ext cx="285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32" name="Google Shape;232;g3f64edb0747_0_297"/>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33" name="Google Shape;233;g3f64edb0747_0_297"/>
          <p:cNvSpPr txBox="1"/>
          <p:nvPr/>
        </p:nvSpPr>
        <p:spPr>
          <a:xfrm>
            <a:off x="1124721" y="564873"/>
            <a:ext cx="172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zh-TW" sz="2000">
                <a:solidFill>
                  <a:schemeClr val="dk1"/>
                </a:solidFill>
                <a:latin typeface="Alegreya"/>
                <a:ea typeface="Alegreya"/>
                <a:cs typeface="Alegreya"/>
                <a:sym typeface="Alegreya"/>
              </a:rPr>
              <a:t>Recent work</a:t>
            </a:r>
            <a:endParaRPr>
              <a:latin typeface="Alegreya"/>
              <a:ea typeface="Alegreya"/>
              <a:cs typeface="Alegreya"/>
              <a:sym typeface="Alegreya"/>
            </a:endParaRPr>
          </a:p>
        </p:txBody>
      </p:sp>
      <p:sp>
        <p:nvSpPr>
          <p:cNvPr id="234" name="Google Shape;234;g3f64edb0747_0_297"/>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lang="zh-TW" sz="3000">
                <a:solidFill>
                  <a:schemeClr val="dk1"/>
                </a:solidFill>
                <a:latin typeface="Playfair Display"/>
                <a:ea typeface="Playfair Display"/>
                <a:cs typeface="Playfair Display"/>
                <a:sym typeface="Playfair Display"/>
              </a:rPr>
              <a:t>2</a:t>
            </a:r>
            <a:endParaRPr b="0" i="0" sz="3000" u="none" cap="none" strike="noStrike">
              <a:solidFill>
                <a:schemeClr val="dk1"/>
              </a:solidFill>
              <a:latin typeface="Playfair Display"/>
              <a:ea typeface="Playfair Display"/>
              <a:cs typeface="Playfair Display"/>
              <a:sym typeface="Playfair Display"/>
            </a:endParaRPr>
          </a:p>
        </p:txBody>
      </p:sp>
      <p:sp>
        <p:nvSpPr>
          <p:cNvPr id="235" name="Google Shape;235;g3f64edb0747_0_297"/>
          <p:cNvSpPr txBox="1"/>
          <p:nvPr/>
        </p:nvSpPr>
        <p:spPr>
          <a:xfrm>
            <a:off x="610238" y="1715609"/>
            <a:ext cx="9638700" cy="338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SNP : </a:t>
            </a:r>
            <a:r>
              <a:rPr lang="zh-TW" sz="1600">
                <a:solidFill>
                  <a:schemeClr val="dk1"/>
                </a:solidFill>
                <a:latin typeface="Alegreya"/>
                <a:ea typeface="Alegreya"/>
                <a:cs typeface="Alegreya"/>
                <a:sym typeface="Alegreya"/>
              </a:rPr>
              <a:t>618563</a:t>
            </a:r>
            <a:endParaRPr sz="1600">
              <a:latin typeface="Alegreya"/>
              <a:ea typeface="Alegreya"/>
              <a:cs typeface="Alegreya"/>
              <a:sym typeface="Alegreya"/>
            </a:endParaRPr>
          </a:p>
        </p:txBody>
      </p:sp>
      <p:sp>
        <p:nvSpPr>
          <p:cNvPr id="236" name="Google Shape;236;g3f64edb0747_0_297"/>
          <p:cNvSpPr/>
          <p:nvPr/>
        </p:nvSpPr>
        <p:spPr>
          <a:xfrm>
            <a:off x="4482350" y="2350225"/>
            <a:ext cx="1247400" cy="39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7" name="Google Shape;237;g3f64edb0747_0_297"/>
          <p:cNvSpPr/>
          <p:nvPr/>
        </p:nvSpPr>
        <p:spPr>
          <a:xfrm>
            <a:off x="5191550" y="2214300"/>
            <a:ext cx="549300" cy="231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238" name="Google Shape;238;g3f64edb0747_0_297"/>
          <p:cNvPicPr preferRelativeResize="0"/>
          <p:nvPr/>
        </p:nvPicPr>
        <p:blipFill rotWithShape="1">
          <a:blip r:embed="rId4">
            <a:alphaModFix/>
          </a:blip>
          <a:srcRect b="0" l="10123" r="9601" t="6638"/>
          <a:stretch/>
        </p:blipFill>
        <p:spPr>
          <a:xfrm>
            <a:off x="4308043" y="2504250"/>
            <a:ext cx="1421699" cy="1406265"/>
          </a:xfrm>
          <a:prstGeom prst="rect">
            <a:avLst/>
          </a:prstGeom>
          <a:noFill/>
          <a:ln>
            <a:noFill/>
          </a:ln>
        </p:spPr>
      </p:pic>
      <p:sp>
        <p:nvSpPr>
          <p:cNvPr id="239" name="Google Shape;239;g3f64edb0747_0_297"/>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6</a:t>
            </a:r>
            <a:endParaRPr b="0" i="0" sz="1000" u="none" cap="none" strike="noStrike">
              <a:solidFill>
                <a:srgbClr val="9E9E9E"/>
              </a:solidFill>
              <a:latin typeface="Alegreya"/>
              <a:ea typeface="Alegreya"/>
              <a:cs typeface="Alegreya"/>
              <a:sym typeface="Alegrey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f64edb0747_0_317"/>
          <p:cNvSpPr txBox="1"/>
          <p:nvPr/>
        </p:nvSpPr>
        <p:spPr>
          <a:xfrm>
            <a:off x="479422" y="549275"/>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a:t>
            </a:r>
            <a:r>
              <a:rPr b="1" lang="zh-TW" sz="1800">
                <a:solidFill>
                  <a:schemeClr val="dk1"/>
                </a:solidFill>
                <a:latin typeface="Alegreya"/>
                <a:ea typeface="Alegreya"/>
                <a:cs typeface="Alegreya"/>
                <a:sym typeface="Alegreya"/>
              </a:rPr>
              <a:t>Branch 1 - Genotype image</a:t>
            </a:r>
            <a:endParaRPr>
              <a:latin typeface="Alegreya"/>
              <a:ea typeface="Alegreya"/>
              <a:cs typeface="Alegreya"/>
              <a:sym typeface="Alegreya"/>
            </a:endParaRPr>
          </a:p>
        </p:txBody>
      </p:sp>
      <p:grpSp>
        <p:nvGrpSpPr>
          <p:cNvPr id="246" name="Google Shape;246;g3f64edb0747_0_317"/>
          <p:cNvGrpSpPr/>
          <p:nvPr/>
        </p:nvGrpSpPr>
        <p:grpSpPr>
          <a:xfrm>
            <a:off x="2536350" y="981241"/>
            <a:ext cx="7119301" cy="2725055"/>
            <a:chOff x="2494650" y="1655900"/>
            <a:chExt cx="6299151" cy="2411126"/>
          </a:xfrm>
        </p:grpSpPr>
        <p:pic>
          <p:nvPicPr>
            <p:cNvPr id="247" name="Google Shape;247;g3f64edb0747_0_317"/>
            <p:cNvPicPr preferRelativeResize="0"/>
            <p:nvPr/>
          </p:nvPicPr>
          <p:blipFill rotWithShape="1">
            <a:blip r:embed="rId3">
              <a:alphaModFix/>
            </a:blip>
            <a:srcRect b="60385" l="12713" r="28839" t="6131"/>
            <a:stretch/>
          </p:blipFill>
          <p:spPr>
            <a:xfrm>
              <a:off x="2494650" y="1655900"/>
              <a:ext cx="6299151" cy="2411126"/>
            </a:xfrm>
            <a:prstGeom prst="rect">
              <a:avLst/>
            </a:prstGeom>
            <a:noFill/>
            <a:ln>
              <a:noFill/>
            </a:ln>
          </p:spPr>
        </p:pic>
        <p:sp>
          <p:nvSpPr>
            <p:cNvPr id="248" name="Google Shape;248;g3f64edb0747_0_317"/>
            <p:cNvSpPr/>
            <p:nvPr/>
          </p:nvSpPr>
          <p:spPr>
            <a:xfrm>
              <a:off x="4482350" y="2350225"/>
              <a:ext cx="1247400" cy="395700"/>
            </a:xfrm>
            <a:prstGeom prst="rect">
              <a:avLst/>
            </a:prstGeom>
            <a:solidFill>
              <a:schemeClr val="lt1"/>
            </a:solidFill>
            <a:ln cap="flat" cmpd="sng" w="10775">
              <a:solidFill>
                <a:schemeClr val="lt1"/>
              </a:solidFill>
              <a:prstDash val="solid"/>
              <a:round/>
              <a:headEnd len="sm" w="sm" type="none"/>
              <a:tailEnd len="sm" w="sm" type="none"/>
            </a:ln>
          </p:spPr>
          <p:txBody>
            <a:bodyPr anchorCtr="0" anchor="ctr" bIns="103325" lIns="103325" spcFirstLastPara="1" rIns="103325" wrap="square" tIns="103325">
              <a:noAutofit/>
            </a:bodyPr>
            <a:lstStyle/>
            <a:p>
              <a:pPr indent="0" lvl="0" marL="0" rtl="0" algn="ctr">
                <a:spcBef>
                  <a:spcPts val="0"/>
                </a:spcBef>
                <a:spcAft>
                  <a:spcPts val="0"/>
                </a:spcAft>
                <a:buNone/>
              </a:pPr>
              <a:r>
                <a:t/>
              </a:r>
              <a:endParaRPr sz="1582">
                <a:latin typeface="Calibri"/>
                <a:ea typeface="Calibri"/>
                <a:cs typeface="Calibri"/>
                <a:sym typeface="Calibri"/>
              </a:endParaRPr>
            </a:p>
          </p:txBody>
        </p:sp>
        <p:sp>
          <p:nvSpPr>
            <p:cNvPr id="249" name="Google Shape;249;g3f64edb0747_0_317"/>
            <p:cNvSpPr/>
            <p:nvPr/>
          </p:nvSpPr>
          <p:spPr>
            <a:xfrm>
              <a:off x="5191550" y="2214300"/>
              <a:ext cx="549300" cy="231300"/>
            </a:xfrm>
            <a:prstGeom prst="rect">
              <a:avLst/>
            </a:prstGeom>
            <a:solidFill>
              <a:schemeClr val="lt1"/>
            </a:solidFill>
            <a:ln cap="flat" cmpd="sng" w="10775">
              <a:solidFill>
                <a:schemeClr val="lt1"/>
              </a:solidFill>
              <a:prstDash val="solid"/>
              <a:round/>
              <a:headEnd len="sm" w="sm" type="none"/>
              <a:tailEnd len="sm" w="sm" type="none"/>
            </a:ln>
          </p:spPr>
          <p:txBody>
            <a:bodyPr anchorCtr="0" anchor="ctr" bIns="103325" lIns="103325" spcFirstLastPara="1" rIns="103325" wrap="square" tIns="103325">
              <a:noAutofit/>
            </a:bodyPr>
            <a:lstStyle/>
            <a:p>
              <a:pPr indent="0" lvl="0" marL="0" rtl="0" algn="ctr">
                <a:spcBef>
                  <a:spcPts val="0"/>
                </a:spcBef>
                <a:spcAft>
                  <a:spcPts val="0"/>
                </a:spcAft>
                <a:buNone/>
              </a:pPr>
              <a:r>
                <a:t/>
              </a:r>
              <a:endParaRPr sz="1582">
                <a:latin typeface="Calibri"/>
                <a:ea typeface="Calibri"/>
                <a:cs typeface="Calibri"/>
                <a:sym typeface="Calibri"/>
              </a:endParaRPr>
            </a:p>
          </p:txBody>
        </p:sp>
        <p:pic>
          <p:nvPicPr>
            <p:cNvPr id="250" name="Google Shape;250;g3f64edb0747_0_317"/>
            <p:cNvPicPr preferRelativeResize="0"/>
            <p:nvPr/>
          </p:nvPicPr>
          <p:blipFill rotWithShape="1">
            <a:blip r:embed="rId4">
              <a:alphaModFix/>
            </a:blip>
            <a:srcRect b="0" l="10123" r="9601" t="6638"/>
            <a:stretch/>
          </p:blipFill>
          <p:spPr>
            <a:xfrm>
              <a:off x="4308043" y="2504250"/>
              <a:ext cx="1421699" cy="1406265"/>
            </a:xfrm>
            <a:prstGeom prst="rect">
              <a:avLst/>
            </a:prstGeom>
            <a:noFill/>
            <a:ln>
              <a:noFill/>
            </a:ln>
          </p:spPr>
        </p:pic>
      </p:grpSp>
      <p:sp>
        <p:nvSpPr>
          <p:cNvPr id="251" name="Google Shape;251;g3f64edb0747_0_317"/>
          <p:cNvSpPr txBox="1"/>
          <p:nvPr/>
        </p:nvSpPr>
        <p:spPr>
          <a:xfrm>
            <a:off x="479425" y="3768950"/>
            <a:ext cx="10658400" cy="25551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50000"/>
              </a:lnSpc>
              <a:spcBef>
                <a:spcPts val="0"/>
              </a:spcBef>
              <a:spcAft>
                <a:spcPts val="0"/>
              </a:spcAft>
              <a:buSzPts val="1600"/>
              <a:buFont typeface="Alegreya"/>
              <a:buAutoNum type="arabicPeriod"/>
            </a:pPr>
            <a:r>
              <a:rPr b="1" lang="zh-TW" sz="1600">
                <a:latin typeface="Alegreya"/>
                <a:ea typeface="Alegreya"/>
                <a:cs typeface="Alegreya"/>
                <a:sym typeface="Alegreya"/>
              </a:rPr>
              <a:t>Sort SNPs by genomic position within each chromosome :</a:t>
            </a:r>
            <a:r>
              <a:rPr b="1" i="0" lang="zh-TW" sz="1600" u="none" cap="none" strike="noStrike">
                <a:solidFill>
                  <a:srgbClr val="000000"/>
                </a:solidFill>
                <a:latin typeface="Alegreya"/>
                <a:ea typeface="Alegreya"/>
                <a:cs typeface="Alegreya"/>
                <a:sym typeface="Alegreya"/>
              </a:rPr>
              <a:t> </a:t>
            </a:r>
            <a:endParaRPr b="1" i="0" sz="1600" u="none" cap="none" strike="noStrike">
              <a:solidFill>
                <a:srgbClr val="000000"/>
              </a:solidFill>
              <a:latin typeface="Alegreya"/>
              <a:ea typeface="Alegreya"/>
              <a:cs typeface="Alegreya"/>
              <a:sym typeface="Alegreya"/>
            </a:endParaRPr>
          </a:p>
          <a:p>
            <a:pPr indent="0" lvl="0" marL="457200" marR="0" rtl="0" algn="l">
              <a:lnSpc>
                <a:spcPct val="150000"/>
              </a:lnSpc>
              <a:spcBef>
                <a:spcPts val="0"/>
              </a:spcBef>
              <a:spcAft>
                <a:spcPts val="0"/>
              </a:spcAft>
              <a:buNone/>
            </a:pPr>
            <a:r>
              <a:rPr lang="zh-TW" sz="1600">
                <a:latin typeface="Alegreya"/>
                <a:ea typeface="Alegreya"/>
                <a:cs typeface="Alegreya"/>
                <a:sym typeface="Alegreya"/>
              </a:rPr>
              <a:t> </a:t>
            </a:r>
            <a:r>
              <a:rPr i="0" lang="zh-TW" sz="1600" u="none" cap="none" strike="noStrike">
                <a:solidFill>
                  <a:srgbClr val="000000"/>
                </a:solidFill>
                <a:latin typeface="Alegreya"/>
                <a:ea typeface="Alegreya"/>
                <a:cs typeface="Alegreya"/>
                <a:sym typeface="Alegreya"/>
              </a:rPr>
              <a:t>setorder(snp_v5, chr_order_v5, </a:t>
            </a:r>
            <a:r>
              <a:rPr i="0" lang="zh-TW" sz="1600" u="none" cap="none" strike="noStrike">
                <a:solidFill>
                  <a:schemeClr val="accent1"/>
                </a:solidFill>
                <a:latin typeface="Alegreya"/>
                <a:ea typeface="Alegreya"/>
                <a:cs typeface="Alegreya"/>
                <a:sym typeface="Alegreya"/>
              </a:rPr>
              <a:t>Start</a:t>
            </a:r>
            <a:r>
              <a:rPr i="0" lang="zh-TW" sz="1600" u="none" cap="none" strike="noStrike">
                <a:solidFill>
                  <a:srgbClr val="000000"/>
                </a:solidFill>
                <a:latin typeface="Alegreya"/>
                <a:ea typeface="Alegreya"/>
                <a:cs typeface="Alegreya"/>
                <a:sym typeface="Alegreya"/>
              </a:rPr>
              <a:t>, </a:t>
            </a:r>
            <a:r>
              <a:rPr i="0" lang="zh-TW" sz="1600" u="none" cap="none" strike="noStrike">
                <a:solidFill>
                  <a:schemeClr val="accent1"/>
                </a:solidFill>
                <a:latin typeface="Alegreya"/>
                <a:ea typeface="Alegreya"/>
                <a:cs typeface="Alegreya"/>
                <a:sym typeface="Alegreya"/>
              </a:rPr>
              <a:t>probeset_id</a:t>
            </a:r>
            <a:r>
              <a:rPr i="0" lang="zh-TW" sz="1600" u="none" cap="none" strike="noStrike">
                <a:solidFill>
                  <a:srgbClr val="000000"/>
                </a:solidFill>
                <a:latin typeface="Alegreya"/>
                <a:ea typeface="Alegreya"/>
                <a:cs typeface="Alegreya"/>
                <a:sym typeface="Alegreya"/>
              </a:rPr>
              <a:t>)</a:t>
            </a:r>
            <a:endParaRPr i="0" sz="1600" u="none" cap="none" strike="noStrike">
              <a:solidFill>
                <a:srgbClr val="000000"/>
              </a:solidFill>
              <a:latin typeface="Alegreya"/>
              <a:ea typeface="Alegreya"/>
              <a:cs typeface="Alegreya"/>
              <a:sym typeface="Alegreya"/>
            </a:endParaRPr>
          </a:p>
          <a:p>
            <a:pPr indent="0" lvl="0" marL="457200" marR="0" rtl="0" algn="l">
              <a:lnSpc>
                <a:spcPct val="150000"/>
              </a:lnSpc>
              <a:spcBef>
                <a:spcPts val="0"/>
              </a:spcBef>
              <a:spcAft>
                <a:spcPts val="0"/>
              </a:spcAft>
              <a:buNone/>
            </a:pPr>
            <a:r>
              <a:t/>
            </a:r>
            <a:endParaRPr sz="1600">
              <a:latin typeface="Alegreya"/>
              <a:ea typeface="Alegreya"/>
              <a:cs typeface="Alegreya"/>
              <a:sym typeface="Alegreya"/>
            </a:endParaRPr>
          </a:p>
          <a:p>
            <a:pPr indent="-330200" lvl="0" marL="457200" marR="0" rtl="0" algn="l">
              <a:lnSpc>
                <a:spcPct val="150000"/>
              </a:lnSpc>
              <a:spcBef>
                <a:spcPts val="0"/>
              </a:spcBef>
              <a:spcAft>
                <a:spcPts val="0"/>
              </a:spcAft>
              <a:buClr>
                <a:srgbClr val="000000"/>
              </a:buClr>
              <a:buSzPts val="1600"/>
              <a:buFont typeface="Alegreya"/>
              <a:buAutoNum type="arabicPeriod"/>
            </a:pPr>
            <a:r>
              <a:rPr b="1" lang="zh-TW" sz="1600">
                <a:latin typeface="Alegreya"/>
                <a:ea typeface="Alegreya"/>
                <a:cs typeface="Alegreya"/>
                <a:sym typeface="Alegreya"/>
              </a:rPr>
              <a:t>Assign each SNP a </a:t>
            </a:r>
            <a:r>
              <a:rPr b="1" lang="zh-TW" sz="1600">
                <a:solidFill>
                  <a:schemeClr val="dk1"/>
                </a:solidFill>
                <a:highlight>
                  <a:srgbClr val="FEF2CC"/>
                </a:highlight>
                <a:latin typeface="Alegreya"/>
                <a:ea typeface="Alegreya"/>
                <a:cs typeface="Alegreya"/>
                <a:sym typeface="Alegreya"/>
              </a:rPr>
              <a:t>Hilbert index </a:t>
            </a:r>
            <a:r>
              <a:rPr b="1" lang="zh-TW" sz="1600">
                <a:latin typeface="Alegreya"/>
                <a:ea typeface="Alegreya"/>
                <a:cs typeface="Alegreya"/>
                <a:sym typeface="Alegreya"/>
              </a:rPr>
              <a:t>:</a:t>
            </a:r>
            <a:endParaRPr b="1" i="0" sz="1600" u="none" cap="none" strike="noStrike">
              <a:solidFill>
                <a:srgbClr val="000000"/>
              </a:solidFill>
              <a:latin typeface="Alegreya"/>
              <a:ea typeface="Alegreya"/>
              <a:cs typeface="Alegreya"/>
              <a:sym typeface="Alegreya"/>
            </a:endParaRPr>
          </a:p>
          <a:p>
            <a:pPr indent="-330200" lvl="1" marL="914400" marR="0" rtl="0" algn="l">
              <a:lnSpc>
                <a:spcPct val="150000"/>
              </a:lnSpc>
              <a:spcBef>
                <a:spcPts val="0"/>
              </a:spcBef>
              <a:spcAft>
                <a:spcPts val="0"/>
              </a:spcAft>
              <a:buSzPts val="1600"/>
              <a:buFont typeface="Alegreya"/>
              <a:buAutoNum type="alphaLcPeriod"/>
            </a:pPr>
            <a:r>
              <a:rPr lang="zh-TW" sz="1600">
                <a:latin typeface="Alegreya"/>
                <a:ea typeface="Alegreya"/>
                <a:cs typeface="Alegreya"/>
                <a:sym typeface="Alegreya"/>
              </a:rPr>
              <a:t>Map the one-dimensional SNP order to two-dimensional coordinates</a:t>
            </a:r>
            <a:endParaRPr sz="1600">
              <a:latin typeface="Alegreya"/>
              <a:ea typeface="Alegreya"/>
              <a:cs typeface="Alegreya"/>
              <a:sym typeface="Alegreya"/>
            </a:endParaRPr>
          </a:p>
          <a:p>
            <a:pPr indent="-330200" lvl="1" marL="914400" marR="0" rtl="0" algn="l">
              <a:lnSpc>
                <a:spcPct val="150000"/>
              </a:lnSpc>
              <a:spcBef>
                <a:spcPts val="0"/>
              </a:spcBef>
              <a:spcAft>
                <a:spcPts val="0"/>
              </a:spcAft>
              <a:buSzPts val="1600"/>
              <a:buFont typeface="Alegreya"/>
              <a:buAutoNum type="alphaLcPeriod"/>
            </a:pPr>
            <a:r>
              <a:rPr lang="zh-TW" sz="1600">
                <a:latin typeface="Alegreya"/>
                <a:ea typeface="Alegreya"/>
                <a:cs typeface="Alegreya"/>
                <a:sym typeface="Alegreya"/>
              </a:rPr>
              <a:t>The Hilbert index preserves SNP order, but </a:t>
            </a:r>
            <a:r>
              <a:rPr b="1" lang="zh-TW" sz="1600">
                <a:latin typeface="Alegreya"/>
                <a:ea typeface="Alegreya"/>
                <a:cs typeface="Alegreya"/>
                <a:sym typeface="Alegreya"/>
              </a:rPr>
              <a:t>does not represent the actual base-pair distance</a:t>
            </a:r>
            <a:r>
              <a:rPr lang="zh-TW" sz="1600">
                <a:latin typeface="Alegreya"/>
                <a:ea typeface="Alegreya"/>
                <a:cs typeface="Alegreya"/>
                <a:sym typeface="Alegreya"/>
              </a:rPr>
              <a:t>.</a:t>
            </a:r>
            <a:endParaRPr sz="1600">
              <a:latin typeface="Alegreya"/>
              <a:ea typeface="Alegreya"/>
              <a:cs typeface="Alegreya"/>
              <a:sym typeface="Alegreya"/>
            </a:endParaRPr>
          </a:p>
          <a:p>
            <a:pPr indent="0" lvl="0" marL="0" marR="0" rtl="0" algn="l">
              <a:lnSpc>
                <a:spcPct val="150000"/>
              </a:lnSpc>
              <a:spcBef>
                <a:spcPts val="0"/>
              </a:spcBef>
              <a:spcAft>
                <a:spcPts val="0"/>
              </a:spcAft>
              <a:buNone/>
            </a:pPr>
            <a:r>
              <a:t/>
            </a:r>
            <a:endParaRPr i="0" sz="1600" u="none" cap="none" strike="noStrike">
              <a:solidFill>
                <a:srgbClr val="000000"/>
              </a:solidFill>
              <a:latin typeface="Alegreya"/>
              <a:ea typeface="Alegreya"/>
              <a:cs typeface="Alegreya"/>
              <a:sym typeface="Alegreya"/>
            </a:endParaRPr>
          </a:p>
        </p:txBody>
      </p:sp>
      <p:sp>
        <p:nvSpPr>
          <p:cNvPr id="252" name="Google Shape;252;g3f64edb0747_0_317"/>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7</a:t>
            </a:r>
            <a:endParaRPr b="0" i="0" sz="1000" u="none" cap="none" strike="noStrike">
              <a:solidFill>
                <a:srgbClr val="9E9E9E"/>
              </a:solidFill>
              <a:latin typeface="Alegreya"/>
              <a:ea typeface="Alegreya"/>
              <a:cs typeface="Alegreya"/>
              <a:sym typeface="Alegrey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f64edb0747_0_359"/>
          <p:cNvSpPr txBox="1"/>
          <p:nvPr/>
        </p:nvSpPr>
        <p:spPr>
          <a:xfrm>
            <a:off x="479430" y="1189050"/>
            <a:ext cx="10658400" cy="14469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zh-TW" sz="1600">
                <a:solidFill>
                  <a:schemeClr val="dk1"/>
                </a:solidFill>
                <a:latin typeface="Alegreya"/>
                <a:ea typeface="Alegreya"/>
                <a:cs typeface="Alegreya"/>
                <a:sym typeface="Alegreya"/>
              </a:rPr>
              <a:t>   2.   </a:t>
            </a:r>
            <a:r>
              <a:rPr b="1" lang="zh-TW" sz="1600">
                <a:solidFill>
                  <a:schemeClr val="dk1"/>
                </a:solidFill>
                <a:latin typeface="Alegreya"/>
                <a:ea typeface="Alegreya"/>
                <a:cs typeface="Alegreya"/>
                <a:sym typeface="Alegreya"/>
              </a:rPr>
              <a:t>Assign each SNP a </a:t>
            </a:r>
            <a:r>
              <a:rPr b="1" lang="zh-TW" sz="1600">
                <a:solidFill>
                  <a:schemeClr val="dk1"/>
                </a:solidFill>
                <a:highlight>
                  <a:srgbClr val="FEF2CC"/>
                </a:highlight>
                <a:latin typeface="Alegreya"/>
                <a:ea typeface="Alegreya"/>
                <a:cs typeface="Alegreya"/>
                <a:sym typeface="Alegreya"/>
              </a:rPr>
              <a:t>Hilbert index </a:t>
            </a:r>
            <a:r>
              <a:rPr b="1" lang="zh-TW" sz="1600">
                <a:solidFill>
                  <a:schemeClr val="dk1"/>
                </a:solidFill>
                <a:latin typeface="Alegreya"/>
                <a:ea typeface="Alegreya"/>
                <a:cs typeface="Alegreya"/>
                <a:sym typeface="Alegreya"/>
              </a:rPr>
              <a:t>:</a:t>
            </a:r>
            <a:endParaRPr b="1" sz="1600">
              <a:solidFill>
                <a:schemeClr val="dk1"/>
              </a:solidFill>
              <a:latin typeface="Alegreya"/>
              <a:ea typeface="Alegreya"/>
              <a:cs typeface="Alegreya"/>
              <a:sym typeface="Alegreya"/>
            </a:endParaRPr>
          </a:p>
          <a:p>
            <a:pPr indent="-330200" lvl="0" marL="4572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Because the number of SNPs differs across chromosomes, the genotype layout also differs by chromosome.</a:t>
            </a:r>
            <a:endParaRPr sz="1600">
              <a:solidFill>
                <a:schemeClr val="dk1"/>
              </a:solidFill>
              <a:latin typeface="Alegreya"/>
              <a:ea typeface="Alegreya"/>
              <a:cs typeface="Alegreya"/>
              <a:sym typeface="Alegreya"/>
            </a:endParaRPr>
          </a:p>
          <a:p>
            <a:pPr indent="-330200" lvl="0" marL="4572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Each chromosome is mapped to its own Hilbert path.</a:t>
            </a:r>
            <a:endParaRPr sz="1600">
              <a:solidFill>
                <a:schemeClr val="dk1"/>
              </a:solidFill>
              <a:latin typeface="Alegreya"/>
              <a:ea typeface="Alegreya"/>
              <a:cs typeface="Alegreya"/>
              <a:sym typeface="Alegreya"/>
            </a:endParaRPr>
          </a:p>
          <a:p>
            <a:pPr indent="0" lvl="0" marL="457200" marR="0" rtl="0" algn="l">
              <a:lnSpc>
                <a:spcPct val="150000"/>
              </a:lnSpc>
              <a:spcBef>
                <a:spcPts val="0"/>
              </a:spcBef>
              <a:spcAft>
                <a:spcPts val="0"/>
              </a:spcAft>
              <a:buNone/>
            </a:pPr>
            <a:r>
              <a:t/>
            </a:r>
            <a:endParaRPr b="1" i="0" sz="1600" u="none" cap="none" strike="noStrike">
              <a:solidFill>
                <a:srgbClr val="000000"/>
              </a:solidFill>
              <a:latin typeface="Alegreya"/>
              <a:ea typeface="Alegreya"/>
              <a:cs typeface="Alegreya"/>
              <a:sym typeface="Alegreya"/>
            </a:endParaRPr>
          </a:p>
        </p:txBody>
      </p:sp>
      <p:grpSp>
        <p:nvGrpSpPr>
          <p:cNvPr id="259" name="Google Shape;259;g3f64edb0747_0_359"/>
          <p:cNvGrpSpPr/>
          <p:nvPr/>
        </p:nvGrpSpPr>
        <p:grpSpPr>
          <a:xfrm>
            <a:off x="1775579" y="3037156"/>
            <a:ext cx="3573467" cy="3175442"/>
            <a:chOff x="857854" y="2410893"/>
            <a:chExt cx="3573467" cy="3175442"/>
          </a:xfrm>
        </p:grpSpPr>
        <p:pic>
          <p:nvPicPr>
            <p:cNvPr id="260" name="Google Shape;260;g3f64edb0747_0_359"/>
            <p:cNvPicPr preferRelativeResize="0"/>
            <p:nvPr/>
          </p:nvPicPr>
          <p:blipFill rotWithShape="1">
            <a:blip r:embed="rId3">
              <a:alphaModFix/>
            </a:blip>
            <a:srcRect b="15481" l="3198" r="81754" t="49011"/>
            <a:stretch/>
          </p:blipFill>
          <p:spPr>
            <a:xfrm>
              <a:off x="2321169" y="2424960"/>
              <a:ext cx="2110152" cy="3111893"/>
            </a:xfrm>
            <a:prstGeom prst="rect">
              <a:avLst/>
            </a:prstGeom>
            <a:noFill/>
            <a:ln>
              <a:noFill/>
            </a:ln>
          </p:spPr>
        </p:pic>
        <p:pic>
          <p:nvPicPr>
            <p:cNvPr id="261" name="Google Shape;261;g3f64edb0747_0_359"/>
            <p:cNvPicPr preferRelativeResize="0"/>
            <p:nvPr/>
          </p:nvPicPr>
          <p:blipFill rotWithShape="1">
            <a:blip r:embed="rId4">
              <a:alphaModFix/>
            </a:blip>
            <a:srcRect b="18241" l="0" r="0" t="0"/>
            <a:stretch/>
          </p:blipFill>
          <p:spPr>
            <a:xfrm>
              <a:off x="857854" y="2410893"/>
              <a:ext cx="1463315" cy="3175442"/>
            </a:xfrm>
            <a:prstGeom prst="rect">
              <a:avLst/>
            </a:prstGeom>
            <a:noFill/>
            <a:ln>
              <a:noFill/>
            </a:ln>
          </p:spPr>
        </p:pic>
      </p:grpSp>
      <p:pic>
        <p:nvPicPr>
          <p:cNvPr id="262" name="Google Shape;262;g3f64edb0747_0_359"/>
          <p:cNvPicPr preferRelativeResize="0"/>
          <p:nvPr/>
        </p:nvPicPr>
        <p:blipFill rotWithShape="1">
          <a:blip r:embed="rId5">
            <a:alphaModFix/>
          </a:blip>
          <a:srcRect b="0" l="0" r="0" t="0"/>
          <a:stretch/>
        </p:blipFill>
        <p:spPr>
          <a:xfrm>
            <a:off x="6215050" y="2278750"/>
            <a:ext cx="5517149" cy="4692250"/>
          </a:xfrm>
          <a:prstGeom prst="rect">
            <a:avLst/>
          </a:prstGeom>
          <a:noFill/>
          <a:ln>
            <a:noFill/>
          </a:ln>
        </p:spPr>
      </p:pic>
      <p:sp>
        <p:nvSpPr>
          <p:cNvPr id="263" name="Google Shape;263;g3f64edb0747_0_359"/>
          <p:cNvSpPr txBox="1"/>
          <p:nvPr/>
        </p:nvSpPr>
        <p:spPr>
          <a:xfrm>
            <a:off x="479422" y="549275"/>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a:t>
            </a:r>
            <a:r>
              <a:rPr b="1" lang="zh-TW" sz="1800">
                <a:solidFill>
                  <a:schemeClr val="dk1"/>
                </a:solidFill>
                <a:latin typeface="Alegreya"/>
                <a:ea typeface="Alegreya"/>
                <a:cs typeface="Alegreya"/>
                <a:sym typeface="Alegreya"/>
              </a:rPr>
              <a:t>Branch 1 - Genotype image</a:t>
            </a:r>
            <a:endParaRPr>
              <a:latin typeface="Alegreya"/>
              <a:ea typeface="Alegreya"/>
              <a:cs typeface="Alegreya"/>
              <a:sym typeface="Alegreya"/>
            </a:endParaRPr>
          </a:p>
        </p:txBody>
      </p:sp>
      <p:sp>
        <p:nvSpPr>
          <p:cNvPr id="264" name="Google Shape;264;g3f64edb0747_0_359"/>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8</a:t>
            </a:r>
            <a:endParaRPr b="0" i="0" sz="1000" u="none" cap="none" strike="noStrike">
              <a:solidFill>
                <a:srgbClr val="9E9E9E"/>
              </a:solidFill>
              <a:latin typeface="Alegreya"/>
              <a:ea typeface="Alegreya"/>
              <a:cs typeface="Alegreya"/>
              <a:sym typeface="Alegrey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f64edb0747_0_382"/>
          <p:cNvSpPr txBox="1"/>
          <p:nvPr/>
        </p:nvSpPr>
        <p:spPr>
          <a:xfrm>
            <a:off x="533345" y="1150415"/>
            <a:ext cx="10658400" cy="3387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zh-TW" sz="1600">
                <a:solidFill>
                  <a:schemeClr val="dk1"/>
                </a:solidFill>
                <a:latin typeface="Alegreya"/>
                <a:ea typeface="Alegreya"/>
                <a:cs typeface="Alegreya"/>
                <a:sym typeface="Alegreya"/>
              </a:rPr>
              <a:t>  3.   Encoding</a:t>
            </a:r>
            <a:endParaRPr b="1" i="0" sz="1600" u="none" cap="none" strike="noStrike">
              <a:solidFill>
                <a:srgbClr val="000000"/>
              </a:solidFill>
              <a:latin typeface="Alegreya"/>
              <a:ea typeface="Alegreya"/>
              <a:cs typeface="Alegreya"/>
              <a:sym typeface="Alegreya"/>
            </a:endParaRPr>
          </a:p>
        </p:txBody>
      </p:sp>
      <p:grpSp>
        <p:nvGrpSpPr>
          <p:cNvPr id="271" name="Google Shape;271;g3f64edb0747_0_382"/>
          <p:cNvGrpSpPr/>
          <p:nvPr/>
        </p:nvGrpSpPr>
        <p:grpSpPr>
          <a:xfrm>
            <a:off x="2963014" y="1518652"/>
            <a:ext cx="6265975" cy="4991857"/>
            <a:chOff x="3380400" y="1613125"/>
            <a:chExt cx="5431200" cy="4326825"/>
          </a:xfrm>
        </p:grpSpPr>
        <p:pic>
          <p:nvPicPr>
            <p:cNvPr id="272" name="Google Shape;272;g3f64edb0747_0_382"/>
            <p:cNvPicPr preferRelativeResize="0"/>
            <p:nvPr/>
          </p:nvPicPr>
          <p:blipFill rotWithShape="1">
            <a:blip r:embed="rId3">
              <a:alphaModFix/>
            </a:blip>
            <a:srcRect b="1004" l="0" r="0" t="6007"/>
            <a:stretch/>
          </p:blipFill>
          <p:spPr>
            <a:xfrm>
              <a:off x="3380400" y="1613125"/>
              <a:ext cx="5431200" cy="4326825"/>
            </a:xfrm>
            <a:prstGeom prst="rect">
              <a:avLst/>
            </a:prstGeom>
            <a:noFill/>
            <a:ln>
              <a:noFill/>
            </a:ln>
          </p:spPr>
        </p:pic>
        <p:sp>
          <p:nvSpPr>
            <p:cNvPr id="273" name="Google Shape;273;g3f64edb0747_0_382"/>
            <p:cNvSpPr/>
            <p:nvPr/>
          </p:nvSpPr>
          <p:spPr>
            <a:xfrm>
              <a:off x="4167250" y="5637710"/>
              <a:ext cx="1115700" cy="263700"/>
            </a:xfrm>
            <a:prstGeom prst="rect">
              <a:avLst/>
            </a:prstGeom>
            <a:solidFill>
              <a:schemeClr val="lt1"/>
            </a:solidFill>
            <a:ln cap="flat" cmpd="sng" w="11000">
              <a:solidFill>
                <a:schemeClr val="lt1"/>
              </a:solidFill>
              <a:prstDash val="solid"/>
              <a:round/>
              <a:headEnd len="sm" w="sm" type="none"/>
              <a:tailEnd len="sm" w="sm" type="none"/>
            </a:ln>
          </p:spPr>
          <p:txBody>
            <a:bodyPr anchorCtr="0" anchor="ctr" bIns="105475" lIns="105475" spcFirstLastPara="1" rIns="105475" wrap="square" tIns="105475">
              <a:noAutofit/>
            </a:bodyPr>
            <a:lstStyle/>
            <a:p>
              <a:pPr indent="0" lvl="0" marL="0" rtl="0" algn="ctr">
                <a:spcBef>
                  <a:spcPts val="0"/>
                </a:spcBef>
                <a:spcAft>
                  <a:spcPts val="0"/>
                </a:spcAft>
                <a:buNone/>
              </a:pPr>
              <a:r>
                <a:t/>
              </a:r>
              <a:endParaRPr sz="1615">
                <a:latin typeface="Calibri"/>
                <a:ea typeface="Calibri"/>
                <a:cs typeface="Calibri"/>
                <a:sym typeface="Calibri"/>
              </a:endParaRPr>
            </a:p>
          </p:txBody>
        </p:sp>
        <p:pic>
          <p:nvPicPr>
            <p:cNvPr id="274" name="Google Shape;274;g3f64edb0747_0_382"/>
            <p:cNvPicPr preferRelativeResize="0"/>
            <p:nvPr/>
          </p:nvPicPr>
          <p:blipFill rotWithShape="1">
            <a:blip r:embed="rId3">
              <a:alphaModFix/>
            </a:blip>
            <a:srcRect b="2469" l="13630" r="76325" t="91860"/>
            <a:stretch/>
          </p:blipFill>
          <p:spPr>
            <a:xfrm>
              <a:off x="4371010" y="5619308"/>
              <a:ext cx="545600" cy="263850"/>
            </a:xfrm>
            <a:prstGeom prst="rect">
              <a:avLst/>
            </a:prstGeom>
            <a:noFill/>
            <a:ln>
              <a:noFill/>
            </a:ln>
          </p:spPr>
        </p:pic>
      </p:grpSp>
      <p:sp>
        <p:nvSpPr>
          <p:cNvPr id="275" name="Google Shape;275;g3f64edb0747_0_382"/>
          <p:cNvSpPr txBox="1"/>
          <p:nvPr/>
        </p:nvSpPr>
        <p:spPr>
          <a:xfrm>
            <a:off x="479422" y="549275"/>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a:t>
            </a:r>
            <a:r>
              <a:rPr b="1" lang="zh-TW" sz="1800">
                <a:solidFill>
                  <a:schemeClr val="dk1"/>
                </a:solidFill>
                <a:latin typeface="Alegreya"/>
                <a:ea typeface="Alegreya"/>
                <a:cs typeface="Alegreya"/>
                <a:sym typeface="Alegreya"/>
              </a:rPr>
              <a:t>Branch 1 - Genotype image</a:t>
            </a:r>
            <a:endParaRPr>
              <a:latin typeface="Alegreya"/>
              <a:ea typeface="Alegreya"/>
              <a:cs typeface="Alegreya"/>
              <a:sym typeface="Alegreya"/>
            </a:endParaRPr>
          </a:p>
        </p:txBody>
      </p:sp>
      <p:sp>
        <p:nvSpPr>
          <p:cNvPr id="276" name="Google Shape;276;g3f64edb0747_0_382"/>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9</a:t>
            </a:r>
            <a:endParaRPr b="0" i="0" sz="1000" u="none" cap="none" strike="noStrike">
              <a:solidFill>
                <a:srgbClr val="9E9E9E"/>
              </a:solidFill>
              <a:latin typeface="Alegreya"/>
              <a:ea typeface="Alegreya"/>
              <a:cs typeface="Alegreya"/>
              <a:sym typeface="Alegrey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f64edb0747_0_399"/>
          <p:cNvSpPr txBox="1"/>
          <p:nvPr/>
        </p:nvSpPr>
        <p:spPr>
          <a:xfrm>
            <a:off x="479422" y="549275"/>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a:t>
            </a:r>
            <a:r>
              <a:rPr b="1" lang="zh-TW" sz="1800">
                <a:solidFill>
                  <a:schemeClr val="dk1"/>
                </a:solidFill>
                <a:latin typeface="Alegreya"/>
                <a:ea typeface="Alegreya"/>
                <a:cs typeface="Alegreya"/>
                <a:sym typeface="Alegreya"/>
              </a:rPr>
              <a:t>Branch 2 - LD structure image</a:t>
            </a:r>
            <a:endParaRPr>
              <a:latin typeface="Alegreya"/>
              <a:ea typeface="Alegreya"/>
              <a:cs typeface="Alegreya"/>
              <a:sym typeface="Alegreya"/>
            </a:endParaRPr>
          </a:p>
        </p:txBody>
      </p:sp>
      <p:pic>
        <p:nvPicPr>
          <p:cNvPr id="283" name="Google Shape;283;g3f64edb0747_0_399"/>
          <p:cNvPicPr preferRelativeResize="0"/>
          <p:nvPr/>
        </p:nvPicPr>
        <p:blipFill rotWithShape="1">
          <a:blip r:embed="rId3">
            <a:alphaModFix/>
          </a:blip>
          <a:srcRect b="21172" l="12714" r="29122" t="39665"/>
          <a:stretch/>
        </p:blipFill>
        <p:spPr>
          <a:xfrm>
            <a:off x="2536350" y="918575"/>
            <a:ext cx="7084499" cy="3187225"/>
          </a:xfrm>
          <a:prstGeom prst="rect">
            <a:avLst/>
          </a:prstGeom>
          <a:noFill/>
          <a:ln>
            <a:noFill/>
          </a:ln>
        </p:spPr>
      </p:pic>
      <p:sp>
        <p:nvSpPr>
          <p:cNvPr id="284" name="Google Shape;284;g3f64edb0747_0_399"/>
          <p:cNvSpPr txBox="1"/>
          <p:nvPr/>
        </p:nvSpPr>
        <p:spPr>
          <a:xfrm>
            <a:off x="12469300" y="5090650"/>
            <a:ext cx="78357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第二層</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白色區域：</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此區域被辨識為一個可能具有連鎖不平衡結構的基因組區段，其中的 SNP 傾向不是完全獨立遺傳</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SNP 位於某個 LD block 的 BP1–BP2 區間內</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灰色：真實 SNP，但不位於偵測到的 LD block 區間內</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黑色：padding/染色體之間的gep 不是真實的snp</a:t>
            </a:r>
            <a:endParaRPr b="0" i="0" sz="1400" u="none" cap="none" strike="noStrike">
              <a:solidFill>
                <a:srgbClr val="000000"/>
              </a:solidFill>
              <a:latin typeface="Arial"/>
              <a:ea typeface="Arial"/>
              <a:cs typeface="Arial"/>
              <a:sym typeface="Arial"/>
            </a:endParaRPr>
          </a:p>
        </p:txBody>
      </p:sp>
      <p:sp>
        <p:nvSpPr>
          <p:cNvPr id="285" name="Google Shape;285;g3f64edb0747_0_399"/>
          <p:cNvSpPr txBox="1"/>
          <p:nvPr/>
        </p:nvSpPr>
        <p:spPr>
          <a:xfrm>
            <a:off x="12469300" y="1958075"/>
            <a:ext cx="7084500" cy="1108200"/>
          </a:xfrm>
          <a:prstGeom prst="rect">
            <a:avLst/>
          </a:prstGeom>
          <a:noFill/>
          <a:ln>
            <a:noFill/>
          </a:ln>
        </p:spPr>
        <p:txBody>
          <a:bodyPr anchorCtr="0" anchor="t" bIns="91425" lIns="91425" spcFirstLastPara="1" rIns="91425" wrap="square" tIns="91425">
            <a:spAutoFit/>
          </a:bodyPr>
          <a:lstStyle/>
          <a:p>
            <a:pPr indent="-228600" lvl="0" marL="457200" rtl="0" algn="l">
              <a:spcBef>
                <a:spcPts val="0"/>
              </a:spcBef>
              <a:spcAft>
                <a:spcPts val="0"/>
              </a:spcAft>
              <a:buNone/>
            </a:pPr>
            <a:r>
              <a:rPr b="1" lang="zh-TW" sz="1200">
                <a:solidFill>
                  <a:schemeClr val="dk1"/>
                </a:solidFill>
                <a:latin typeface="Calibri"/>
                <a:ea typeface="Calibri"/>
                <a:cs typeface="Calibri"/>
                <a:sym typeface="Calibri"/>
              </a:rPr>
              <a:t>LD block</a:t>
            </a:r>
            <a:r>
              <a:rPr lang="zh-TW" sz="1200">
                <a:solidFill>
                  <a:schemeClr val="dk1"/>
                </a:solidFill>
                <a:latin typeface="Calibri"/>
                <a:ea typeface="Calibri"/>
                <a:cs typeface="Calibri"/>
                <a:sym typeface="Calibri"/>
              </a:rPr>
              <a:t> 是一段基因組區域，其中多個 SNP 彼此具有較強的 LD：一組彼此具有較強遺傳相關性的 SNP，以及它們所涵蓋的基因組區間</a:t>
            </a:r>
            <a:endParaRPr sz="1200">
              <a:solidFill>
                <a:schemeClr val="dk1"/>
              </a:solidFill>
              <a:latin typeface="Calibri"/>
              <a:ea typeface="Calibri"/>
              <a:cs typeface="Calibri"/>
              <a:sym typeface="Calibri"/>
            </a:endParaRPr>
          </a:p>
          <a:p>
            <a:pPr indent="-228600" lvl="0" marL="457200" rtl="0" algn="l">
              <a:spcBef>
                <a:spcPts val="0"/>
              </a:spcBef>
              <a:spcAft>
                <a:spcPts val="0"/>
              </a:spcAft>
              <a:buNone/>
            </a:pPr>
            <a:r>
              <a:t/>
            </a:r>
            <a:endParaRPr sz="1200">
              <a:solidFill>
                <a:schemeClr val="dk1"/>
              </a:solidFill>
              <a:latin typeface="Calibri"/>
              <a:ea typeface="Calibri"/>
              <a:cs typeface="Calibri"/>
              <a:sym typeface="Calibri"/>
            </a:endParaRPr>
          </a:p>
          <a:p>
            <a:pPr indent="-228600" lvl="0" marL="457200" rtl="0" algn="l">
              <a:spcBef>
                <a:spcPts val="0"/>
              </a:spcBef>
              <a:spcAft>
                <a:spcPts val="0"/>
              </a:spcAft>
              <a:buNone/>
            </a:pPr>
            <a:r>
              <a:rPr b="1" lang="zh-TW" sz="1200">
                <a:solidFill>
                  <a:schemeClr val="dk1"/>
                </a:solidFill>
                <a:latin typeface="Calibri"/>
                <a:ea typeface="Calibri"/>
                <a:cs typeface="Calibri"/>
                <a:sym typeface="Calibri"/>
              </a:rPr>
              <a:t>LD mask 不是 PLINK 原始分析結果的名稱</a:t>
            </a:r>
            <a:r>
              <a:rPr lang="zh-TW" sz="1200">
                <a:solidFill>
                  <a:schemeClr val="dk1"/>
                </a:solidFill>
                <a:latin typeface="Calibri"/>
                <a:ea typeface="Calibri"/>
                <a:cs typeface="Calibri"/>
                <a:sym typeface="Calibri"/>
              </a:rPr>
              <a:t>，而是我們為了建立影像，將 LD 結果轉成的數值標記：這個pixel對應的SNP是否位於LD結構中，1：具有該結構 0：不具有該結構</a:t>
            </a:r>
            <a:endParaRPr sz="1200">
              <a:solidFill>
                <a:schemeClr val="dk1"/>
              </a:solidFill>
              <a:latin typeface="Calibri"/>
              <a:ea typeface="Calibri"/>
              <a:cs typeface="Calibri"/>
              <a:sym typeface="Calibri"/>
            </a:endParaRPr>
          </a:p>
        </p:txBody>
      </p:sp>
      <p:sp>
        <p:nvSpPr>
          <p:cNvPr id="286" name="Google Shape;286;g3f64edb0747_0_399"/>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10</a:t>
            </a:r>
            <a:endParaRPr b="0" i="0" sz="1000" u="none" cap="none" strike="noStrike">
              <a:solidFill>
                <a:srgbClr val="9E9E9E"/>
              </a:solidFill>
              <a:latin typeface="Alegreya"/>
              <a:ea typeface="Alegreya"/>
              <a:cs typeface="Alegreya"/>
              <a:sym typeface="Alegreya"/>
            </a:endParaRPr>
          </a:p>
        </p:txBody>
      </p:sp>
      <p:sp>
        <p:nvSpPr>
          <p:cNvPr id="287" name="Google Shape;287;g3f64edb0747_0_399"/>
          <p:cNvSpPr txBox="1"/>
          <p:nvPr/>
        </p:nvSpPr>
        <p:spPr>
          <a:xfrm>
            <a:off x="479425" y="4051300"/>
            <a:ext cx="5431200" cy="18162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50000"/>
              </a:lnSpc>
              <a:spcBef>
                <a:spcPts val="0"/>
              </a:spcBef>
              <a:spcAft>
                <a:spcPts val="0"/>
              </a:spcAft>
              <a:buSzPts val="1600"/>
              <a:buFont typeface="Alegreya"/>
              <a:buAutoNum type="arabicPeriod"/>
            </a:pPr>
            <a:r>
              <a:rPr b="1" lang="zh-TW" sz="1600">
                <a:latin typeface="Alegreya"/>
                <a:ea typeface="Alegreya"/>
                <a:cs typeface="Alegreya"/>
                <a:sym typeface="Alegreya"/>
              </a:rPr>
              <a:t>L</a:t>
            </a:r>
            <a:r>
              <a:rPr b="1" lang="zh-TW" sz="1600">
                <a:solidFill>
                  <a:schemeClr val="dk1"/>
                </a:solidFill>
                <a:latin typeface="Alegreya"/>
                <a:ea typeface="Alegreya"/>
                <a:cs typeface="Alegreya"/>
                <a:sym typeface="Alegreya"/>
              </a:rPr>
              <a:t>inkage disequilibrium(LD)</a:t>
            </a:r>
            <a:r>
              <a:rPr b="1" lang="zh-TW" sz="1600">
                <a:latin typeface="Alegreya"/>
                <a:ea typeface="Alegreya"/>
                <a:cs typeface="Alegreya"/>
                <a:sym typeface="Alegreya"/>
              </a:rPr>
              <a:t> - version4:</a:t>
            </a:r>
            <a:endParaRPr b="1" i="0" sz="1600" u="none" cap="none" strike="noStrike">
              <a:solidFill>
                <a:srgbClr val="000000"/>
              </a:solidFill>
              <a:latin typeface="Alegreya"/>
              <a:ea typeface="Alegreya"/>
              <a:cs typeface="Alegreya"/>
              <a:sym typeface="Alegreya"/>
            </a:endParaRPr>
          </a:p>
          <a:p>
            <a:pPr indent="-330200" lvl="0" marL="9144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SNPs retained for LD estimation: 344,656</a:t>
            </a:r>
            <a:endParaRPr sz="1600">
              <a:solidFill>
                <a:schemeClr val="dk1"/>
              </a:solidFill>
              <a:latin typeface="Alegreya"/>
              <a:ea typeface="Alegreya"/>
              <a:cs typeface="Alegreya"/>
              <a:sym typeface="Alegreya"/>
            </a:endParaRPr>
          </a:p>
          <a:p>
            <a:pPr indent="-330200" lvl="0" marL="914400" rtl="0" algn="l">
              <a:lnSpc>
                <a:spcPct val="150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PLINK-defined LD blocks: 632</a:t>
            </a:r>
            <a:endParaRPr sz="1600">
              <a:solidFill>
                <a:schemeClr val="dk1"/>
              </a:solidFill>
              <a:latin typeface="Alegreya"/>
              <a:ea typeface="Alegreya"/>
              <a:cs typeface="Alegreya"/>
              <a:sym typeface="Alegreya"/>
            </a:endParaRPr>
          </a:p>
          <a:p>
            <a:pPr indent="-330200" lvl="0" marL="914400" rtl="0" algn="l">
              <a:lnSpc>
                <a:spcPct val="150000"/>
              </a:lnSpc>
              <a:spcBef>
                <a:spcPts val="0"/>
              </a:spcBef>
              <a:spcAft>
                <a:spcPts val="0"/>
              </a:spcAft>
              <a:buClr>
                <a:srgbClr val="073763"/>
              </a:buClr>
              <a:buSzPts val="1600"/>
              <a:buFont typeface="Alegreya"/>
              <a:buChar char="●"/>
            </a:pPr>
            <a:r>
              <a:rPr lang="zh-TW" sz="1600">
                <a:solidFill>
                  <a:srgbClr val="073763"/>
                </a:solidFill>
                <a:latin typeface="Alegreya"/>
                <a:ea typeface="Alegreya"/>
                <a:cs typeface="Alegreya"/>
                <a:sym typeface="Alegreya"/>
              </a:rPr>
              <a:t>Formal LD-block member SNPs: 5,156</a:t>
            </a:r>
            <a:endParaRPr sz="1600">
              <a:latin typeface="Alegreya"/>
              <a:ea typeface="Alegreya"/>
              <a:cs typeface="Alegreya"/>
              <a:sym typeface="Alegreya"/>
            </a:endParaRPr>
          </a:p>
          <a:p>
            <a:pPr indent="-330200" lvl="0" marL="457200" marR="0" rtl="0" algn="l">
              <a:lnSpc>
                <a:spcPct val="150000"/>
              </a:lnSpc>
              <a:spcBef>
                <a:spcPts val="0"/>
              </a:spcBef>
              <a:spcAft>
                <a:spcPts val="0"/>
              </a:spcAft>
              <a:buClr>
                <a:srgbClr val="000000"/>
              </a:buClr>
              <a:buSzPts val="1600"/>
              <a:buFont typeface="Alegreya"/>
              <a:buAutoNum type="arabicPeriod"/>
            </a:pPr>
            <a:r>
              <a:rPr b="1" lang="zh-TW" sz="1600">
                <a:latin typeface="Alegreya"/>
                <a:ea typeface="Alegreya"/>
                <a:cs typeface="Alegreya"/>
                <a:sym typeface="Alegreya"/>
              </a:rPr>
              <a:t>Creat mask</a:t>
            </a:r>
            <a:r>
              <a:rPr b="1" lang="zh-TW" sz="1600">
                <a:latin typeface="Alegreya"/>
                <a:ea typeface="Alegreya"/>
                <a:cs typeface="Alegreya"/>
                <a:sym typeface="Alegreya"/>
              </a:rPr>
              <a:t>: (1/0</a:t>
            </a:r>
            <a:r>
              <a:rPr b="1" lang="zh-TW" sz="1600">
                <a:latin typeface="Alegreya"/>
                <a:ea typeface="Alegreya"/>
                <a:cs typeface="Alegreya"/>
                <a:sym typeface="Alegreya"/>
              </a:rPr>
              <a:t>)</a:t>
            </a:r>
            <a:endParaRPr i="0" sz="1600" u="none" cap="none" strike="noStrike">
              <a:solidFill>
                <a:srgbClr val="000000"/>
              </a:solidFill>
              <a:latin typeface="Alegreya"/>
              <a:ea typeface="Alegreya"/>
              <a:cs typeface="Alegreya"/>
              <a:sym typeface="Alegreya"/>
            </a:endParaRPr>
          </a:p>
        </p:txBody>
      </p:sp>
      <p:graphicFrame>
        <p:nvGraphicFramePr>
          <p:cNvPr id="288" name="Google Shape;288;g3f64edb0747_0_399"/>
          <p:cNvGraphicFramePr/>
          <p:nvPr/>
        </p:nvGraphicFramePr>
        <p:xfrm>
          <a:off x="1094200" y="5867875"/>
          <a:ext cx="3000000" cy="3000000"/>
        </p:xfrm>
        <a:graphic>
          <a:graphicData uri="http://schemas.openxmlformats.org/drawingml/2006/table">
            <a:tbl>
              <a:tblPr>
                <a:noFill/>
                <a:tableStyleId>{1AA3210B-82E7-4A6C-AF10-590AA54D16CA}</a:tableStyleId>
              </a:tblPr>
              <a:tblGrid>
                <a:gridCol w="2212100"/>
                <a:gridCol w="3205575"/>
                <a:gridCol w="3220250"/>
              </a:tblGrid>
              <a:tr h="210575">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202500">
                <a:tc>
                  <a:txBody>
                    <a:bodyPr/>
                    <a:lstStyle/>
                    <a:p>
                      <a:pPr indent="0" lvl="0" marL="0" rtl="0" algn="l">
                        <a:spcBef>
                          <a:spcPts val="0"/>
                        </a:spcBef>
                        <a:spcAft>
                          <a:spcPts val="0"/>
                        </a:spcAft>
                        <a:buNone/>
                      </a:pPr>
                      <a:r>
                        <a:t/>
                      </a:r>
                      <a:endParaRPr sz="800"/>
                    </a:p>
                  </a:txBody>
                  <a:tcPr marT="91425" marB="91425" marR="91425" marL="91425"/>
                </a:tc>
                <a:tc gridSpan="2">
                  <a:txBody>
                    <a:bodyPr/>
                    <a:lstStyle/>
                    <a:p>
                      <a:pPr indent="0" lvl="0" marL="0" rtl="0" algn="l">
                        <a:spcBef>
                          <a:spcPts val="0"/>
                        </a:spcBef>
                        <a:spcAft>
                          <a:spcPts val="0"/>
                        </a:spcAft>
                        <a:buNone/>
                      </a:pPr>
                      <a:r>
                        <a:t/>
                      </a:r>
                      <a:endParaRPr sz="800"/>
                    </a:p>
                  </a:txBody>
                  <a:tcPr marT="91425" marB="91425" marR="91425" marL="91425"/>
                </a:tc>
                <a:tc hMerge="1"/>
              </a:tr>
              <a:tr h="202500">
                <a:tc>
                  <a:txBody>
                    <a:bodyPr/>
                    <a:lstStyle/>
                    <a:p>
                      <a:pPr indent="0" lvl="0" marL="0" rtl="0" algn="l">
                        <a:spcBef>
                          <a:spcPts val="0"/>
                        </a:spcBef>
                        <a:spcAft>
                          <a:spcPts val="0"/>
                        </a:spcAft>
                        <a:buNone/>
                      </a:pPr>
                      <a:r>
                        <a:t/>
                      </a:r>
                      <a:endParaRPr sz="800"/>
                    </a:p>
                  </a:txBody>
                  <a:tcPr marT="91425" marB="91425" marR="91425" marL="91425"/>
                </a:tc>
                <a:tc gridSpan="2">
                  <a:txBody>
                    <a:bodyPr/>
                    <a:lstStyle/>
                    <a:p>
                      <a:pPr indent="0" lvl="0" marL="0" rtl="0" algn="l">
                        <a:spcBef>
                          <a:spcPts val="0"/>
                        </a:spcBef>
                        <a:spcAft>
                          <a:spcPts val="0"/>
                        </a:spcAft>
                        <a:buNone/>
                      </a:pPr>
                      <a:r>
                        <a:t/>
                      </a:r>
                      <a:endParaRPr sz="800"/>
                    </a:p>
                  </a:txBody>
                  <a:tcPr marT="91425" marB="91425" marR="91425" marL="91425"/>
                </a:tc>
                <a:tc hMerge="1"/>
              </a:tr>
            </a:tbl>
          </a:graphicData>
        </a:graphic>
      </p:graphicFrame>
      <p:sp>
        <p:nvSpPr>
          <p:cNvPr id="289" name="Google Shape;289;g3f64edb0747_0_399"/>
          <p:cNvSpPr txBox="1"/>
          <p:nvPr/>
        </p:nvSpPr>
        <p:spPr>
          <a:xfrm>
            <a:off x="1234057" y="6093180"/>
            <a:ext cx="1810500" cy="4311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zh-TW" sz="1600">
                <a:solidFill>
                  <a:schemeClr val="dk1"/>
                </a:solidFill>
                <a:latin typeface="Alegreya"/>
                <a:ea typeface="Alegreya"/>
                <a:cs typeface="Alegreya"/>
                <a:sym typeface="Alegreya"/>
              </a:rPr>
              <a:t>LD interval mask </a:t>
            </a:r>
            <a:endParaRPr sz="1600">
              <a:solidFill>
                <a:schemeClr val="dk1"/>
              </a:solidFill>
              <a:latin typeface="Alegreya"/>
              <a:ea typeface="Alegreya"/>
              <a:cs typeface="Alegreya"/>
              <a:sym typeface="Alegreya"/>
            </a:endParaRPr>
          </a:p>
        </p:txBody>
      </p:sp>
      <p:sp>
        <p:nvSpPr>
          <p:cNvPr id="290" name="Google Shape;290;g3f64edb0747_0_399"/>
          <p:cNvSpPr txBox="1"/>
          <p:nvPr/>
        </p:nvSpPr>
        <p:spPr>
          <a:xfrm>
            <a:off x="1285077" y="6409896"/>
            <a:ext cx="1810500" cy="4311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zh-TW" sz="1600">
                <a:solidFill>
                  <a:schemeClr val="dk1"/>
                </a:solidFill>
                <a:latin typeface="Alegreya"/>
                <a:ea typeface="Alegreya"/>
                <a:cs typeface="Alegreya"/>
                <a:sym typeface="Alegreya"/>
              </a:rPr>
              <a:t>LD member  mask </a:t>
            </a:r>
            <a:endParaRPr sz="1600">
              <a:solidFill>
                <a:schemeClr val="dk1"/>
              </a:solidFill>
              <a:latin typeface="Alegreya"/>
              <a:ea typeface="Alegreya"/>
              <a:cs typeface="Alegreya"/>
              <a:sym typeface="Alegreya"/>
            </a:endParaRPr>
          </a:p>
        </p:txBody>
      </p:sp>
      <p:sp>
        <p:nvSpPr>
          <p:cNvPr id="291" name="Google Shape;291;g3f64edb0747_0_399"/>
          <p:cNvSpPr txBox="1"/>
          <p:nvPr/>
        </p:nvSpPr>
        <p:spPr>
          <a:xfrm>
            <a:off x="4285507" y="5789555"/>
            <a:ext cx="1810500" cy="4311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zh-TW" sz="1600">
                <a:solidFill>
                  <a:schemeClr val="dk1"/>
                </a:solidFill>
                <a:latin typeface="Alegreya"/>
                <a:ea typeface="Alegreya"/>
                <a:cs typeface="Alegreya"/>
                <a:sym typeface="Alegreya"/>
              </a:rPr>
              <a:t>1</a:t>
            </a:r>
            <a:endParaRPr sz="1600">
              <a:solidFill>
                <a:schemeClr val="dk1"/>
              </a:solidFill>
              <a:latin typeface="Alegreya"/>
              <a:ea typeface="Alegreya"/>
              <a:cs typeface="Alegreya"/>
              <a:sym typeface="Alegreya"/>
            </a:endParaRPr>
          </a:p>
        </p:txBody>
      </p:sp>
      <p:sp>
        <p:nvSpPr>
          <p:cNvPr id="292" name="Google Shape;292;g3f64edb0747_0_399"/>
          <p:cNvSpPr txBox="1"/>
          <p:nvPr/>
        </p:nvSpPr>
        <p:spPr>
          <a:xfrm>
            <a:off x="7336957" y="5789555"/>
            <a:ext cx="1810500" cy="4311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zh-TW" sz="1600">
                <a:solidFill>
                  <a:schemeClr val="dk1"/>
                </a:solidFill>
                <a:latin typeface="Alegreya"/>
                <a:ea typeface="Alegreya"/>
                <a:cs typeface="Alegreya"/>
                <a:sym typeface="Alegreya"/>
              </a:rPr>
              <a:t>0</a:t>
            </a:r>
            <a:endParaRPr sz="1600">
              <a:solidFill>
                <a:schemeClr val="dk1"/>
              </a:solidFill>
              <a:latin typeface="Alegreya"/>
              <a:ea typeface="Alegreya"/>
              <a:cs typeface="Alegreya"/>
              <a:sym typeface="Alegreya"/>
            </a:endParaRPr>
          </a:p>
        </p:txBody>
      </p:sp>
      <p:sp>
        <p:nvSpPr>
          <p:cNvPr id="293" name="Google Shape;293;g3f64edb0747_0_399"/>
          <p:cNvSpPr txBox="1"/>
          <p:nvPr/>
        </p:nvSpPr>
        <p:spPr>
          <a:xfrm>
            <a:off x="4415163" y="6108625"/>
            <a:ext cx="4435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latin typeface="Alegreya"/>
                <a:ea typeface="Alegreya"/>
                <a:cs typeface="Alegreya"/>
                <a:sym typeface="Alegreya"/>
              </a:rPr>
              <a:t>whether a SNP lies within an LD block interval(BP1–BP2)</a:t>
            </a:r>
            <a:endParaRPr>
              <a:latin typeface="Alegreya"/>
              <a:ea typeface="Alegreya"/>
              <a:cs typeface="Alegreya"/>
              <a:sym typeface="Alegreya"/>
            </a:endParaRPr>
          </a:p>
        </p:txBody>
      </p:sp>
      <p:sp>
        <p:nvSpPr>
          <p:cNvPr id="294" name="Google Shape;294;g3f64edb0747_0_399"/>
          <p:cNvSpPr txBox="1"/>
          <p:nvPr/>
        </p:nvSpPr>
        <p:spPr>
          <a:xfrm>
            <a:off x="3917178" y="6423262"/>
            <a:ext cx="543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solidFill>
                  <a:schemeClr val="dk1"/>
                </a:solidFill>
                <a:latin typeface="Alegreya"/>
                <a:ea typeface="Alegreya"/>
                <a:cs typeface="Alegreya"/>
                <a:sym typeface="Alegreya"/>
              </a:rPr>
              <a:t>whether a SNP is explicitly assigned by PLINK as an LD-block member</a:t>
            </a:r>
            <a:endParaRPr>
              <a:latin typeface="Alegreya"/>
              <a:ea typeface="Alegreya"/>
              <a:cs typeface="Alegreya"/>
              <a:sym typeface="Alegrey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f65440cd3d_2_47"/>
          <p:cNvSpPr txBox="1"/>
          <p:nvPr/>
        </p:nvSpPr>
        <p:spPr>
          <a:xfrm>
            <a:off x="479422" y="549275"/>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a:t>
            </a:r>
            <a:r>
              <a:rPr b="1" lang="zh-TW" sz="1800">
                <a:solidFill>
                  <a:schemeClr val="dk1"/>
                </a:solidFill>
                <a:latin typeface="Alegreya"/>
                <a:ea typeface="Alegreya"/>
                <a:cs typeface="Alegreya"/>
                <a:sym typeface="Alegreya"/>
              </a:rPr>
              <a:t>Branch 2 - LD structure image</a:t>
            </a:r>
            <a:endParaRPr>
              <a:latin typeface="Alegreya"/>
              <a:ea typeface="Alegreya"/>
              <a:cs typeface="Alegreya"/>
              <a:sym typeface="Alegreya"/>
            </a:endParaRPr>
          </a:p>
        </p:txBody>
      </p:sp>
      <p:pic>
        <p:nvPicPr>
          <p:cNvPr id="301" name="Google Shape;301;g3f65440cd3d_2_47"/>
          <p:cNvPicPr preferRelativeResize="0"/>
          <p:nvPr/>
        </p:nvPicPr>
        <p:blipFill rotWithShape="1">
          <a:blip r:embed="rId3">
            <a:alphaModFix/>
          </a:blip>
          <a:srcRect b="21172" l="12714" r="29122" t="39665"/>
          <a:stretch/>
        </p:blipFill>
        <p:spPr>
          <a:xfrm>
            <a:off x="2536350" y="918575"/>
            <a:ext cx="7084499" cy="3187225"/>
          </a:xfrm>
          <a:prstGeom prst="rect">
            <a:avLst/>
          </a:prstGeom>
          <a:noFill/>
          <a:ln>
            <a:noFill/>
          </a:ln>
        </p:spPr>
      </p:pic>
      <p:sp>
        <p:nvSpPr>
          <p:cNvPr id="302" name="Google Shape;302;g3f65440cd3d_2_47"/>
          <p:cNvSpPr txBox="1"/>
          <p:nvPr/>
        </p:nvSpPr>
        <p:spPr>
          <a:xfrm>
            <a:off x="890675" y="4475050"/>
            <a:ext cx="9742800" cy="18162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White: SNPs located within detected LD block intervals</a:t>
            </a:r>
            <a:endParaRPr sz="1600">
              <a:latin typeface="Alegreya"/>
              <a:ea typeface="Alegreya"/>
              <a:cs typeface="Alegreya"/>
              <a:sym typeface="Alegreya"/>
            </a:endParaRPr>
          </a:p>
          <a:p>
            <a:pPr indent="-330200" lvl="0" marL="45720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Gray: valid SNPs outside detected LD block intervals</a:t>
            </a:r>
            <a:endParaRPr sz="1600">
              <a:latin typeface="Alegreya"/>
              <a:ea typeface="Alegreya"/>
              <a:cs typeface="Alegreya"/>
              <a:sym typeface="Alegreya"/>
            </a:endParaRPr>
          </a:p>
          <a:p>
            <a:pPr indent="-330200" lvl="0" marL="457200" marR="0" rtl="0" algn="l">
              <a:lnSpc>
                <a:spcPct val="150000"/>
              </a:lnSpc>
              <a:spcBef>
                <a:spcPts val="0"/>
              </a:spcBef>
              <a:spcAft>
                <a:spcPts val="0"/>
              </a:spcAft>
              <a:buClr>
                <a:srgbClr val="000000"/>
              </a:buClr>
              <a:buSzPts val="1600"/>
              <a:buFont typeface="Alegreya"/>
              <a:buChar char="●"/>
            </a:pPr>
            <a:r>
              <a:rPr i="0" lang="zh-TW" sz="1600" u="none" cap="none" strike="noStrike">
                <a:solidFill>
                  <a:srgbClr val="000000"/>
                </a:solidFill>
                <a:latin typeface="Alegreya"/>
                <a:ea typeface="Alegreya"/>
                <a:cs typeface="Alegreya"/>
                <a:sym typeface="Alegreya"/>
              </a:rPr>
              <a:t>Black: padding or inter-chromosomal gaps</a:t>
            </a:r>
            <a:endParaRPr i="0" sz="1600" u="none" cap="none" strike="noStrike">
              <a:solidFill>
                <a:srgbClr val="000000"/>
              </a:solidFill>
              <a:latin typeface="Alegreya"/>
              <a:ea typeface="Alegreya"/>
              <a:cs typeface="Alegreya"/>
              <a:sym typeface="Alegreya"/>
            </a:endParaRPr>
          </a:p>
          <a:p>
            <a:pPr indent="0" lvl="0" marL="457200" marR="0" rtl="0" algn="l">
              <a:lnSpc>
                <a:spcPct val="150000"/>
              </a:lnSpc>
              <a:spcBef>
                <a:spcPts val="0"/>
              </a:spcBef>
              <a:spcAft>
                <a:spcPts val="0"/>
              </a:spcAft>
              <a:buNone/>
            </a:pPr>
            <a:r>
              <a:t/>
            </a:r>
            <a:endParaRPr sz="1600">
              <a:latin typeface="Alegreya"/>
              <a:ea typeface="Alegreya"/>
              <a:cs typeface="Alegreya"/>
              <a:sym typeface="Alegreya"/>
            </a:endParaRPr>
          </a:p>
          <a:p>
            <a:pPr indent="0" lvl="0" marL="0" marR="0" rtl="0" algn="l">
              <a:lnSpc>
                <a:spcPct val="150000"/>
              </a:lnSpc>
              <a:spcBef>
                <a:spcPts val="0"/>
              </a:spcBef>
              <a:spcAft>
                <a:spcPts val="0"/>
              </a:spcAft>
              <a:buNone/>
            </a:pPr>
            <a:r>
              <a:rPr b="1" i="0" lang="zh-TW" sz="1600" u="none" cap="none" strike="noStrike">
                <a:solidFill>
                  <a:srgbClr val="000000"/>
                </a:solidFill>
                <a:latin typeface="Alegreya"/>
                <a:ea typeface="Alegreya"/>
                <a:cs typeface="Alegreya"/>
                <a:sym typeface="Alegreya"/>
              </a:rPr>
              <a:t>The map represents the location of LD structure, not continuous pairwise LD strength. </a:t>
            </a:r>
            <a:endParaRPr b="1" sz="1600">
              <a:latin typeface="Alegreya"/>
              <a:ea typeface="Alegreya"/>
              <a:cs typeface="Alegreya"/>
              <a:sym typeface="Alegreya"/>
            </a:endParaRPr>
          </a:p>
        </p:txBody>
      </p:sp>
      <p:sp>
        <p:nvSpPr>
          <p:cNvPr id="303" name="Google Shape;303;g3f65440cd3d_2_47"/>
          <p:cNvSpPr txBox="1"/>
          <p:nvPr/>
        </p:nvSpPr>
        <p:spPr>
          <a:xfrm>
            <a:off x="12469300" y="1958075"/>
            <a:ext cx="7084500" cy="1108200"/>
          </a:xfrm>
          <a:prstGeom prst="rect">
            <a:avLst/>
          </a:prstGeom>
          <a:noFill/>
          <a:ln>
            <a:noFill/>
          </a:ln>
        </p:spPr>
        <p:txBody>
          <a:bodyPr anchorCtr="0" anchor="t" bIns="91425" lIns="91425" spcFirstLastPara="1" rIns="91425" wrap="square" tIns="91425">
            <a:spAutoFit/>
          </a:bodyPr>
          <a:lstStyle/>
          <a:p>
            <a:pPr indent="-228600" lvl="0" marL="457200" rtl="0" algn="l">
              <a:spcBef>
                <a:spcPts val="0"/>
              </a:spcBef>
              <a:spcAft>
                <a:spcPts val="0"/>
              </a:spcAft>
              <a:buNone/>
            </a:pPr>
            <a:r>
              <a:rPr b="1" lang="zh-TW" sz="1200">
                <a:solidFill>
                  <a:schemeClr val="dk1"/>
                </a:solidFill>
                <a:latin typeface="Calibri"/>
                <a:ea typeface="Calibri"/>
                <a:cs typeface="Calibri"/>
                <a:sym typeface="Calibri"/>
              </a:rPr>
              <a:t>LD block</a:t>
            </a:r>
            <a:r>
              <a:rPr lang="zh-TW" sz="1200">
                <a:solidFill>
                  <a:schemeClr val="dk1"/>
                </a:solidFill>
                <a:latin typeface="Calibri"/>
                <a:ea typeface="Calibri"/>
                <a:cs typeface="Calibri"/>
                <a:sym typeface="Calibri"/>
              </a:rPr>
              <a:t> 是一段基因組區域，其中多個 SNP 彼此具有較強的 LD：一組彼此具有較強遺傳相關性的 SNP，以及它們所涵蓋的基因組區間</a:t>
            </a:r>
            <a:endParaRPr sz="1200">
              <a:solidFill>
                <a:schemeClr val="dk1"/>
              </a:solidFill>
              <a:latin typeface="Calibri"/>
              <a:ea typeface="Calibri"/>
              <a:cs typeface="Calibri"/>
              <a:sym typeface="Calibri"/>
            </a:endParaRPr>
          </a:p>
          <a:p>
            <a:pPr indent="-228600" lvl="0" marL="457200" rtl="0" algn="l">
              <a:spcBef>
                <a:spcPts val="0"/>
              </a:spcBef>
              <a:spcAft>
                <a:spcPts val="0"/>
              </a:spcAft>
              <a:buNone/>
            </a:pPr>
            <a:r>
              <a:t/>
            </a:r>
            <a:endParaRPr sz="1200">
              <a:solidFill>
                <a:schemeClr val="dk1"/>
              </a:solidFill>
              <a:latin typeface="Calibri"/>
              <a:ea typeface="Calibri"/>
              <a:cs typeface="Calibri"/>
              <a:sym typeface="Calibri"/>
            </a:endParaRPr>
          </a:p>
          <a:p>
            <a:pPr indent="-228600" lvl="0" marL="457200" rtl="0" algn="l">
              <a:spcBef>
                <a:spcPts val="0"/>
              </a:spcBef>
              <a:spcAft>
                <a:spcPts val="0"/>
              </a:spcAft>
              <a:buNone/>
            </a:pPr>
            <a:r>
              <a:rPr b="1" lang="zh-TW" sz="1200">
                <a:solidFill>
                  <a:schemeClr val="dk1"/>
                </a:solidFill>
                <a:latin typeface="Calibri"/>
                <a:ea typeface="Calibri"/>
                <a:cs typeface="Calibri"/>
                <a:sym typeface="Calibri"/>
              </a:rPr>
              <a:t>LD mask 不是 PLINK 原始分析結果的名稱</a:t>
            </a:r>
            <a:r>
              <a:rPr lang="zh-TW" sz="1200">
                <a:solidFill>
                  <a:schemeClr val="dk1"/>
                </a:solidFill>
                <a:latin typeface="Calibri"/>
                <a:ea typeface="Calibri"/>
                <a:cs typeface="Calibri"/>
                <a:sym typeface="Calibri"/>
              </a:rPr>
              <a:t>，而是我們為了建立影像，將 LD 結果轉成的數值標記：這個pixel對應的SNP是否位於LD結構中，1：具有該結構 0：不具有該結構</a:t>
            </a:r>
            <a:endParaRPr sz="1200">
              <a:solidFill>
                <a:schemeClr val="dk1"/>
              </a:solidFill>
              <a:latin typeface="Calibri"/>
              <a:ea typeface="Calibri"/>
              <a:cs typeface="Calibri"/>
              <a:sym typeface="Calibri"/>
            </a:endParaRPr>
          </a:p>
        </p:txBody>
      </p:sp>
      <p:sp>
        <p:nvSpPr>
          <p:cNvPr id="304" name="Google Shape;304;g3f65440cd3d_2_47"/>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10</a:t>
            </a:r>
            <a:endParaRPr b="0" i="0" sz="1000" u="none" cap="none" strike="noStrike">
              <a:solidFill>
                <a:srgbClr val="9E9E9E"/>
              </a:solidFill>
              <a:latin typeface="Alegreya"/>
              <a:ea typeface="Alegreya"/>
              <a:cs typeface="Alegreya"/>
              <a:sym typeface="Alegreya"/>
            </a:endParaRPr>
          </a:p>
        </p:txBody>
      </p:sp>
      <p:sp>
        <p:nvSpPr>
          <p:cNvPr id="305" name="Google Shape;305;g3f65440cd3d_2_47"/>
          <p:cNvSpPr txBox="1"/>
          <p:nvPr/>
        </p:nvSpPr>
        <p:spPr>
          <a:xfrm>
            <a:off x="559089" y="4067070"/>
            <a:ext cx="10658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zh-TW" sz="1600">
                <a:latin typeface="Alegreya"/>
                <a:ea typeface="Alegreya"/>
                <a:cs typeface="Alegreya"/>
                <a:sym typeface="Alegreya"/>
              </a:rPr>
              <a:t>3.     Encoding :</a:t>
            </a:r>
            <a:endParaRPr i="0" sz="1600" u="none" cap="none" strike="noStrike">
              <a:solidFill>
                <a:srgbClr val="000000"/>
              </a:solidFill>
              <a:latin typeface="Alegreya"/>
              <a:ea typeface="Alegreya"/>
              <a:cs typeface="Alegreya"/>
              <a:sym typeface="Alegrey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f64edb0747_0_121"/>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11</a:t>
            </a:r>
            <a:endParaRPr b="0" i="0" sz="1000" u="none" cap="none" strike="noStrike">
              <a:solidFill>
                <a:srgbClr val="9E9E9E"/>
              </a:solidFill>
              <a:latin typeface="Alegreya"/>
              <a:ea typeface="Alegreya"/>
              <a:cs typeface="Alegreya"/>
              <a:sym typeface="Alegreya"/>
            </a:endParaRPr>
          </a:p>
        </p:txBody>
      </p:sp>
      <p:grpSp>
        <p:nvGrpSpPr>
          <p:cNvPr id="312" name="Google Shape;312;g3f64edb0747_0_121"/>
          <p:cNvGrpSpPr/>
          <p:nvPr/>
        </p:nvGrpSpPr>
        <p:grpSpPr>
          <a:xfrm>
            <a:off x="492000" y="540000"/>
            <a:ext cx="2376000" cy="546000"/>
            <a:chOff x="492000" y="540000"/>
            <a:chExt cx="2376000" cy="546000"/>
          </a:xfrm>
        </p:grpSpPr>
        <p:sp>
          <p:nvSpPr>
            <p:cNvPr id="313" name="Google Shape;313;g3f64edb0747_0_121"/>
            <p:cNvSpPr/>
            <p:nvPr/>
          </p:nvSpPr>
          <p:spPr>
            <a:xfrm>
              <a:off x="492000" y="540000"/>
              <a:ext cx="237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4" name="Google Shape;314;g3f64edb0747_0_121"/>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15" name="Google Shape;315;g3f64edb0747_0_121"/>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0" i="0" lang="zh-TW" sz="3000" u="none" cap="none" strike="noStrike">
                <a:solidFill>
                  <a:schemeClr val="dk1"/>
                </a:solidFill>
                <a:latin typeface="Playfair Display"/>
                <a:ea typeface="Playfair Display"/>
                <a:cs typeface="Playfair Display"/>
                <a:sym typeface="Playfair Display"/>
              </a:rPr>
              <a:t>1</a:t>
            </a:r>
            <a:endParaRPr/>
          </a:p>
        </p:txBody>
      </p:sp>
      <p:grpSp>
        <p:nvGrpSpPr>
          <p:cNvPr id="316" name="Google Shape;316;g3f64edb0747_0_121"/>
          <p:cNvGrpSpPr/>
          <p:nvPr/>
        </p:nvGrpSpPr>
        <p:grpSpPr>
          <a:xfrm>
            <a:off x="492000" y="540000"/>
            <a:ext cx="2856000" cy="546000"/>
            <a:chOff x="492000" y="540000"/>
            <a:chExt cx="2856000" cy="546000"/>
          </a:xfrm>
        </p:grpSpPr>
        <p:sp>
          <p:nvSpPr>
            <p:cNvPr id="317" name="Google Shape;317;g3f64edb0747_0_121"/>
            <p:cNvSpPr/>
            <p:nvPr/>
          </p:nvSpPr>
          <p:spPr>
            <a:xfrm>
              <a:off x="492000" y="540000"/>
              <a:ext cx="285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8" name="Google Shape;318;g3f64edb0747_0_121"/>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19" name="Google Shape;319;g3f64edb0747_0_121"/>
          <p:cNvSpPr txBox="1"/>
          <p:nvPr/>
        </p:nvSpPr>
        <p:spPr>
          <a:xfrm>
            <a:off x="1124721" y="564873"/>
            <a:ext cx="172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zh-TW" sz="2000">
                <a:solidFill>
                  <a:schemeClr val="dk1"/>
                </a:solidFill>
                <a:latin typeface="Alegreya"/>
                <a:ea typeface="Alegreya"/>
                <a:cs typeface="Alegreya"/>
                <a:sym typeface="Alegreya"/>
              </a:rPr>
              <a:t>Recent work</a:t>
            </a:r>
            <a:endParaRPr>
              <a:latin typeface="Alegreya"/>
              <a:ea typeface="Alegreya"/>
              <a:cs typeface="Alegreya"/>
              <a:sym typeface="Alegreya"/>
            </a:endParaRPr>
          </a:p>
        </p:txBody>
      </p:sp>
      <p:sp>
        <p:nvSpPr>
          <p:cNvPr id="320" name="Google Shape;320;g3f64edb0747_0_121"/>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lang="zh-TW" sz="3000">
                <a:solidFill>
                  <a:schemeClr val="dk1"/>
                </a:solidFill>
                <a:latin typeface="Playfair Display"/>
                <a:ea typeface="Playfair Display"/>
                <a:cs typeface="Playfair Display"/>
                <a:sym typeface="Playfair Display"/>
              </a:rPr>
              <a:t>2</a:t>
            </a:r>
            <a:endParaRPr b="0" i="0" sz="3000" u="none" cap="none" strike="noStrike">
              <a:solidFill>
                <a:schemeClr val="dk1"/>
              </a:solidFill>
              <a:latin typeface="Playfair Display"/>
              <a:ea typeface="Playfair Display"/>
              <a:cs typeface="Playfair Display"/>
              <a:sym typeface="Playfair Display"/>
            </a:endParaRPr>
          </a:p>
        </p:txBody>
      </p:sp>
      <p:pic>
        <p:nvPicPr>
          <p:cNvPr id="321" name="Google Shape;321;g3f64edb0747_0_121"/>
          <p:cNvPicPr preferRelativeResize="0"/>
          <p:nvPr/>
        </p:nvPicPr>
        <p:blipFill rotWithShape="1">
          <a:blip r:embed="rId3">
            <a:alphaModFix/>
          </a:blip>
          <a:srcRect b="0" l="0" r="0" t="0"/>
          <a:stretch/>
        </p:blipFill>
        <p:spPr>
          <a:xfrm>
            <a:off x="760825" y="1313950"/>
            <a:ext cx="10670350" cy="4570240"/>
          </a:xfrm>
          <a:prstGeom prst="rect">
            <a:avLst/>
          </a:prstGeom>
          <a:noFill/>
          <a:ln>
            <a:noFill/>
          </a:ln>
        </p:spPr>
      </p:pic>
      <p:sp>
        <p:nvSpPr>
          <p:cNvPr id="322" name="Google Shape;322;g3f64edb0747_0_121"/>
          <p:cNvSpPr txBox="1"/>
          <p:nvPr/>
        </p:nvSpPr>
        <p:spPr>
          <a:xfrm>
            <a:off x="12379654" y="982269"/>
            <a:ext cx="6778800" cy="160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座標地圖的概念：</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Snp放在row=25 col=73 則四個矩陣 不會把四個資訊混在一起 而是四個對其的圖層</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zh-TW" sz="1400" u="none" cap="none" strike="noStrike">
                <a:solidFill>
                  <a:srgbClr val="000000"/>
                </a:solidFill>
                <a:latin typeface="Arial"/>
                <a:ea typeface="Arial"/>
                <a:cs typeface="Arial"/>
                <a:sym typeface="Arial"/>
              </a:rPr>
              <a:t>genotype_matrix[25,73] = 3 → 這位受試者在該SNP是A/G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zh-TW" sz="1400" u="none" cap="none" strike="noStrike">
                <a:solidFill>
                  <a:srgbClr val="000000"/>
                </a:solidFill>
                <a:latin typeface="Arial"/>
                <a:ea typeface="Arial"/>
                <a:cs typeface="Arial"/>
                <a:sym typeface="Arial"/>
              </a:rPr>
              <a:t>valid_snp_matrix[25,73] = 1 → 這裡是真實SNP，不是padding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zh-TW" sz="1400" u="none" cap="none" strike="noStrike">
                <a:solidFill>
                  <a:srgbClr val="000000"/>
                </a:solidFill>
                <a:latin typeface="Arial"/>
                <a:ea typeface="Arial"/>
                <a:cs typeface="Arial"/>
                <a:sym typeface="Arial"/>
              </a:rPr>
              <a:t>ld_interval_matrix[25,73] = 1 → 該SNP位於LD block interval內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zh-TW" sz="1400" u="none" cap="none" strike="noStrike">
                <a:solidFill>
                  <a:srgbClr val="000000"/>
                </a:solidFill>
                <a:latin typeface="Arial"/>
                <a:ea typeface="Arial"/>
                <a:cs typeface="Arial"/>
                <a:sym typeface="Arial"/>
              </a:rPr>
              <a:t>mt_matrix[25,73] = 0 → 該SNP不屬於MT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g3f64edb0747_0_121"/>
          <p:cNvSpPr txBox="1"/>
          <p:nvPr/>
        </p:nvSpPr>
        <p:spPr>
          <a:xfrm>
            <a:off x="2993148" y="643650"/>
            <a:ext cx="25164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zh-TW" sz="1600">
                <a:solidFill>
                  <a:schemeClr val="accent3"/>
                </a:solidFill>
                <a:latin typeface="Alegreya"/>
                <a:ea typeface="Alegreya"/>
                <a:cs typeface="Alegreya"/>
                <a:sym typeface="Alegreya"/>
              </a:rPr>
              <a:t>( Chromosome 6 )</a:t>
            </a:r>
            <a:endParaRPr i="0" sz="1600" u="none" cap="none" strike="noStrike">
              <a:solidFill>
                <a:schemeClr val="accent3"/>
              </a:solidFill>
              <a:latin typeface="Alegreya"/>
              <a:ea typeface="Alegreya"/>
              <a:cs typeface="Alegreya"/>
              <a:sym typeface="Alegreya"/>
            </a:endParaRPr>
          </a:p>
        </p:txBody>
      </p:sp>
      <p:sp>
        <p:nvSpPr>
          <p:cNvPr id="324" name="Google Shape;324;g3f64edb0747_0_121"/>
          <p:cNvSpPr txBox="1"/>
          <p:nvPr/>
        </p:nvSpPr>
        <p:spPr>
          <a:xfrm>
            <a:off x="6813600" y="5765703"/>
            <a:ext cx="3962700" cy="831000"/>
          </a:xfrm>
          <a:prstGeom prst="rect">
            <a:avLst/>
          </a:prstGeom>
          <a:noFill/>
          <a:ln>
            <a:noFill/>
          </a:ln>
        </p:spPr>
        <p:txBody>
          <a:bodyPr anchorCtr="0" anchor="t" bIns="45700" lIns="91425" spcFirstLastPara="1" rIns="91425" wrap="square" tIns="45700">
            <a:spAutoFit/>
          </a:bodyPr>
          <a:lstStyle/>
          <a:p>
            <a:pPr indent="-355600" lvl="0" marL="342900" marR="0" rtl="0" algn="l">
              <a:lnSpc>
                <a:spcPct val="100000"/>
              </a:lnSpc>
              <a:spcBef>
                <a:spcPts val="0"/>
              </a:spcBef>
              <a:spcAft>
                <a:spcPts val="0"/>
              </a:spcAft>
              <a:buClr>
                <a:srgbClr val="073763"/>
              </a:buClr>
              <a:buSzPts val="1600"/>
              <a:buFont typeface="Alegreya"/>
              <a:buChar char="•"/>
            </a:pPr>
            <a:r>
              <a:rPr i="0" lang="zh-TW" sz="1600" u="none" cap="none" strike="noStrike">
                <a:solidFill>
                  <a:srgbClr val="073763"/>
                </a:solidFill>
                <a:latin typeface="Alegreya"/>
                <a:ea typeface="Alegreya"/>
                <a:cs typeface="Alegreya"/>
                <a:sym typeface="Alegreya"/>
              </a:rPr>
              <a:t>White: within LD block intervals </a:t>
            </a:r>
            <a:endParaRPr sz="1600">
              <a:solidFill>
                <a:srgbClr val="073763"/>
              </a:solidFill>
              <a:latin typeface="Alegreya"/>
              <a:ea typeface="Alegreya"/>
              <a:cs typeface="Alegreya"/>
              <a:sym typeface="Alegreya"/>
            </a:endParaRPr>
          </a:p>
          <a:p>
            <a:pPr indent="-355600" lvl="0" marL="342900" marR="0" rtl="0" algn="l">
              <a:lnSpc>
                <a:spcPct val="100000"/>
              </a:lnSpc>
              <a:spcBef>
                <a:spcPts val="0"/>
              </a:spcBef>
              <a:spcAft>
                <a:spcPts val="0"/>
              </a:spcAft>
              <a:buClr>
                <a:srgbClr val="073763"/>
              </a:buClr>
              <a:buSzPts val="1600"/>
              <a:buFont typeface="Alegreya"/>
              <a:buChar char="•"/>
            </a:pPr>
            <a:r>
              <a:rPr i="0" lang="zh-TW" sz="1600" u="none" cap="none" strike="noStrike">
                <a:solidFill>
                  <a:srgbClr val="073763"/>
                </a:solidFill>
                <a:latin typeface="Alegreya"/>
                <a:ea typeface="Alegreya"/>
                <a:cs typeface="Alegreya"/>
                <a:sym typeface="Alegreya"/>
              </a:rPr>
              <a:t>Gray </a:t>
            </a:r>
            <a:r>
              <a:rPr lang="zh-TW" sz="1600">
                <a:solidFill>
                  <a:srgbClr val="073763"/>
                </a:solidFill>
                <a:latin typeface="Alegreya"/>
                <a:ea typeface="Alegreya"/>
                <a:cs typeface="Alegreya"/>
                <a:sym typeface="Alegreya"/>
              </a:rPr>
              <a:t>: </a:t>
            </a:r>
            <a:r>
              <a:rPr i="0" lang="zh-TW" sz="1600" u="none" cap="none" strike="noStrike">
                <a:solidFill>
                  <a:srgbClr val="073763"/>
                </a:solidFill>
                <a:latin typeface="Alegreya"/>
                <a:ea typeface="Alegreya"/>
                <a:cs typeface="Alegreya"/>
                <a:sym typeface="Alegreya"/>
              </a:rPr>
              <a:t>valid SNPs </a:t>
            </a:r>
            <a:endParaRPr sz="1600">
              <a:solidFill>
                <a:srgbClr val="073763"/>
              </a:solidFill>
              <a:latin typeface="Alegreya"/>
              <a:ea typeface="Alegreya"/>
              <a:cs typeface="Alegreya"/>
              <a:sym typeface="Alegreya"/>
            </a:endParaRPr>
          </a:p>
          <a:p>
            <a:pPr indent="-355600" lvl="0" marL="342900" marR="0" rtl="0" algn="l">
              <a:lnSpc>
                <a:spcPct val="100000"/>
              </a:lnSpc>
              <a:spcBef>
                <a:spcPts val="0"/>
              </a:spcBef>
              <a:spcAft>
                <a:spcPts val="0"/>
              </a:spcAft>
              <a:buClr>
                <a:srgbClr val="073763"/>
              </a:buClr>
              <a:buSzPts val="1600"/>
              <a:buFont typeface="Alegreya"/>
              <a:buChar char="•"/>
            </a:pPr>
            <a:r>
              <a:rPr i="0" lang="zh-TW" sz="1600" u="none" cap="none" strike="noStrike">
                <a:solidFill>
                  <a:srgbClr val="073763"/>
                </a:solidFill>
                <a:latin typeface="Alegreya"/>
                <a:ea typeface="Alegreya"/>
                <a:cs typeface="Alegreya"/>
                <a:sym typeface="Alegreya"/>
              </a:rPr>
              <a:t>Black: padding </a:t>
            </a:r>
            <a:r>
              <a:rPr lang="zh-TW" sz="1600">
                <a:solidFill>
                  <a:srgbClr val="073763"/>
                </a:solidFill>
                <a:latin typeface="Alegreya"/>
                <a:ea typeface="Alegreya"/>
                <a:cs typeface="Alegreya"/>
                <a:sym typeface="Alegreya"/>
              </a:rPr>
              <a:t>/</a:t>
            </a:r>
            <a:r>
              <a:rPr i="0" lang="zh-TW" sz="1600" u="none" cap="none" strike="noStrike">
                <a:solidFill>
                  <a:srgbClr val="073763"/>
                </a:solidFill>
                <a:latin typeface="Alegreya"/>
                <a:ea typeface="Alegreya"/>
                <a:cs typeface="Alegreya"/>
                <a:sym typeface="Alegreya"/>
              </a:rPr>
              <a:t>inter-chromosomal gaps </a:t>
            </a:r>
            <a:endParaRPr sz="1600">
              <a:solidFill>
                <a:srgbClr val="073763"/>
              </a:solidFill>
              <a:latin typeface="Alegreya"/>
              <a:ea typeface="Alegreya"/>
              <a:cs typeface="Alegreya"/>
              <a:sym typeface="Alegrey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g3f64edb0747_0_186"/>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12</a:t>
            </a:r>
            <a:endParaRPr b="0" i="0" sz="1000" u="none" cap="none" strike="noStrike">
              <a:solidFill>
                <a:srgbClr val="9E9E9E"/>
              </a:solidFill>
              <a:latin typeface="Alegreya"/>
              <a:ea typeface="Alegreya"/>
              <a:cs typeface="Alegreya"/>
              <a:sym typeface="Alegreya"/>
            </a:endParaRPr>
          </a:p>
        </p:txBody>
      </p:sp>
      <p:grpSp>
        <p:nvGrpSpPr>
          <p:cNvPr id="331" name="Google Shape;331;g3f64edb0747_0_186"/>
          <p:cNvGrpSpPr/>
          <p:nvPr/>
        </p:nvGrpSpPr>
        <p:grpSpPr>
          <a:xfrm>
            <a:off x="492000" y="540000"/>
            <a:ext cx="2376000" cy="546000"/>
            <a:chOff x="492000" y="540000"/>
            <a:chExt cx="2376000" cy="546000"/>
          </a:xfrm>
        </p:grpSpPr>
        <p:sp>
          <p:nvSpPr>
            <p:cNvPr id="332" name="Google Shape;332;g3f64edb0747_0_186"/>
            <p:cNvSpPr/>
            <p:nvPr/>
          </p:nvSpPr>
          <p:spPr>
            <a:xfrm>
              <a:off x="492000" y="540000"/>
              <a:ext cx="237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3" name="Google Shape;333;g3f64edb0747_0_186"/>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34" name="Google Shape;334;g3f64edb0747_0_186"/>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0" i="0" lang="zh-TW" sz="3000" u="none" cap="none" strike="noStrike">
                <a:solidFill>
                  <a:schemeClr val="dk1"/>
                </a:solidFill>
                <a:latin typeface="Playfair Display"/>
                <a:ea typeface="Playfair Display"/>
                <a:cs typeface="Playfair Display"/>
                <a:sym typeface="Playfair Display"/>
              </a:rPr>
              <a:t>1</a:t>
            </a:r>
            <a:endParaRPr/>
          </a:p>
        </p:txBody>
      </p:sp>
      <p:grpSp>
        <p:nvGrpSpPr>
          <p:cNvPr id="335" name="Google Shape;335;g3f64edb0747_0_186"/>
          <p:cNvGrpSpPr/>
          <p:nvPr/>
        </p:nvGrpSpPr>
        <p:grpSpPr>
          <a:xfrm>
            <a:off x="492000" y="540000"/>
            <a:ext cx="2856000" cy="546000"/>
            <a:chOff x="492000" y="540000"/>
            <a:chExt cx="2856000" cy="546000"/>
          </a:xfrm>
        </p:grpSpPr>
        <p:sp>
          <p:nvSpPr>
            <p:cNvPr id="336" name="Google Shape;336;g3f64edb0747_0_186"/>
            <p:cNvSpPr/>
            <p:nvPr/>
          </p:nvSpPr>
          <p:spPr>
            <a:xfrm>
              <a:off x="492000" y="540000"/>
              <a:ext cx="285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7" name="Google Shape;337;g3f64edb0747_0_186"/>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38" name="Google Shape;338;g3f64edb0747_0_186"/>
          <p:cNvSpPr txBox="1"/>
          <p:nvPr/>
        </p:nvSpPr>
        <p:spPr>
          <a:xfrm>
            <a:off x="1124721" y="564873"/>
            <a:ext cx="172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zh-TW" sz="2000">
                <a:solidFill>
                  <a:schemeClr val="dk1"/>
                </a:solidFill>
                <a:latin typeface="Alegreya"/>
                <a:ea typeface="Alegreya"/>
                <a:cs typeface="Alegreya"/>
                <a:sym typeface="Alegreya"/>
              </a:rPr>
              <a:t>Recent work</a:t>
            </a:r>
            <a:endParaRPr>
              <a:latin typeface="Alegreya"/>
              <a:ea typeface="Alegreya"/>
              <a:cs typeface="Alegreya"/>
              <a:sym typeface="Alegreya"/>
            </a:endParaRPr>
          </a:p>
        </p:txBody>
      </p:sp>
      <p:sp>
        <p:nvSpPr>
          <p:cNvPr id="339" name="Google Shape;339;g3f64edb0747_0_186"/>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lang="zh-TW" sz="3000">
                <a:solidFill>
                  <a:schemeClr val="dk1"/>
                </a:solidFill>
                <a:latin typeface="Playfair Display"/>
                <a:ea typeface="Playfair Display"/>
                <a:cs typeface="Playfair Display"/>
                <a:sym typeface="Playfair Display"/>
              </a:rPr>
              <a:t>2</a:t>
            </a:r>
            <a:endParaRPr b="0" i="0" sz="3000" u="none" cap="none" strike="noStrike">
              <a:solidFill>
                <a:schemeClr val="dk1"/>
              </a:solidFill>
              <a:latin typeface="Playfair Display"/>
              <a:ea typeface="Playfair Display"/>
              <a:cs typeface="Playfair Display"/>
              <a:sym typeface="Playfair Display"/>
            </a:endParaRPr>
          </a:p>
        </p:txBody>
      </p:sp>
      <p:sp>
        <p:nvSpPr>
          <p:cNvPr id="340" name="Google Shape;340;g3f64edb0747_0_186"/>
          <p:cNvSpPr txBox="1"/>
          <p:nvPr/>
        </p:nvSpPr>
        <p:spPr>
          <a:xfrm>
            <a:off x="812555" y="1214025"/>
            <a:ext cx="6287100" cy="3387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Alegreya"/>
              <a:buChar char="●"/>
            </a:pPr>
            <a:r>
              <a:rPr lang="zh-TW" sz="1600">
                <a:solidFill>
                  <a:schemeClr val="dk1"/>
                </a:solidFill>
                <a:latin typeface="Alegreya"/>
                <a:ea typeface="Alegreya"/>
                <a:cs typeface="Alegreya"/>
                <a:sym typeface="Alegreya"/>
              </a:rPr>
              <a:t>W</a:t>
            </a:r>
            <a:r>
              <a:rPr lang="zh-TW" sz="1600">
                <a:solidFill>
                  <a:schemeClr val="dk1"/>
                </a:solidFill>
                <a:latin typeface="Alegreya"/>
                <a:ea typeface="Alegreya"/>
                <a:cs typeface="Alegreya"/>
                <a:sym typeface="Alegreya"/>
              </a:rPr>
              <a:t>hole-genome  genotype atlas</a:t>
            </a:r>
            <a:endParaRPr i="0" sz="1600" u="none" cap="none" strike="noStrike">
              <a:solidFill>
                <a:srgbClr val="000000"/>
              </a:solidFill>
              <a:latin typeface="Alegreya"/>
              <a:ea typeface="Alegreya"/>
              <a:cs typeface="Alegreya"/>
              <a:sym typeface="Alegreya"/>
            </a:endParaRPr>
          </a:p>
        </p:txBody>
      </p:sp>
      <p:pic>
        <p:nvPicPr>
          <p:cNvPr id="341" name="Google Shape;341;g3f64edb0747_0_186"/>
          <p:cNvPicPr preferRelativeResize="0"/>
          <p:nvPr/>
        </p:nvPicPr>
        <p:blipFill rotWithShape="1">
          <a:blip r:embed="rId3">
            <a:alphaModFix/>
          </a:blip>
          <a:srcRect b="15902" l="0" r="0" t="21343"/>
          <a:stretch/>
        </p:blipFill>
        <p:spPr>
          <a:xfrm>
            <a:off x="677113" y="1552725"/>
            <a:ext cx="10837774" cy="5088625"/>
          </a:xfrm>
          <a:prstGeom prst="rect">
            <a:avLst/>
          </a:prstGeom>
          <a:noFill/>
          <a:ln>
            <a:noFill/>
          </a:ln>
        </p:spPr>
      </p:pic>
      <p:sp>
        <p:nvSpPr>
          <p:cNvPr id="342" name="Google Shape;342;g3f64edb0747_0_186"/>
          <p:cNvSpPr txBox="1"/>
          <p:nvPr/>
        </p:nvSpPr>
        <p:spPr>
          <a:xfrm>
            <a:off x="6203701" y="1214034"/>
            <a:ext cx="6287100" cy="3387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00000"/>
              </a:lnSpc>
              <a:spcBef>
                <a:spcPts val="0"/>
              </a:spcBef>
              <a:spcAft>
                <a:spcPts val="0"/>
              </a:spcAft>
              <a:buClr>
                <a:srgbClr val="000000"/>
              </a:buClr>
              <a:buSzPts val="1600"/>
              <a:buFont typeface="Alegreya"/>
              <a:buChar char="●"/>
            </a:pPr>
            <a:r>
              <a:rPr lang="zh-TW" sz="1600">
                <a:solidFill>
                  <a:schemeClr val="dk1"/>
                </a:solidFill>
                <a:latin typeface="Alegreya"/>
                <a:ea typeface="Alegreya"/>
                <a:cs typeface="Alegreya"/>
                <a:sym typeface="Alegreya"/>
              </a:rPr>
              <a:t>Whole-genome  LD structure atlas</a:t>
            </a:r>
            <a:endParaRPr i="0" sz="1600" u="none" cap="none" strike="noStrike">
              <a:solidFill>
                <a:srgbClr val="000000"/>
              </a:solidFill>
              <a:latin typeface="Alegreya"/>
              <a:ea typeface="Alegreya"/>
              <a:cs typeface="Alegreya"/>
              <a:sym typeface="Alegreya"/>
            </a:endParaRPr>
          </a:p>
        </p:txBody>
      </p:sp>
      <p:sp>
        <p:nvSpPr>
          <p:cNvPr id="343" name="Google Shape;343;g3f64edb0747_0_186"/>
          <p:cNvSpPr txBox="1"/>
          <p:nvPr/>
        </p:nvSpPr>
        <p:spPr>
          <a:xfrm>
            <a:off x="3347999" y="643650"/>
            <a:ext cx="12825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lang="zh-TW" sz="1600">
                <a:solidFill>
                  <a:schemeClr val="accent3"/>
                </a:solidFill>
                <a:latin typeface="Alegreya"/>
                <a:ea typeface="Alegreya"/>
                <a:cs typeface="Alegreya"/>
                <a:sym typeface="Alegreya"/>
              </a:rPr>
              <a:t>( DM-002 )</a:t>
            </a:r>
            <a:endParaRPr i="0" sz="1600" u="none" cap="none" strike="noStrike">
              <a:solidFill>
                <a:schemeClr val="accent3"/>
              </a:solidFill>
              <a:latin typeface="Alegreya"/>
              <a:ea typeface="Alegreya"/>
              <a:cs typeface="Alegreya"/>
              <a:sym typeface="Alegrey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id="349" name="Google Shape;349;g3f64edb0747_0_291"/>
          <p:cNvPicPr preferRelativeResize="0"/>
          <p:nvPr/>
        </p:nvPicPr>
        <p:blipFill>
          <a:blip r:embed="rId3">
            <a:alphaModFix/>
          </a:blip>
          <a:stretch>
            <a:fillRect/>
          </a:stretch>
        </p:blipFill>
        <p:spPr>
          <a:xfrm>
            <a:off x="0" y="549275"/>
            <a:ext cx="12192000" cy="5488770"/>
          </a:xfrm>
          <a:prstGeom prst="rect">
            <a:avLst/>
          </a:prstGeom>
          <a:noFill/>
          <a:ln>
            <a:noFill/>
          </a:ln>
        </p:spPr>
      </p:pic>
      <p:sp>
        <p:nvSpPr>
          <p:cNvPr id="350" name="Google Shape;350;g3f64edb0747_0_291"/>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13</a:t>
            </a:r>
            <a:endParaRPr b="0" i="0" sz="1000" u="none" cap="none" strike="noStrike">
              <a:solidFill>
                <a:srgbClr val="9E9E9E"/>
              </a:solidFill>
              <a:latin typeface="Alegreya"/>
              <a:ea typeface="Alegreya"/>
              <a:cs typeface="Alegreya"/>
              <a:sym typeface="Alegrey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f64edb0747_0_471"/>
          <p:cNvSpPr txBox="1"/>
          <p:nvPr/>
        </p:nvSpPr>
        <p:spPr>
          <a:xfrm>
            <a:off x="11566900" y="6220650"/>
            <a:ext cx="300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lang="zh-TW" sz="1000">
                <a:solidFill>
                  <a:srgbClr val="9E9E9E"/>
                </a:solidFill>
                <a:latin typeface="Alegreya"/>
                <a:ea typeface="Alegreya"/>
                <a:cs typeface="Alegreya"/>
                <a:sym typeface="Alegreya"/>
              </a:rPr>
              <a:t>14</a:t>
            </a:r>
            <a:endParaRPr b="0" i="0" sz="1000" u="none" cap="none" strike="noStrike">
              <a:solidFill>
                <a:srgbClr val="9E9E9E"/>
              </a:solidFill>
              <a:latin typeface="Alegreya"/>
              <a:ea typeface="Alegreya"/>
              <a:cs typeface="Alegreya"/>
              <a:sym typeface="Alegreya"/>
            </a:endParaRPr>
          </a:p>
        </p:txBody>
      </p:sp>
      <p:grpSp>
        <p:nvGrpSpPr>
          <p:cNvPr id="357" name="Google Shape;357;g3f64edb0747_0_471"/>
          <p:cNvGrpSpPr/>
          <p:nvPr/>
        </p:nvGrpSpPr>
        <p:grpSpPr>
          <a:xfrm>
            <a:off x="492000" y="540000"/>
            <a:ext cx="2376000" cy="546000"/>
            <a:chOff x="492000" y="540000"/>
            <a:chExt cx="2376000" cy="546000"/>
          </a:xfrm>
        </p:grpSpPr>
        <p:sp>
          <p:nvSpPr>
            <p:cNvPr id="358" name="Google Shape;358;g3f64edb0747_0_471"/>
            <p:cNvSpPr/>
            <p:nvPr/>
          </p:nvSpPr>
          <p:spPr>
            <a:xfrm>
              <a:off x="492000" y="540000"/>
              <a:ext cx="237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9" name="Google Shape;359;g3f64edb0747_0_471"/>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60" name="Google Shape;360;g3f64edb0747_0_471"/>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0" i="0" lang="zh-TW" sz="3000" u="none" cap="none" strike="noStrike">
                <a:solidFill>
                  <a:schemeClr val="dk1"/>
                </a:solidFill>
                <a:latin typeface="Playfair Display"/>
                <a:ea typeface="Playfair Display"/>
                <a:cs typeface="Playfair Display"/>
                <a:sym typeface="Playfair Display"/>
              </a:rPr>
              <a:t>1</a:t>
            </a:r>
            <a:endParaRPr/>
          </a:p>
        </p:txBody>
      </p:sp>
      <p:grpSp>
        <p:nvGrpSpPr>
          <p:cNvPr id="361" name="Google Shape;361;g3f64edb0747_0_471"/>
          <p:cNvGrpSpPr/>
          <p:nvPr/>
        </p:nvGrpSpPr>
        <p:grpSpPr>
          <a:xfrm>
            <a:off x="492000" y="540000"/>
            <a:ext cx="2856000" cy="546000"/>
            <a:chOff x="492000" y="540000"/>
            <a:chExt cx="2856000" cy="546000"/>
          </a:xfrm>
        </p:grpSpPr>
        <p:sp>
          <p:nvSpPr>
            <p:cNvPr id="362" name="Google Shape;362;g3f64edb0747_0_471"/>
            <p:cNvSpPr/>
            <p:nvPr/>
          </p:nvSpPr>
          <p:spPr>
            <a:xfrm>
              <a:off x="492000" y="540000"/>
              <a:ext cx="2856000"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63" name="Google Shape;363;g3f64edb0747_0_471"/>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64" name="Google Shape;364;g3f64edb0747_0_471"/>
          <p:cNvSpPr txBox="1"/>
          <p:nvPr/>
        </p:nvSpPr>
        <p:spPr>
          <a:xfrm>
            <a:off x="1124721" y="564873"/>
            <a:ext cx="172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zh-TW" sz="2000">
                <a:solidFill>
                  <a:schemeClr val="dk1"/>
                </a:solidFill>
                <a:latin typeface="Alegreya"/>
                <a:ea typeface="Alegreya"/>
                <a:cs typeface="Alegreya"/>
                <a:sym typeface="Alegreya"/>
              </a:rPr>
              <a:t>Future</a:t>
            </a:r>
            <a:r>
              <a:rPr lang="zh-TW" sz="2000">
                <a:solidFill>
                  <a:schemeClr val="dk1"/>
                </a:solidFill>
                <a:latin typeface="Alegreya"/>
                <a:ea typeface="Alegreya"/>
                <a:cs typeface="Alegreya"/>
                <a:sym typeface="Alegreya"/>
              </a:rPr>
              <a:t> work</a:t>
            </a:r>
            <a:endParaRPr>
              <a:latin typeface="Alegreya"/>
              <a:ea typeface="Alegreya"/>
              <a:cs typeface="Alegreya"/>
              <a:sym typeface="Alegreya"/>
            </a:endParaRPr>
          </a:p>
        </p:txBody>
      </p:sp>
      <p:sp>
        <p:nvSpPr>
          <p:cNvPr id="365" name="Google Shape;365;g3f64edb0747_0_471"/>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lang="zh-TW" sz="3000">
                <a:solidFill>
                  <a:schemeClr val="dk1"/>
                </a:solidFill>
                <a:latin typeface="Playfair Display"/>
                <a:ea typeface="Playfair Display"/>
                <a:cs typeface="Playfair Display"/>
                <a:sym typeface="Playfair Display"/>
              </a:rPr>
              <a:t>3</a:t>
            </a:r>
            <a:endParaRPr b="0" i="0" sz="3000" u="none" cap="none" strike="noStrike">
              <a:solidFill>
                <a:schemeClr val="dk1"/>
              </a:solidFill>
              <a:latin typeface="Playfair Display"/>
              <a:ea typeface="Playfair Display"/>
              <a:cs typeface="Playfair Display"/>
              <a:sym typeface="Playfair Display"/>
            </a:endParaRPr>
          </a:p>
        </p:txBody>
      </p:sp>
      <p:sp>
        <p:nvSpPr>
          <p:cNvPr id="366" name="Google Shape;366;g3f64edb0747_0_471"/>
          <p:cNvSpPr txBox="1"/>
          <p:nvPr/>
        </p:nvSpPr>
        <p:spPr>
          <a:xfrm>
            <a:off x="468122" y="1186300"/>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Image construction (Version </a:t>
            </a:r>
            <a:r>
              <a:rPr b="1" lang="zh-TW" sz="1800">
                <a:solidFill>
                  <a:schemeClr val="dk1"/>
                </a:solidFill>
                <a:latin typeface="Alegreya"/>
                <a:ea typeface="Alegreya"/>
                <a:cs typeface="Alegreya"/>
                <a:sym typeface="Alegreya"/>
              </a:rPr>
              <a:t>6</a:t>
            </a:r>
            <a:r>
              <a:rPr b="1" i="0" lang="zh-TW" sz="1800" u="none" cap="none" strike="noStrike">
                <a:solidFill>
                  <a:schemeClr val="dk1"/>
                </a:solidFill>
                <a:latin typeface="Alegreya"/>
                <a:ea typeface="Alegreya"/>
                <a:cs typeface="Alegreya"/>
                <a:sym typeface="Alegreya"/>
              </a:rPr>
              <a:t>)</a:t>
            </a:r>
            <a:endParaRPr>
              <a:latin typeface="Alegreya"/>
              <a:ea typeface="Alegreya"/>
              <a:cs typeface="Alegreya"/>
              <a:sym typeface="Alegreya"/>
            </a:endParaRPr>
          </a:p>
        </p:txBody>
      </p:sp>
      <p:sp>
        <p:nvSpPr>
          <p:cNvPr id="367" name="Google Shape;367;g3f64edb0747_0_471"/>
          <p:cNvSpPr txBox="1"/>
          <p:nvPr/>
        </p:nvSpPr>
        <p:spPr>
          <a:xfrm>
            <a:off x="-1860569" y="7017353"/>
            <a:ext cx="6189900" cy="312600"/>
          </a:xfrm>
          <a:prstGeom prst="rect">
            <a:avLst/>
          </a:prstGeom>
          <a:blipFill rotWithShape="1">
            <a:blip r:embed="rId3">
              <a:alphaModFix/>
            </a:blip>
            <a:stretch>
              <a:fillRect b="-20000" l="-410" r="0" t="-40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zh-TW" sz="1400" u="none" cap="none" strike="noStrike">
                <a:latin typeface="Arial"/>
                <a:ea typeface="Arial"/>
                <a:cs typeface="Arial"/>
                <a:sym typeface="Arial"/>
              </a:rPr>
              <a:t> </a:t>
            </a:r>
            <a:endParaRPr/>
          </a:p>
        </p:txBody>
      </p:sp>
      <p:sp>
        <p:nvSpPr>
          <p:cNvPr id="368" name="Google Shape;368;g3f64edb0747_0_471"/>
          <p:cNvSpPr txBox="1"/>
          <p:nvPr/>
        </p:nvSpPr>
        <p:spPr>
          <a:xfrm>
            <a:off x="-1948425" y="7427300"/>
            <a:ext cx="10676400" cy="228300"/>
          </a:xfrm>
          <a:prstGeom prst="rect">
            <a:avLst/>
          </a:prstGeom>
          <a:blipFill rotWithShape="1">
            <a:blip r:embed="rId4">
              <a:alphaModFix/>
            </a:blip>
            <a:stretch>
              <a:fillRect b="-20000" l="-90" r="0" t="-40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i="0" lang="zh-TW" sz="1600" u="none" cap="none" strike="noStrike">
                <a:latin typeface="Alegreya"/>
                <a:ea typeface="Alegreya"/>
                <a:cs typeface="Alegreya"/>
                <a:sym typeface="Alegreya"/>
              </a:rPr>
              <a:t> </a:t>
            </a:r>
            <a:endParaRPr sz="1600">
              <a:latin typeface="Alegreya"/>
              <a:ea typeface="Alegreya"/>
              <a:cs typeface="Alegreya"/>
              <a:sym typeface="Alegreya"/>
            </a:endParaRPr>
          </a:p>
        </p:txBody>
      </p:sp>
      <p:sp>
        <p:nvSpPr>
          <p:cNvPr id="369" name="Google Shape;369;g3f64edb0747_0_471"/>
          <p:cNvSpPr txBox="1"/>
          <p:nvPr/>
        </p:nvSpPr>
        <p:spPr>
          <a:xfrm>
            <a:off x="-1361916" y="7562328"/>
            <a:ext cx="76053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zh-TW" sz="1600" u="none" cap="none" strike="noStrike">
                <a:solidFill>
                  <a:srgbClr val="000000"/>
                </a:solidFill>
                <a:latin typeface="Alegreya"/>
                <a:ea typeface="Alegreya"/>
                <a:cs typeface="Alegreya"/>
                <a:sym typeface="Alegreya"/>
              </a:rPr>
              <a:t>Version 5 Binary LD structure image → 是否位於LD block </a:t>
            </a:r>
            <a:endParaRPr i="0" sz="1600" u="none" cap="none" strike="noStrike">
              <a:solidFill>
                <a:srgbClr val="000000"/>
              </a:solidFill>
              <a:latin typeface="Alegreya"/>
              <a:ea typeface="Alegreya"/>
              <a:cs typeface="Alegreya"/>
              <a:sym typeface="Alegreya"/>
            </a:endParaRPr>
          </a:p>
          <a:p>
            <a:pPr indent="0" lvl="0" marL="0" marR="0" rtl="0" algn="l">
              <a:lnSpc>
                <a:spcPct val="100000"/>
              </a:lnSpc>
              <a:spcBef>
                <a:spcPts val="0"/>
              </a:spcBef>
              <a:spcAft>
                <a:spcPts val="0"/>
              </a:spcAft>
              <a:buNone/>
            </a:pPr>
            <a:r>
              <a:rPr i="0" lang="zh-TW" sz="1600" u="none" cap="none" strike="noStrike">
                <a:solidFill>
                  <a:srgbClr val="000000"/>
                </a:solidFill>
                <a:latin typeface="Alegreya"/>
                <a:ea typeface="Alegreya"/>
                <a:cs typeface="Alegreya"/>
                <a:sym typeface="Alegreya"/>
              </a:rPr>
              <a:t>Version 6 Continuous LD strength image → 每個SNP與附近SNP的LD強度</a:t>
            </a:r>
            <a:endParaRPr i="0" sz="1600" u="none" cap="none" strike="noStrike">
              <a:solidFill>
                <a:srgbClr val="000000"/>
              </a:solidFill>
              <a:latin typeface="Alegreya"/>
              <a:ea typeface="Alegreya"/>
              <a:cs typeface="Alegreya"/>
              <a:sym typeface="Alegreya"/>
            </a:endParaRPr>
          </a:p>
        </p:txBody>
      </p:sp>
      <p:sp>
        <p:nvSpPr>
          <p:cNvPr id="370" name="Google Shape;370;g3f64edb0747_0_471"/>
          <p:cNvSpPr txBox="1"/>
          <p:nvPr/>
        </p:nvSpPr>
        <p:spPr>
          <a:xfrm>
            <a:off x="-1484380" y="7655588"/>
            <a:ext cx="48222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highlight>
                  <a:srgbClr val="FFFF00"/>
                </a:highlight>
                <a:latin typeface="Arial"/>
                <a:ea typeface="Arial"/>
                <a:cs typeface="Arial"/>
                <a:sym typeface="Arial"/>
              </a:rPr>
              <a:t>未來會把白色定義成ld強度</a:t>
            </a:r>
            <a:endParaRPr b="0" i="0" sz="14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若未來要表達真正的 LD 強度，需要建立連續數值，例如：</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pixel value = 該SNP與附近SNP的平均r²</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但這會是另一種 structure channel。</a:t>
            </a:r>
            <a:endParaRPr/>
          </a:p>
          <a:p>
            <a:pPr indent="0" lvl="0" marL="0" marR="0" rtl="0" algn="l">
              <a:lnSpc>
                <a:spcPct val="100000"/>
              </a:lnSpc>
              <a:spcBef>
                <a:spcPts val="0"/>
              </a:spcBef>
              <a:spcAft>
                <a:spcPts val="0"/>
              </a:spcAft>
              <a:buNone/>
            </a:pPr>
            <a:r>
              <a:t/>
            </a:r>
            <a:endParaRPr b="0" i="0" sz="1400" u="none" cap="none" strike="noStrike">
              <a:solidFill>
                <a:srgbClr val="000000"/>
              </a:solidFill>
              <a:highlight>
                <a:srgbClr val="FFFF00"/>
              </a:highlight>
              <a:latin typeface="Arial"/>
              <a:ea typeface="Arial"/>
              <a:cs typeface="Arial"/>
              <a:sym typeface="Arial"/>
            </a:endParaRPr>
          </a:p>
        </p:txBody>
      </p:sp>
      <p:sp>
        <p:nvSpPr>
          <p:cNvPr id="371" name="Google Shape;371;g3f64edb0747_0_471"/>
          <p:cNvSpPr txBox="1"/>
          <p:nvPr/>
        </p:nvSpPr>
        <p:spPr>
          <a:xfrm>
            <a:off x="763300" y="1759625"/>
            <a:ext cx="6189900" cy="143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zh-TW" sz="1600">
                <a:solidFill>
                  <a:schemeClr val="dk1"/>
                </a:solidFill>
                <a:latin typeface="Alegreya"/>
                <a:ea typeface="Alegreya"/>
                <a:cs typeface="Alegreya"/>
                <a:sym typeface="Alegreya"/>
              </a:rPr>
              <a:t>Version 5- Binary LD structure image</a:t>
            </a:r>
            <a:endParaRPr b="1" sz="1600">
              <a:solidFill>
                <a:schemeClr val="dk1"/>
              </a:solidFill>
              <a:latin typeface="Alegreya"/>
              <a:ea typeface="Alegreya"/>
              <a:cs typeface="Alegreya"/>
              <a:sym typeface="Alegreya"/>
            </a:endParaRPr>
          </a:p>
          <a:p>
            <a:pPr indent="-330200" lvl="0" marL="457200" rtl="0" algn="l">
              <a:lnSpc>
                <a:spcPct val="115000"/>
              </a:lnSpc>
              <a:spcBef>
                <a:spcPts val="120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Indicates whether each SNP is located within an LD-block interval.</a:t>
            </a:r>
            <a:endParaRPr sz="1600">
              <a:solidFill>
                <a:schemeClr val="dk1"/>
              </a:solidFill>
              <a:latin typeface="Alegreya"/>
              <a:ea typeface="Alegreya"/>
              <a:cs typeface="Alegreya"/>
              <a:sym typeface="Alegreya"/>
            </a:endParaRPr>
          </a:p>
          <a:p>
            <a:pPr indent="-330200" lvl="0" marL="457200" rtl="0" algn="l">
              <a:lnSpc>
                <a:spcPct val="115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Pixel values represent the presence or absence of LD structure.</a:t>
            </a:r>
            <a:endParaRPr sz="1600">
              <a:solidFill>
                <a:schemeClr val="dk1"/>
              </a:solidFill>
              <a:latin typeface="Alegreya"/>
              <a:ea typeface="Alegreya"/>
              <a:cs typeface="Alegreya"/>
              <a:sym typeface="Alegreya"/>
            </a:endParaRPr>
          </a:p>
          <a:p>
            <a:pPr indent="-330200" lvl="0" marL="457200" rtl="0" algn="l">
              <a:lnSpc>
                <a:spcPct val="115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Doesn’t directly represent the magnitude of LD.</a:t>
            </a:r>
            <a:endParaRPr sz="1600">
              <a:solidFill>
                <a:schemeClr val="dk1"/>
              </a:solidFill>
              <a:latin typeface="Alegreya"/>
              <a:ea typeface="Alegreya"/>
              <a:cs typeface="Alegreya"/>
              <a:sym typeface="Alegreya"/>
            </a:endParaRPr>
          </a:p>
        </p:txBody>
      </p:sp>
      <p:sp>
        <p:nvSpPr>
          <p:cNvPr id="372" name="Google Shape;372;g3f64edb0747_0_471"/>
          <p:cNvSpPr txBox="1"/>
          <p:nvPr/>
        </p:nvSpPr>
        <p:spPr>
          <a:xfrm>
            <a:off x="763300" y="3398250"/>
            <a:ext cx="11566800" cy="143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zh-TW" sz="1600">
                <a:solidFill>
                  <a:schemeClr val="dk1"/>
                </a:solidFill>
                <a:latin typeface="Alegreya"/>
                <a:ea typeface="Alegreya"/>
                <a:cs typeface="Alegreya"/>
                <a:sym typeface="Alegreya"/>
              </a:rPr>
              <a:t>Version 6 - Continuous LD strength image</a:t>
            </a:r>
            <a:endParaRPr b="1" sz="1600">
              <a:solidFill>
                <a:schemeClr val="dk1"/>
              </a:solidFill>
              <a:latin typeface="Alegreya"/>
              <a:ea typeface="Alegreya"/>
              <a:cs typeface="Alegreya"/>
              <a:sym typeface="Alegreya"/>
            </a:endParaRPr>
          </a:p>
          <a:p>
            <a:pPr indent="-330200" lvl="0" marL="457200" rtl="0" algn="l">
              <a:lnSpc>
                <a:spcPct val="115000"/>
              </a:lnSpc>
              <a:spcBef>
                <a:spcPts val="120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Assigns a continuous LD value to each SNP.</a:t>
            </a:r>
            <a:endParaRPr sz="1600">
              <a:solidFill>
                <a:schemeClr val="dk1"/>
              </a:solidFill>
              <a:latin typeface="Alegreya"/>
              <a:ea typeface="Alegreya"/>
              <a:cs typeface="Alegreya"/>
              <a:sym typeface="Alegreya"/>
            </a:endParaRPr>
          </a:p>
          <a:p>
            <a:pPr indent="-330200" lvl="0" marL="457200" rtl="0" algn="l">
              <a:lnSpc>
                <a:spcPct val="115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Each pixel represents the L</a:t>
            </a:r>
            <a:r>
              <a:rPr lang="zh-TW" sz="1600">
                <a:solidFill>
                  <a:srgbClr val="990000"/>
                </a:solidFill>
                <a:latin typeface="Alegreya"/>
                <a:ea typeface="Alegreya"/>
                <a:cs typeface="Alegreya"/>
                <a:sym typeface="Alegreya"/>
              </a:rPr>
              <a:t>D strength between a SNP and its neighboring variants</a:t>
            </a:r>
            <a:r>
              <a:rPr lang="zh-TW" sz="1600">
                <a:solidFill>
                  <a:schemeClr val="dk1"/>
                </a:solidFill>
                <a:latin typeface="Alegreya"/>
                <a:ea typeface="Alegreya"/>
                <a:cs typeface="Alegreya"/>
                <a:sym typeface="Alegreya"/>
              </a:rPr>
              <a:t>.</a:t>
            </a:r>
            <a:endParaRPr sz="1600">
              <a:solidFill>
                <a:schemeClr val="dk1"/>
              </a:solidFill>
              <a:latin typeface="Alegreya"/>
              <a:ea typeface="Alegreya"/>
              <a:cs typeface="Alegreya"/>
              <a:sym typeface="Alegreya"/>
            </a:endParaRPr>
          </a:p>
          <a:p>
            <a:pPr indent="-330200" lvl="0" marL="457200" rtl="0" algn="l">
              <a:lnSpc>
                <a:spcPct val="115000"/>
              </a:lnSpc>
              <a:spcBef>
                <a:spcPts val="0"/>
              </a:spcBef>
              <a:spcAft>
                <a:spcPts val="0"/>
              </a:spcAft>
              <a:buClr>
                <a:schemeClr val="dk1"/>
              </a:buClr>
              <a:buSzPts val="1600"/>
              <a:buFont typeface="Alegreya"/>
              <a:buChar char="●"/>
            </a:pPr>
            <a:r>
              <a:rPr lang="zh-TW" sz="1600">
                <a:solidFill>
                  <a:schemeClr val="dk1"/>
                </a:solidFill>
                <a:latin typeface="Alegreya"/>
                <a:ea typeface="Alegreya"/>
                <a:cs typeface="Alegreya"/>
                <a:sym typeface="Alegreya"/>
              </a:rPr>
              <a:t>A possible pixel value is the mean pairwise r2r^2r2 between the target SNP and nearby SNPs.</a:t>
            </a:r>
            <a:endParaRPr sz="1600">
              <a:solidFill>
                <a:schemeClr val="dk1"/>
              </a:solidFill>
              <a:latin typeface="Alegreya"/>
              <a:ea typeface="Alegreya"/>
              <a:cs typeface="Alegreya"/>
              <a:sym typeface="Alegrey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id="378" name="Google Shape;378;p18"/>
          <p:cNvPicPr preferRelativeResize="0"/>
          <p:nvPr/>
        </p:nvPicPr>
        <p:blipFill rotWithShape="1">
          <a:blip r:embed="rId3">
            <a:alphaModFix/>
          </a:blip>
          <a:srcRect b="0" l="0" r="80745" t="0"/>
          <a:stretch/>
        </p:blipFill>
        <p:spPr>
          <a:xfrm>
            <a:off x="8014002" y="540000"/>
            <a:ext cx="842099" cy="819050"/>
          </a:xfrm>
          <a:prstGeom prst="rect">
            <a:avLst/>
          </a:prstGeom>
          <a:noFill/>
          <a:ln>
            <a:noFill/>
          </a:ln>
        </p:spPr>
      </p:pic>
      <p:pic>
        <p:nvPicPr>
          <p:cNvPr id="379" name="Google Shape;379;p18"/>
          <p:cNvPicPr preferRelativeResize="0"/>
          <p:nvPr/>
        </p:nvPicPr>
        <p:blipFill rotWithShape="1">
          <a:blip r:embed="rId4">
            <a:alphaModFix/>
          </a:blip>
          <a:srcRect b="0" l="18467" r="0" t="0"/>
          <a:stretch/>
        </p:blipFill>
        <p:spPr>
          <a:xfrm>
            <a:off x="8856100" y="622900"/>
            <a:ext cx="2843900" cy="653250"/>
          </a:xfrm>
          <a:prstGeom prst="rect">
            <a:avLst/>
          </a:prstGeom>
          <a:noFill/>
          <a:ln>
            <a:noFill/>
          </a:ln>
        </p:spPr>
      </p:pic>
      <p:sp>
        <p:nvSpPr>
          <p:cNvPr id="380" name="Google Shape;380;p18"/>
          <p:cNvSpPr/>
          <p:nvPr/>
        </p:nvSpPr>
        <p:spPr>
          <a:xfrm>
            <a:off x="-3322025" y="0"/>
            <a:ext cx="6249300" cy="6858000"/>
          </a:xfrm>
          <a:prstGeom prst="flowChartDelay">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81" name="Google Shape;381;p18"/>
          <p:cNvSpPr txBox="1"/>
          <p:nvPr>
            <p:ph type="ctrTitle"/>
          </p:nvPr>
        </p:nvSpPr>
        <p:spPr>
          <a:xfrm>
            <a:off x="3279650" y="2967825"/>
            <a:ext cx="7905900" cy="1040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6000"/>
              <a:buNone/>
            </a:pPr>
            <a:r>
              <a:rPr lang="zh-TW" sz="6800">
                <a:latin typeface="Pinyon Script"/>
                <a:ea typeface="Pinyon Script"/>
                <a:cs typeface="Pinyon Script"/>
                <a:sym typeface="Pinyon Script"/>
              </a:rPr>
              <a:t>Thanks  for  listening</a:t>
            </a:r>
            <a:endParaRPr sz="6800">
              <a:latin typeface="Pinyon Script"/>
              <a:ea typeface="Pinyon Script"/>
              <a:cs typeface="Pinyon Script"/>
              <a:sym typeface="Pinyon Scrip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6"/>
          <p:cNvSpPr txBox="1"/>
          <p:nvPr/>
        </p:nvSpPr>
        <p:spPr>
          <a:xfrm>
            <a:off x="479425" y="549275"/>
            <a:ext cx="6098700" cy="276900"/>
          </a:xfrm>
          <a:prstGeom prst="rect">
            <a:avLst/>
          </a:prstGeom>
          <a:noFill/>
          <a:ln>
            <a:noFill/>
          </a:ln>
        </p:spPr>
        <p:txBody>
          <a:bodyPr anchorCtr="0" anchor="t" bIns="45700" lIns="91425" spcFirstLastPara="1" rIns="91425" wrap="square" tIns="45700">
            <a:spAutoFit/>
          </a:bodyPr>
          <a:lstStyle/>
          <a:p>
            <a:pPr indent="0" lvl="0" marL="22860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1E4E79"/>
              </a:solidFill>
              <a:latin typeface="Arial"/>
              <a:ea typeface="Arial"/>
              <a:cs typeface="Arial"/>
              <a:sym typeface="Arial"/>
            </a:endParaRPr>
          </a:p>
        </p:txBody>
      </p:sp>
      <p:sp>
        <p:nvSpPr>
          <p:cNvPr id="387" name="Google Shape;387;p26"/>
          <p:cNvSpPr/>
          <p:nvPr/>
        </p:nvSpPr>
        <p:spPr>
          <a:xfrm>
            <a:off x="6578007" y="1348352"/>
            <a:ext cx="4107051" cy="376004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8" name="Google Shape;388;p26"/>
          <p:cNvSpPr/>
          <p:nvPr/>
        </p:nvSpPr>
        <p:spPr>
          <a:xfrm>
            <a:off x="6578006" y="1348352"/>
            <a:ext cx="4107051" cy="3760045"/>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89" name="Google Shape;389;p26"/>
          <p:cNvSpPr/>
          <p:nvPr/>
        </p:nvSpPr>
        <p:spPr>
          <a:xfrm>
            <a:off x="6850250" y="1596325"/>
            <a:ext cx="3564611" cy="3254644"/>
          </a:xfrm>
          <a:prstGeom prst="ellipse">
            <a:avLst/>
          </a:prstGeom>
          <a:solidFill>
            <a:srgbClr val="F7CA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0" name="Google Shape;390;p26"/>
          <p:cNvSpPr/>
          <p:nvPr/>
        </p:nvSpPr>
        <p:spPr>
          <a:xfrm>
            <a:off x="7191214" y="1906292"/>
            <a:ext cx="2882684" cy="2634712"/>
          </a:xfrm>
          <a:prstGeom prst="ellipse">
            <a:avLst/>
          </a:prstGeom>
          <a:solidFill>
            <a:srgbClr val="C4E0B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1" name="Google Shape;391;p26"/>
          <p:cNvSpPr/>
          <p:nvPr/>
        </p:nvSpPr>
        <p:spPr>
          <a:xfrm>
            <a:off x="7516678" y="2216258"/>
            <a:ext cx="2247254" cy="2014779"/>
          </a:xfrm>
          <a:prstGeom prst="ellipse">
            <a:avLst/>
          </a:prstGeom>
          <a:solidFill>
            <a:srgbClr val="D8E2F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2" name="Google Shape;392;p26"/>
          <p:cNvSpPr/>
          <p:nvPr/>
        </p:nvSpPr>
        <p:spPr>
          <a:xfrm>
            <a:off x="7917051" y="2526223"/>
            <a:ext cx="1446508" cy="1394847"/>
          </a:xfrm>
          <a:prstGeom prst="ellipse">
            <a:avLst/>
          </a:prstGeom>
          <a:solidFill>
            <a:srgbClr val="FFF7F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93" name="Google Shape;393;p26"/>
          <p:cNvSpPr txBox="1"/>
          <p:nvPr/>
        </p:nvSpPr>
        <p:spPr>
          <a:xfrm>
            <a:off x="6790841" y="2218446"/>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94" name="Google Shape;394;p26"/>
          <p:cNvSpPr txBox="1"/>
          <p:nvPr/>
        </p:nvSpPr>
        <p:spPr>
          <a:xfrm>
            <a:off x="7067225" y="2370846"/>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395" name="Google Shape;395;p26"/>
          <p:cNvSpPr txBox="1"/>
          <p:nvPr/>
        </p:nvSpPr>
        <p:spPr>
          <a:xfrm>
            <a:off x="7405601" y="2523246"/>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96" name="Google Shape;396;p26"/>
          <p:cNvSpPr txBox="1"/>
          <p:nvPr/>
        </p:nvSpPr>
        <p:spPr>
          <a:xfrm>
            <a:off x="7681985" y="2675646"/>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397" name="Google Shape;397;p26"/>
          <p:cNvSpPr txBox="1"/>
          <p:nvPr/>
        </p:nvSpPr>
        <p:spPr>
          <a:xfrm>
            <a:off x="8035859" y="2828046"/>
            <a:ext cx="44275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MT</a:t>
            </a:r>
            <a:endParaRPr b="0" i="0" sz="1400" u="none" cap="none" strike="noStrike">
              <a:solidFill>
                <a:srgbClr val="000000"/>
              </a:solidFill>
              <a:latin typeface="Arial"/>
              <a:ea typeface="Arial"/>
              <a:cs typeface="Arial"/>
              <a:sym typeface="Arial"/>
            </a:endParaRPr>
          </a:p>
        </p:txBody>
      </p:sp>
      <p:pic>
        <p:nvPicPr>
          <p:cNvPr id="398" name="Google Shape;398;p26"/>
          <p:cNvPicPr preferRelativeResize="0"/>
          <p:nvPr/>
        </p:nvPicPr>
        <p:blipFill rotWithShape="1">
          <a:blip r:embed="rId3">
            <a:alphaModFix/>
          </a:blip>
          <a:srcRect b="0" l="0" r="48731" t="0"/>
          <a:stretch/>
        </p:blipFill>
        <p:spPr>
          <a:xfrm>
            <a:off x="1579650" y="549275"/>
            <a:ext cx="2550195" cy="2879725"/>
          </a:xfrm>
          <a:prstGeom prst="rect">
            <a:avLst/>
          </a:prstGeom>
          <a:noFill/>
          <a:ln>
            <a:noFill/>
          </a:ln>
        </p:spPr>
      </p:pic>
      <p:pic>
        <p:nvPicPr>
          <p:cNvPr id="399" name="Google Shape;399;p26"/>
          <p:cNvPicPr preferRelativeResize="0"/>
          <p:nvPr/>
        </p:nvPicPr>
        <p:blipFill rotWithShape="1">
          <a:blip r:embed="rId3">
            <a:alphaModFix/>
          </a:blip>
          <a:srcRect b="0" l="50485" r="0" t="0"/>
          <a:stretch/>
        </p:blipFill>
        <p:spPr>
          <a:xfrm>
            <a:off x="1706750" y="3687300"/>
            <a:ext cx="2462902" cy="2879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3" name="Shape 403"/>
        <p:cNvGrpSpPr/>
        <p:nvPr/>
      </p:nvGrpSpPr>
      <p:grpSpPr>
        <a:xfrm>
          <a:off x="0" y="0"/>
          <a:ext cx="0" cy="0"/>
          <a:chOff x="0" y="0"/>
          <a:chExt cx="0" cy="0"/>
        </a:xfrm>
      </p:grpSpPr>
      <p:sp>
        <p:nvSpPr>
          <p:cNvPr id="404" name="Google Shape;404;p28"/>
          <p:cNvSpPr txBox="1"/>
          <p:nvPr/>
        </p:nvSpPr>
        <p:spPr>
          <a:xfrm>
            <a:off x="756138" y="756138"/>
            <a:ext cx="89159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Version5</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28"/>
          <p:cNvSpPr txBox="1"/>
          <p:nvPr/>
        </p:nvSpPr>
        <p:spPr>
          <a:xfrm>
            <a:off x="756138" y="1477107"/>
            <a:ext cx="154882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Hilbert curve解釋</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0" name="Shape 410"/>
        <p:cNvGrpSpPr/>
        <p:nvPr/>
      </p:nvGrpSpPr>
      <p:grpSpPr>
        <a:xfrm>
          <a:off x="0" y="0"/>
          <a:ext cx="0" cy="0"/>
          <a:chOff x="0" y="0"/>
          <a:chExt cx="0" cy="0"/>
        </a:xfrm>
      </p:grpSpPr>
      <p:sp>
        <p:nvSpPr>
          <p:cNvPr id="411" name="Google Shape;411;p29"/>
          <p:cNvSpPr txBox="1"/>
          <p:nvPr/>
        </p:nvSpPr>
        <p:spPr>
          <a:xfrm>
            <a:off x="468122" y="1186300"/>
            <a:ext cx="5431200" cy="369300"/>
          </a:xfrm>
          <a:prstGeom prst="rect">
            <a:avLst/>
          </a:prstGeom>
          <a:noFill/>
          <a:ln>
            <a:noFill/>
          </a:ln>
        </p:spPr>
        <p:txBody>
          <a:bodyPr anchorCtr="0" anchor="t" bIns="45700" lIns="91425" spcFirstLastPara="1" rIns="91425" wrap="square" tIns="45700">
            <a:spAutoFit/>
          </a:bodyPr>
          <a:lstStyle/>
          <a:p>
            <a:pPr indent="0" lvl="0" marL="114300" marR="0" rtl="0" algn="l">
              <a:lnSpc>
                <a:spcPct val="150000"/>
              </a:lnSpc>
              <a:spcBef>
                <a:spcPts val="0"/>
              </a:spcBef>
              <a:spcAft>
                <a:spcPts val="0"/>
              </a:spcAft>
              <a:buNone/>
            </a:pPr>
            <a:r>
              <a:rPr b="1" i="0" lang="zh-TW" sz="1800" u="none" cap="none" strike="noStrike">
                <a:solidFill>
                  <a:schemeClr val="dk1"/>
                </a:solidFill>
                <a:latin typeface="Alegreya"/>
                <a:ea typeface="Alegreya"/>
                <a:cs typeface="Alegreya"/>
                <a:sym typeface="Alegreya"/>
              </a:rPr>
              <a:t>|   Image construction (Version 5)</a:t>
            </a:r>
            <a:endParaRPr>
              <a:latin typeface="Alegreya"/>
              <a:ea typeface="Alegreya"/>
              <a:cs typeface="Alegreya"/>
              <a:sym typeface="Alegreya"/>
            </a:endParaRPr>
          </a:p>
        </p:txBody>
      </p:sp>
      <p:grpSp>
        <p:nvGrpSpPr>
          <p:cNvPr id="412" name="Google Shape;412;p29"/>
          <p:cNvGrpSpPr/>
          <p:nvPr/>
        </p:nvGrpSpPr>
        <p:grpSpPr>
          <a:xfrm>
            <a:off x="492000" y="540000"/>
            <a:ext cx="2375892" cy="546000"/>
            <a:chOff x="492000" y="540000"/>
            <a:chExt cx="2375892" cy="546000"/>
          </a:xfrm>
        </p:grpSpPr>
        <p:sp>
          <p:nvSpPr>
            <p:cNvPr id="413" name="Google Shape;413;p29"/>
            <p:cNvSpPr/>
            <p:nvPr/>
          </p:nvSpPr>
          <p:spPr>
            <a:xfrm>
              <a:off x="492000" y="540000"/>
              <a:ext cx="2375892" cy="546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4" name="Google Shape;414;p29"/>
            <p:cNvSpPr/>
            <p:nvPr/>
          </p:nvSpPr>
          <p:spPr>
            <a:xfrm>
              <a:off x="492000" y="540000"/>
              <a:ext cx="584100" cy="546000"/>
            </a:xfrm>
            <a:prstGeom prst="rect">
              <a:avLst/>
            </a:prstGeom>
            <a:solidFill>
              <a:srgbClr val="6FA8D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415" name="Google Shape;415;p29"/>
          <p:cNvSpPr txBox="1"/>
          <p:nvPr/>
        </p:nvSpPr>
        <p:spPr>
          <a:xfrm>
            <a:off x="544650" y="586563"/>
            <a:ext cx="478800" cy="3957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3000"/>
              <a:buFont typeface="Arial"/>
              <a:buNone/>
            </a:pPr>
            <a:r>
              <a:rPr b="0" i="0" lang="zh-TW" sz="3000" u="none" cap="none" strike="noStrike">
                <a:solidFill>
                  <a:schemeClr val="dk1"/>
                </a:solidFill>
                <a:latin typeface="Playfair Display"/>
                <a:ea typeface="Playfair Display"/>
                <a:cs typeface="Playfair Display"/>
                <a:sym typeface="Playfair Display"/>
              </a:rPr>
              <a:t>2</a:t>
            </a:r>
            <a:endParaRPr b="0" i="0" sz="3000" u="none" cap="none" strike="noStrike">
              <a:solidFill>
                <a:schemeClr val="dk1"/>
              </a:solidFill>
              <a:latin typeface="Playfair Display"/>
              <a:ea typeface="Playfair Display"/>
              <a:cs typeface="Playfair Display"/>
              <a:sym typeface="Playfair Display"/>
            </a:endParaRPr>
          </a:p>
        </p:txBody>
      </p:sp>
      <p:sp>
        <p:nvSpPr>
          <p:cNvPr id="416" name="Google Shape;416;p29"/>
          <p:cNvSpPr txBox="1"/>
          <p:nvPr/>
        </p:nvSpPr>
        <p:spPr>
          <a:xfrm>
            <a:off x="1161801" y="533697"/>
            <a:ext cx="1706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i="0" lang="zh-TW" sz="2000" u="none" cap="none" strike="noStrike">
                <a:solidFill>
                  <a:schemeClr val="dk1"/>
                </a:solidFill>
                <a:latin typeface="Alegreya"/>
                <a:ea typeface="Alegreya"/>
                <a:cs typeface="Alegreya"/>
                <a:sym typeface="Alegreya"/>
              </a:rPr>
              <a:t>Recent work</a:t>
            </a:r>
            <a:endParaRPr>
              <a:latin typeface="Alegreya"/>
              <a:ea typeface="Alegreya"/>
              <a:cs typeface="Alegreya"/>
              <a:sym typeface="Alegreya"/>
            </a:endParaRPr>
          </a:p>
        </p:txBody>
      </p:sp>
      <p:sp>
        <p:nvSpPr>
          <p:cNvPr id="417" name="Google Shape;417;p29"/>
          <p:cNvSpPr txBox="1"/>
          <p:nvPr/>
        </p:nvSpPr>
        <p:spPr>
          <a:xfrm>
            <a:off x="11566900" y="6220650"/>
            <a:ext cx="3000000" cy="415468"/>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r>
              <a:rPr b="0" i="0" lang="zh-TW" sz="1000" u="none" cap="none" strike="noStrike">
                <a:solidFill>
                  <a:srgbClr val="9E9E9E"/>
                </a:solidFill>
                <a:latin typeface="Alegreya"/>
                <a:ea typeface="Alegreya"/>
                <a:cs typeface="Alegreya"/>
                <a:sym typeface="Alegreya"/>
              </a:rPr>
              <a:t>5</a:t>
            </a:r>
            <a:endParaRPr b="0" i="0" sz="1000" u="none" cap="none" strike="noStrike">
              <a:solidFill>
                <a:srgbClr val="9E9E9E"/>
              </a:solidFill>
              <a:latin typeface="Alegreya"/>
              <a:ea typeface="Alegreya"/>
              <a:cs typeface="Alegreya"/>
              <a:sym typeface="Alegreya"/>
            </a:endParaRPr>
          </a:p>
        </p:txBody>
      </p:sp>
      <p:sp>
        <p:nvSpPr>
          <p:cNvPr id="418" name="Google Shape;418;p29"/>
          <p:cNvSpPr txBox="1"/>
          <p:nvPr/>
        </p:nvSpPr>
        <p:spPr>
          <a:xfrm>
            <a:off x="610238" y="1715609"/>
            <a:ext cx="9638662" cy="116782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600"/>
              <a:buFont typeface="Arial"/>
              <a:buChar char="•"/>
            </a:pPr>
            <a:r>
              <a:rPr b="0" i="0" lang="zh-TW" sz="1600" u="none" cap="none" strike="noStrike">
                <a:solidFill>
                  <a:srgbClr val="000000"/>
                </a:solidFill>
                <a:latin typeface="Arial"/>
                <a:ea typeface="Arial"/>
                <a:cs typeface="Arial"/>
                <a:sym typeface="Arial"/>
              </a:rPr>
              <a:t>Purpose  : </a:t>
            </a:r>
            <a:endParaRPr/>
          </a:p>
          <a:p>
            <a:pPr indent="0" lvl="0" marL="0" marR="0" rtl="0" algn="l">
              <a:lnSpc>
                <a:spcPct val="15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rgbClr val="000000"/>
              </a:buClr>
              <a:buSzPts val="1600"/>
              <a:buFont typeface="Arial"/>
              <a:buChar char="•"/>
            </a:pPr>
            <a:r>
              <a:rPr b="0" i="0" lang="zh-TW" sz="1600" u="none" cap="none" strike="noStrike">
                <a:solidFill>
                  <a:srgbClr val="000000"/>
                </a:solidFill>
                <a:latin typeface="Arial"/>
                <a:ea typeface="Arial"/>
                <a:cs typeface="Arial"/>
                <a:sym typeface="Arial"/>
              </a:rPr>
              <a:t>SNP : 618563</a:t>
            </a:r>
            <a:endParaRPr/>
          </a:p>
        </p:txBody>
      </p:sp>
      <p:sp>
        <p:nvSpPr>
          <p:cNvPr id="419" name="Google Shape;419;p29"/>
          <p:cNvSpPr txBox="1"/>
          <p:nvPr/>
        </p:nvSpPr>
        <p:spPr>
          <a:xfrm>
            <a:off x="610238" y="2935473"/>
            <a:ext cx="9638662" cy="42915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600"/>
              <a:buFont typeface="Arial"/>
              <a:buChar char="•"/>
            </a:pPr>
            <a:r>
              <a:rPr b="0" i="0" lang="zh-TW" sz="1600" u="none" cap="none" strike="noStrike">
                <a:solidFill>
                  <a:srgbClr val="000000"/>
                </a:solidFill>
                <a:latin typeface="Arial"/>
                <a:ea typeface="Arial"/>
                <a:cs typeface="Arial"/>
                <a:sym typeface="Arial"/>
              </a:rPr>
              <a:t>Steps :</a:t>
            </a:r>
            <a:endParaRPr b="0" i="0" sz="1600" u="none" cap="none" strike="noStrike">
              <a:solidFill>
                <a:srgbClr val="000000"/>
              </a:solidFill>
              <a:latin typeface="Arial"/>
              <a:ea typeface="Arial"/>
              <a:cs typeface="Arial"/>
              <a:sym typeface="Arial"/>
            </a:endParaRPr>
          </a:p>
        </p:txBody>
      </p:sp>
      <p:sp>
        <p:nvSpPr>
          <p:cNvPr id="420" name="Google Shape;420;p29"/>
          <p:cNvSpPr txBox="1"/>
          <p:nvPr/>
        </p:nvSpPr>
        <p:spPr>
          <a:xfrm>
            <a:off x="1023450" y="4527093"/>
            <a:ext cx="728345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依照染色體座標排序：setorder(snp_v5,chr_order_v5,</a:t>
            </a:r>
            <a:r>
              <a:rPr b="0" i="0" lang="zh-TW" sz="1400" u="none" cap="none" strike="noStrike">
                <a:solidFill>
                  <a:schemeClr val="accent1"/>
                </a:solidFill>
                <a:latin typeface="Arial"/>
                <a:ea typeface="Arial"/>
                <a:cs typeface="Arial"/>
                <a:sym typeface="Arial"/>
              </a:rPr>
              <a:t>Start</a:t>
            </a:r>
            <a:r>
              <a:rPr b="0" i="0" lang="zh-TW" sz="1400" u="none" cap="none" strike="noStrike">
                <a:solidFill>
                  <a:srgbClr val="000000"/>
                </a:solidFill>
                <a:latin typeface="Arial"/>
                <a:ea typeface="Arial"/>
                <a:cs typeface="Arial"/>
                <a:sym typeface="Arial"/>
              </a:rPr>
              <a:t>,</a:t>
            </a:r>
            <a:r>
              <a:rPr b="0" i="0" lang="zh-TW" sz="1400" u="none" cap="none" strike="noStrike">
                <a:solidFill>
                  <a:schemeClr val="accent1"/>
                </a:solidFill>
                <a:latin typeface="Arial"/>
                <a:ea typeface="Arial"/>
                <a:cs typeface="Arial"/>
                <a:sym typeface="Arial"/>
              </a:rPr>
              <a:t>probeset_id</a:t>
            </a:r>
            <a:r>
              <a:rPr b="0" i="0" lang="zh-TW"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建立hilbert_index：Hilbert index 不等於 bp 距離 只是將SNP 的前後順序保留</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排列：</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每條染色體使用相同的 Hilbert 演算法與遞迴規則且沒有進行旋轉等調整，</a:t>
            </a:r>
            <a:endParaRPr b="0" i="0" sz="1400" u="none" cap="none" strike="noStrike">
              <a:solidFill>
                <a:srgbClr val="000000"/>
              </a:solidFill>
              <a:latin typeface="Arial"/>
              <a:ea typeface="Arial"/>
              <a:cs typeface="Arial"/>
              <a:sym typeface="Arial"/>
            </a:endParaRPr>
          </a:p>
        </p:txBody>
      </p:sp>
      <p:sp>
        <p:nvSpPr>
          <p:cNvPr id="421" name="Google Shape;421;p29"/>
          <p:cNvSpPr txBox="1"/>
          <p:nvPr/>
        </p:nvSpPr>
        <p:spPr>
          <a:xfrm>
            <a:off x="2971800" y="2124621"/>
            <a:ext cx="6731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影像分層</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Hilbert curve:相鄰像素可保留SNP的順序關係</a:t>
            </a:r>
            <a:endParaRPr b="0" i="0" sz="1400" u="none" cap="none" strike="noStrike">
              <a:solidFill>
                <a:srgbClr val="000000"/>
              </a:solidFill>
              <a:latin typeface="Arial"/>
              <a:ea typeface="Arial"/>
              <a:cs typeface="Arial"/>
              <a:sym typeface="Arial"/>
            </a:endParaRPr>
          </a:p>
        </p:txBody>
      </p:sp>
      <p:sp>
        <p:nvSpPr>
          <p:cNvPr id="422" name="Google Shape;422;p29"/>
          <p:cNvSpPr txBox="1"/>
          <p:nvPr/>
        </p:nvSpPr>
        <p:spPr>
          <a:xfrm>
            <a:off x="6331000" y="5638800"/>
            <a:ext cx="7835799"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第二層</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白色區域：</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此區域被辨識為一個可能具有連鎖不平衡結構的基因組區段，其中的 SNP 傾向不是完全獨立遺傳</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SNP 位於某個 LD block 的 BP1–BP2 區間內</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灰色：真實 SNP，但不位於偵測到的 LD block 區間內</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黑色：padding/染色體之間的gep 不是真實的snp</a:t>
            </a:r>
            <a:endParaRPr b="0" i="0" sz="1400" u="none" cap="none" strike="noStrike">
              <a:solidFill>
                <a:srgbClr val="000000"/>
              </a:solidFill>
              <a:latin typeface="Arial"/>
              <a:ea typeface="Arial"/>
              <a:cs typeface="Arial"/>
              <a:sym typeface="Arial"/>
            </a:endParaRPr>
          </a:p>
        </p:txBody>
      </p:sp>
      <p:sp>
        <p:nvSpPr>
          <p:cNvPr id="423" name="Google Shape;423;p29"/>
          <p:cNvSpPr txBox="1"/>
          <p:nvPr/>
        </p:nvSpPr>
        <p:spPr>
          <a:xfrm>
            <a:off x="10677525" y="2242975"/>
            <a:ext cx="728345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zh-TW" sz="1400" u="none" cap="none" strike="noStrike">
                <a:solidFill>
                  <a:srgbClr val="000000"/>
                </a:solidFill>
                <a:latin typeface="Arial"/>
                <a:ea typeface="Arial"/>
                <a:cs typeface="Arial"/>
                <a:sym typeface="Arial"/>
              </a:rPr>
              <a:t>LD structure map</a:t>
            </a:r>
            <a:endParaRPr/>
          </a:p>
          <a:p>
            <a:pPr indent="-342900" lvl="0" marL="342900" marR="0" rtl="0" algn="l">
              <a:lnSpc>
                <a:spcPct val="100000"/>
              </a:lnSpc>
              <a:spcBef>
                <a:spcPts val="0"/>
              </a:spcBef>
              <a:spcAft>
                <a:spcPts val="0"/>
              </a:spcAft>
              <a:buClr>
                <a:srgbClr val="000000"/>
              </a:buClr>
              <a:buSzPts val="1400"/>
              <a:buFont typeface="Arial"/>
              <a:buChar char="•"/>
            </a:pPr>
            <a:r>
              <a:rPr b="0" i="0" lang="zh-TW" sz="1400" u="none" cap="none" strike="noStrike">
                <a:solidFill>
                  <a:srgbClr val="000000"/>
                </a:solidFill>
                <a:latin typeface="Arial"/>
                <a:ea typeface="Arial"/>
                <a:cs typeface="Arial"/>
                <a:sym typeface="Arial"/>
              </a:rPr>
              <a:t>White pixels: SNPs located within detected LD block intervals. </a:t>
            </a:r>
            <a:endParaRPr/>
          </a:p>
          <a:p>
            <a:pPr indent="-342900" lvl="0" marL="342900" marR="0" rtl="0" algn="l">
              <a:lnSpc>
                <a:spcPct val="100000"/>
              </a:lnSpc>
              <a:spcBef>
                <a:spcPts val="0"/>
              </a:spcBef>
              <a:spcAft>
                <a:spcPts val="0"/>
              </a:spcAft>
              <a:buClr>
                <a:srgbClr val="000000"/>
              </a:buClr>
              <a:buSzPts val="1400"/>
              <a:buFont typeface="Arial"/>
              <a:buChar char="•"/>
            </a:pPr>
            <a:r>
              <a:rPr b="0" i="0" lang="zh-TW" sz="1400" u="none" cap="none" strike="noStrike">
                <a:solidFill>
                  <a:srgbClr val="000000"/>
                </a:solidFill>
                <a:latin typeface="Arial"/>
                <a:ea typeface="Arial"/>
                <a:cs typeface="Arial"/>
                <a:sym typeface="Arial"/>
              </a:rPr>
              <a:t>Gray pixels: valid SNPs outside detected LD block intervals. </a:t>
            </a:r>
            <a:endParaRPr/>
          </a:p>
          <a:p>
            <a:pPr indent="-342900" lvl="0" marL="342900" marR="0" rtl="0" algn="l">
              <a:lnSpc>
                <a:spcPct val="100000"/>
              </a:lnSpc>
              <a:spcBef>
                <a:spcPts val="0"/>
              </a:spcBef>
              <a:spcAft>
                <a:spcPts val="0"/>
              </a:spcAft>
              <a:buClr>
                <a:srgbClr val="000000"/>
              </a:buClr>
              <a:buSzPts val="1400"/>
              <a:buFont typeface="Arial"/>
              <a:buChar char="•"/>
            </a:pPr>
            <a:r>
              <a:rPr b="0" i="0" lang="zh-TW" sz="1400" u="none" cap="none" strike="noStrike">
                <a:solidFill>
                  <a:srgbClr val="000000"/>
                </a:solidFill>
                <a:latin typeface="Arial"/>
                <a:ea typeface="Arial"/>
                <a:cs typeface="Arial"/>
                <a:sym typeface="Arial"/>
              </a:rPr>
              <a:t>Black pixels: padding or inter-chromosomal gaps. </a:t>
            </a:r>
            <a:endParaRPr/>
          </a:p>
          <a:p>
            <a:pPr indent="-342900" lvl="0" marL="342900" marR="0" rtl="0" algn="l">
              <a:lnSpc>
                <a:spcPct val="100000"/>
              </a:lnSpc>
              <a:spcBef>
                <a:spcPts val="0"/>
              </a:spcBef>
              <a:spcAft>
                <a:spcPts val="0"/>
              </a:spcAft>
              <a:buClr>
                <a:srgbClr val="000000"/>
              </a:buClr>
              <a:buSzPts val="1400"/>
              <a:buFont typeface="Arial"/>
              <a:buChar char="•"/>
            </a:pPr>
            <a:r>
              <a:rPr b="0" i="0" lang="zh-TW" sz="1400" u="none" cap="none" strike="noStrike">
                <a:solidFill>
                  <a:srgbClr val="000000"/>
                </a:solidFill>
                <a:latin typeface="Arial"/>
                <a:ea typeface="Arial"/>
                <a:cs typeface="Arial"/>
                <a:sym typeface="Arial"/>
              </a:rPr>
              <a:t>The map represents the </a:t>
            </a:r>
            <a:r>
              <a:rPr b="1" i="0" lang="zh-TW" sz="1400" u="none" cap="none" strike="noStrike">
                <a:solidFill>
                  <a:srgbClr val="000000"/>
                </a:solidFill>
                <a:latin typeface="Arial"/>
                <a:ea typeface="Arial"/>
                <a:cs typeface="Arial"/>
                <a:sym typeface="Arial"/>
              </a:rPr>
              <a:t>location of LD structure</a:t>
            </a:r>
            <a:r>
              <a:rPr b="0" i="0" lang="zh-TW" sz="1400" u="none" cap="none" strike="noStrike">
                <a:solidFill>
                  <a:srgbClr val="000000"/>
                </a:solidFill>
                <a:latin typeface="Arial"/>
                <a:ea typeface="Arial"/>
                <a:cs typeface="Arial"/>
                <a:sym typeface="Arial"/>
              </a:rPr>
              <a:t>, not continuous pairwise LD strength.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8" name="Shape 428"/>
        <p:cNvGrpSpPr/>
        <p:nvPr/>
      </p:nvGrpSpPr>
      <p:grpSpPr>
        <a:xfrm>
          <a:off x="0" y="0"/>
          <a:ext cx="0" cy="0"/>
          <a:chOff x="0" y="0"/>
          <a:chExt cx="0" cy="0"/>
        </a:xfrm>
      </p:grpSpPr>
      <p:sp>
        <p:nvSpPr>
          <p:cNvPr id="429" name="Google Shape;429;p30"/>
          <p:cNvSpPr txBox="1"/>
          <p:nvPr/>
        </p:nvSpPr>
        <p:spPr>
          <a:xfrm>
            <a:off x="479425" y="720969"/>
            <a:ext cx="4129657"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利用chr6呈現 因為他的ld block比較多</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可以檢查：</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1. Hilbert 座標</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2. genotype 與 LD mask 是否落在完全相同的位置</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3. padding 是否和真實 SNP 分開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兩張圖可知：</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左圖同一個位置：受試者的nucleotide genotype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右圖同一個位置：該SNP是否位於LD interval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黑色區域：Hilbert tile中的padding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30" name="Google Shape;430;p30"/>
          <p:cNvPicPr preferRelativeResize="0"/>
          <p:nvPr/>
        </p:nvPicPr>
        <p:blipFill rotWithShape="1">
          <a:blip r:embed="rId3">
            <a:alphaModFix/>
          </a:blip>
          <a:srcRect b="0" l="0" r="0" t="0"/>
          <a:stretch/>
        </p:blipFill>
        <p:spPr>
          <a:xfrm>
            <a:off x="479425" y="3183182"/>
            <a:ext cx="6371492" cy="2728976"/>
          </a:xfrm>
          <a:prstGeom prst="rect">
            <a:avLst/>
          </a:prstGeom>
          <a:noFill/>
          <a:ln>
            <a:noFill/>
          </a:ln>
        </p:spPr>
      </p:pic>
      <p:sp>
        <p:nvSpPr>
          <p:cNvPr id="431" name="Google Shape;431;p30"/>
          <p:cNvSpPr txBox="1"/>
          <p:nvPr/>
        </p:nvSpPr>
        <p:spPr>
          <a:xfrm>
            <a:off x="4101758" y="5912158"/>
            <a:ext cx="996619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白色形成數個不規則的小區塊，表示連續基因組位置經 Hilbert curve 折疊後，仍傾向形成局部聚集</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SNP 的實體位置落在 PLINK LD block 的 BP1(ld block1起始位置)–BP2(ld block 結束位置) 範圍內 (bp=base pair鹼基對位置)</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有 632 個 LD blocks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LD mask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lphaUcPeriod"/>
            </a:pPr>
            <a:r>
              <a:rPr b="0" i="0" lang="zh-TW" sz="1400" u="none" cap="none" strike="noStrike">
                <a:solidFill>
                  <a:srgbClr val="000000"/>
                </a:solidFill>
                <a:latin typeface="Arial"/>
                <a:ea typeface="Arial"/>
                <a:cs typeface="Arial"/>
                <a:sym typeface="Arial"/>
              </a:rPr>
              <a:t>LD_member_mask：1：這個SNP被PLINK明確列在block的SNPS清單內  0：沒有被PLINK列為block member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lphaUcPeriod"/>
            </a:pPr>
            <a:r>
              <a:rPr b="0" i="0" lang="zh-TW" sz="1400" u="none" cap="none" strike="noStrike">
                <a:solidFill>
                  <a:srgbClr val="000000"/>
                </a:solidFill>
                <a:latin typeface="Arial"/>
                <a:ea typeface="Arial"/>
                <a:cs typeface="Arial"/>
                <a:sym typeface="Arial"/>
              </a:rPr>
              <a:t>LD_interval_mask：1：這個SNP的位置落在某個LD block的BP1–BP2範圍內  0：位於所有LD block區間之外</a:t>
            </a:r>
            <a:endParaRPr b="0" i="0" sz="1400" u="none" cap="none" strike="noStrike">
              <a:solidFill>
                <a:srgbClr val="000000"/>
              </a:solidFill>
              <a:latin typeface="Arial"/>
              <a:ea typeface="Arial"/>
              <a:cs typeface="Arial"/>
              <a:sym typeface="Arial"/>
            </a:endParaRPr>
          </a:p>
        </p:txBody>
      </p:sp>
      <p:sp>
        <p:nvSpPr>
          <p:cNvPr id="432" name="Google Shape;432;p30"/>
          <p:cNvSpPr txBox="1"/>
          <p:nvPr/>
        </p:nvSpPr>
        <p:spPr>
          <a:xfrm>
            <a:off x="6749617" y="3465513"/>
            <a:ext cx="6646984"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黑色：padding，不是真實SNP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灰色：真實SNP，但不在LD block interval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白色：真實SNP，且位於LD block interval</a:t>
            </a:r>
            <a:endParaRPr b="0" i="0" sz="1400" u="none" cap="none" strike="noStrike">
              <a:solidFill>
                <a:srgbClr val="000000"/>
              </a:solidFill>
              <a:latin typeface="Arial"/>
              <a:ea typeface="Arial"/>
              <a:cs typeface="Arial"/>
              <a:sym typeface="Arial"/>
            </a:endParaRPr>
          </a:p>
        </p:txBody>
      </p:sp>
      <p:sp>
        <p:nvSpPr>
          <p:cNvPr id="433" name="Google Shape;433;p30"/>
          <p:cNvSpPr txBox="1"/>
          <p:nvPr/>
        </p:nvSpPr>
        <p:spPr>
          <a:xfrm>
            <a:off x="10710032" y="3465513"/>
            <a:ext cx="4822154"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highlight>
                  <a:srgbClr val="FFFF00"/>
                </a:highlight>
                <a:latin typeface="Arial"/>
                <a:ea typeface="Arial"/>
                <a:cs typeface="Arial"/>
                <a:sym typeface="Arial"/>
              </a:rPr>
              <a:t>未來會把白色定義成ld強度</a:t>
            </a:r>
            <a:endParaRPr b="0" i="0" sz="14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若未來要表達真正的 LD 強度，需要建立連續數值，例如：</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pixel value = 該SNP與附近SNP的平均r²</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但這會是另一種 structure channel。</a:t>
            </a:r>
            <a:endParaRPr/>
          </a:p>
          <a:p>
            <a:pPr indent="0" lvl="0" marL="0" marR="0" rtl="0" algn="l">
              <a:lnSpc>
                <a:spcPct val="100000"/>
              </a:lnSpc>
              <a:spcBef>
                <a:spcPts val="0"/>
              </a:spcBef>
              <a:spcAft>
                <a:spcPts val="0"/>
              </a:spcAft>
              <a:buNone/>
            </a:pPr>
            <a:r>
              <a:t/>
            </a:r>
            <a:endParaRPr b="0" i="0" sz="1400" u="none" cap="none" strike="noStrike">
              <a:solidFill>
                <a:srgbClr val="000000"/>
              </a:solidFill>
              <a:highlight>
                <a:srgbClr val="FFFF00"/>
              </a:highlight>
              <a:latin typeface="Arial"/>
              <a:ea typeface="Arial"/>
              <a:cs typeface="Arial"/>
              <a:sym typeface="Arial"/>
            </a:endParaRPr>
          </a:p>
        </p:txBody>
      </p:sp>
      <p:sp>
        <p:nvSpPr>
          <p:cNvPr id="434" name="Google Shape;434;p30"/>
          <p:cNvSpPr txBox="1"/>
          <p:nvPr/>
        </p:nvSpPr>
        <p:spPr>
          <a:xfrm>
            <a:off x="6216217" y="720969"/>
            <a:ext cx="677881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座標地圖的概念：</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Snp放在row=25 col=73 則四個矩陣 不會把四個資訊混在一起 而是四個對其的圖層</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zh-TW" sz="1400" u="none" cap="none" strike="noStrike">
                <a:solidFill>
                  <a:srgbClr val="000000"/>
                </a:solidFill>
                <a:latin typeface="Arial"/>
                <a:ea typeface="Arial"/>
                <a:cs typeface="Arial"/>
                <a:sym typeface="Arial"/>
              </a:rPr>
              <a:t>genotype_matrix[25,73] = 3 → 這位受試者在該SNP是A/G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zh-TW" sz="1400" u="none" cap="none" strike="noStrike">
                <a:solidFill>
                  <a:srgbClr val="000000"/>
                </a:solidFill>
                <a:latin typeface="Arial"/>
                <a:ea typeface="Arial"/>
                <a:cs typeface="Arial"/>
                <a:sym typeface="Arial"/>
              </a:rPr>
              <a:t>valid_snp_matrix[25,73] = 1 → 這裡是真實SNP，不是padding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zh-TW" sz="1400" u="none" cap="none" strike="noStrike">
                <a:solidFill>
                  <a:srgbClr val="000000"/>
                </a:solidFill>
                <a:latin typeface="Arial"/>
                <a:ea typeface="Arial"/>
                <a:cs typeface="Arial"/>
                <a:sym typeface="Arial"/>
              </a:rPr>
              <a:t>ld_interval_matrix[25,73] = 1 → 該SNP位於LD block interval內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0" i="0" lang="zh-TW" sz="1400" u="none" cap="none" strike="noStrike">
                <a:solidFill>
                  <a:srgbClr val="000000"/>
                </a:solidFill>
                <a:latin typeface="Arial"/>
                <a:ea typeface="Arial"/>
                <a:cs typeface="Arial"/>
                <a:sym typeface="Arial"/>
              </a:rPr>
              <a:t>mt_matrix[25,73] = 0 → 該SNP不屬於MT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435" name="Google Shape;435;p30"/>
          <p:cNvPicPr preferRelativeResize="0"/>
          <p:nvPr/>
        </p:nvPicPr>
        <p:blipFill rotWithShape="1">
          <a:blip r:embed="rId4">
            <a:alphaModFix/>
          </a:blip>
          <a:srcRect b="0" l="0" r="0" t="0"/>
          <a:stretch/>
        </p:blipFill>
        <p:spPr>
          <a:xfrm>
            <a:off x="4419600" y="7364040"/>
            <a:ext cx="7772400" cy="156184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0" name="Shape 440"/>
        <p:cNvGrpSpPr/>
        <p:nvPr/>
      </p:nvGrpSpPr>
      <p:grpSpPr>
        <a:xfrm>
          <a:off x="0" y="0"/>
          <a:ext cx="0" cy="0"/>
          <a:chOff x="0" y="0"/>
          <a:chExt cx="0" cy="0"/>
        </a:xfrm>
      </p:grpSpPr>
      <p:sp>
        <p:nvSpPr>
          <p:cNvPr id="441" name="Google Shape;441;p31"/>
          <p:cNvSpPr txBox="1"/>
          <p:nvPr/>
        </p:nvSpPr>
        <p:spPr>
          <a:xfrm>
            <a:off x="826477" y="1253273"/>
            <a:ext cx="6098344"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輸入： 一條染色體＋一位樣本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擷取該染色體的SNP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取得tile大小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將該樣本的nucleotide genotype轉成數值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取得每個SNP的Hilbert row與column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建立5張大小相同的矩陣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將genotype、LD、MT放入相同座標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回傳5張對齊矩陣</a:t>
            </a:r>
            <a:endParaRPr b="0" i="0" sz="1400" u="none" cap="none" strike="noStrike">
              <a:solidFill>
                <a:srgbClr val="000000"/>
              </a:solidFill>
              <a:latin typeface="Arial"/>
              <a:ea typeface="Arial"/>
              <a:cs typeface="Arial"/>
              <a:sym typeface="Arial"/>
            </a:endParaRPr>
          </a:p>
        </p:txBody>
      </p:sp>
      <p:pic>
        <p:nvPicPr>
          <p:cNvPr id="442" name="Google Shape;442;p31"/>
          <p:cNvPicPr preferRelativeResize="0"/>
          <p:nvPr/>
        </p:nvPicPr>
        <p:blipFill rotWithShape="1">
          <a:blip r:embed="rId3">
            <a:alphaModFix/>
          </a:blip>
          <a:srcRect b="0" l="0" r="0" t="0"/>
          <a:stretch/>
        </p:blipFill>
        <p:spPr>
          <a:xfrm>
            <a:off x="6165300" y="1977375"/>
            <a:ext cx="7734152" cy="5786526"/>
          </a:xfrm>
          <a:prstGeom prst="rect">
            <a:avLst/>
          </a:prstGeom>
          <a:noFill/>
          <a:ln>
            <a:noFill/>
          </a:ln>
        </p:spPr>
      </p:pic>
      <p:sp>
        <p:nvSpPr>
          <p:cNvPr id="443" name="Google Shape;443;p31"/>
          <p:cNvSpPr txBox="1"/>
          <p:nvPr/>
        </p:nvSpPr>
        <p:spPr>
          <a:xfrm>
            <a:off x="3221502" y="5458265"/>
            <a:ext cx="215956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highlight>
                  <a:srgbClr val="FFFF00"/>
                </a:highlight>
                <a:latin typeface="Arial"/>
                <a:ea typeface="Arial"/>
                <a:cs typeface="Arial"/>
                <a:sym typeface="Arial"/>
              </a:rPr>
              <a:t>搞懂語法、如何排列出來</a:t>
            </a:r>
            <a:endParaRPr/>
          </a:p>
        </p:txBody>
      </p:sp>
      <p:sp>
        <p:nvSpPr>
          <p:cNvPr id="444" name="Google Shape;444;p31"/>
          <p:cNvSpPr txBox="1"/>
          <p:nvPr/>
        </p:nvSpPr>
        <p:spPr>
          <a:xfrm>
            <a:off x="618979" y="241498"/>
            <a:ext cx="47147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whole-genome chromosome atlas全基因染色體組圖譜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9" name="Shape 449"/>
        <p:cNvGrpSpPr/>
        <p:nvPr/>
      </p:nvGrpSpPr>
      <p:grpSpPr>
        <a:xfrm>
          <a:off x="0" y="0"/>
          <a:ext cx="0" cy="0"/>
          <a:chOff x="0" y="0"/>
          <a:chExt cx="0" cy="0"/>
        </a:xfrm>
      </p:grpSpPr>
      <p:sp>
        <p:nvSpPr>
          <p:cNvPr id="450" name="Google Shape;450;p32"/>
          <p:cNvSpPr txBox="1"/>
          <p:nvPr/>
        </p:nvSpPr>
        <p:spPr>
          <a:xfrm>
            <a:off x="634170" y="675249"/>
            <a:ext cx="3825086"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排法：先建立染色體派法 在分染色體區塊排列</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Step1:每條染色體各自建立 Hilbert tile。 </a:t>
            </a:r>
            <a:endParaRPr/>
          </a:p>
        </p:txBody>
      </p:sp>
      <p:sp>
        <p:nvSpPr>
          <p:cNvPr id="451" name="Google Shape;451;p32"/>
          <p:cNvSpPr txBox="1"/>
          <p:nvPr/>
        </p:nvSpPr>
        <p:spPr>
          <a:xfrm>
            <a:off x="761992" y="1561514"/>
            <a:ext cx="659774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依照染色體座標排序：setorder(snp_v5,chr_order_v5,</a:t>
            </a:r>
            <a:r>
              <a:rPr b="0" i="0" lang="zh-TW" sz="1400" u="none" cap="none" strike="noStrike">
                <a:solidFill>
                  <a:schemeClr val="accent1"/>
                </a:solidFill>
                <a:latin typeface="Arial"/>
                <a:ea typeface="Arial"/>
                <a:cs typeface="Arial"/>
                <a:sym typeface="Arial"/>
              </a:rPr>
              <a:t>Start</a:t>
            </a:r>
            <a:r>
              <a:rPr b="0" i="0" lang="zh-TW" sz="1400" u="none" cap="none" strike="noStrike">
                <a:solidFill>
                  <a:srgbClr val="000000"/>
                </a:solidFill>
                <a:latin typeface="Arial"/>
                <a:ea typeface="Arial"/>
                <a:cs typeface="Arial"/>
                <a:sym typeface="Arial"/>
              </a:rPr>
              <a:t>,</a:t>
            </a:r>
            <a:r>
              <a:rPr b="0" i="0" lang="zh-TW" sz="1400" u="none" cap="none" strike="noStrike">
                <a:solidFill>
                  <a:schemeClr val="accent1"/>
                </a:solidFill>
                <a:latin typeface="Arial"/>
                <a:ea typeface="Arial"/>
                <a:cs typeface="Arial"/>
                <a:sym typeface="Arial"/>
              </a:rPr>
              <a:t>probeset_id</a:t>
            </a:r>
            <a:r>
              <a:rPr b="0" i="0" lang="zh-TW"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建立hilbert_index：Hilbert index 不等於 bp 距離 只是將SNP 的前後順序保留</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排列：</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每條染色體使用相同的 Hilbert 演算法與遞迴規則且沒有進行旋轉等調整，但是：</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Hilbert order不同</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遞迴層數不同</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總容量不同</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但不一定使用相同大小的 Hilbert square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但依各染色體的 SNP 數量使用不同階數與影像尺寸</a:t>
            </a:r>
            <a:endParaRPr b="0" i="0" sz="1400" u="none" cap="none" strike="noStrike">
              <a:solidFill>
                <a:srgbClr val="000000"/>
              </a:solidFill>
              <a:latin typeface="Arial"/>
              <a:ea typeface="Arial"/>
              <a:cs typeface="Arial"/>
              <a:sym typeface="Arial"/>
            </a:endParaRPr>
          </a:p>
        </p:txBody>
      </p:sp>
      <p:grpSp>
        <p:nvGrpSpPr>
          <p:cNvPr id="452" name="Google Shape;452;p32"/>
          <p:cNvGrpSpPr/>
          <p:nvPr/>
        </p:nvGrpSpPr>
        <p:grpSpPr>
          <a:xfrm>
            <a:off x="914640" y="3955884"/>
            <a:ext cx="3264146" cy="3855174"/>
            <a:chOff x="5401552" y="3002826"/>
            <a:chExt cx="3264146" cy="3855174"/>
          </a:xfrm>
        </p:grpSpPr>
        <p:pic>
          <p:nvPicPr>
            <p:cNvPr id="453" name="Google Shape;453;p32"/>
            <p:cNvPicPr preferRelativeResize="0"/>
            <p:nvPr/>
          </p:nvPicPr>
          <p:blipFill rotWithShape="1">
            <a:blip r:embed="rId3">
              <a:alphaModFix/>
            </a:blip>
            <a:srcRect b="0" l="0" r="0" t="0"/>
            <a:stretch/>
          </p:blipFill>
          <p:spPr>
            <a:xfrm>
              <a:off x="5401552" y="3003452"/>
              <a:ext cx="2331194" cy="3854548"/>
            </a:xfrm>
            <a:prstGeom prst="rect">
              <a:avLst/>
            </a:prstGeom>
            <a:noFill/>
            <a:ln>
              <a:noFill/>
            </a:ln>
          </p:spPr>
        </p:pic>
        <p:pic>
          <p:nvPicPr>
            <p:cNvPr id="454" name="Google Shape;454;p32"/>
            <p:cNvPicPr preferRelativeResize="0"/>
            <p:nvPr/>
          </p:nvPicPr>
          <p:blipFill rotWithShape="1">
            <a:blip r:embed="rId4">
              <a:alphaModFix/>
            </a:blip>
            <a:srcRect b="0" l="0" r="0" t="0"/>
            <a:stretch/>
          </p:blipFill>
          <p:spPr>
            <a:xfrm>
              <a:off x="7732746" y="3002826"/>
              <a:ext cx="932952" cy="3855174"/>
            </a:xfrm>
            <a:prstGeom prst="rect">
              <a:avLst/>
            </a:prstGeom>
            <a:noFill/>
            <a:ln>
              <a:noFill/>
            </a:ln>
          </p:spPr>
        </p:pic>
      </p:grpSp>
      <p:sp>
        <p:nvSpPr>
          <p:cNvPr id="455" name="Google Shape;455;p32"/>
          <p:cNvSpPr txBox="1"/>
          <p:nvPr/>
        </p:nvSpPr>
        <p:spPr>
          <a:xfrm>
            <a:off x="-6342192" y="1502381"/>
            <a:ext cx="710418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Within each chromosome, SNPs were ordered by ascending physical position and mapped to two-dimensional coordinates using the same Hilbert mapping algorithm. The Hilbert order and tile size varied according to the number of SNPs in each chromosome, while no chromosome-specific rotation or reflection was applied.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0" name="Shape 460"/>
        <p:cNvGrpSpPr/>
        <p:nvPr/>
      </p:nvGrpSpPr>
      <p:grpSpPr>
        <a:xfrm>
          <a:off x="0" y="0"/>
          <a:ext cx="0" cy="0"/>
          <a:chOff x="0" y="0"/>
          <a:chExt cx="0" cy="0"/>
        </a:xfrm>
      </p:grpSpPr>
      <p:sp>
        <p:nvSpPr>
          <p:cNvPr id="461" name="Google Shape;461;p33"/>
          <p:cNvSpPr txBox="1"/>
          <p:nvPr/>
        </p:nvSpPr>
        <p:spPr>
          <a:xfrm>
            <a:off x="479425" y="811783"/>
            <a:ext cx="809228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每個染色體有自己單獨的路徑 不會出現第一條染色體最後一個snp 接續第二條染色體的第一個snp </a:t>
            </a:r>
            <a:endParaRPr b="0" i="0" sz="1400" u="none" cap="none" strike="noStrike">
              <a:solidFill>
                <a:srgbClr val="000000"/>
              </a:solidFill>
              <a:latin typeface="Arial"/>
              <a:ea typeface="Arial"/>
              <a:cs typeface="Arial"/>
              <a:sym typeface="Arial"/>
            </a:endParaRPr>
          </a:p>
        </p:txBody>
      </p:sp>
      <p:pic>
        <p:nvPicPr>
          <p:cNvPr id="462" name="Google Shape;462;p33"/>
          <p:cNvPicPr preferRelativeResize="0"/>
          <p:nvPr/>
        </p:nvPicPr>
        <p:blipFill rotWithShape="1">
          <a:blip r:embed="rId3">
            <a:alphaModFix/>
          </a:blip>
          <a:srcRect b="0" l="0" r="0" t="0"/>
          <a:stretch/>
        </p:blipFill>
        <p:spPr>
          <a:xfrm>
            <a:off x="5286745" y="1427866"/>
            <a:ext cx="5475039" cy="4656411"/>
          </a:xfrm>
          <a:prstGeom prst="rect">
            <a:avLst/>
          </a:prstGeom>
          <a:noFill/>
          <a:ln>
            <a:noFill/>
          </a:ln>
        </p:spPr>
      </p:pic>
      <p:pic>
        <p:nvPicPr>
          <p:cNvPr id="463" name="Google Shape;463;p33"/>
          <p:cNvPicPr preferRelativeResize="0"/>
          <p:nvPr/>
        </p:nvPicPr>
        <p:blipFill rotWithShape="1">
          <a:blip r:embed="rId4">
            <a:alphaModFix/>
          </a:blip>
          <a:srcRect b="0" l="0" r="0" t="0"/>
          <a:stretch/>
        </p:blipFill>
        <p:spPr>
          <a:xfrm>
            <a:off x="10433538" y="1353234"/>
            <a:ext cx="5475039" cy="4656412"/>
          </a:xfrm>
          <a:prstGeom prst="rect">
            <a:avLst/>
          </a:prstGeom>
          <a:noFill/>
          <a:ln>
            <a:noFill/>
          </a:ln>
        </p:spPr>
      </p:pic>
      <p:sp>
        <p:nvSpPr>
          <p:cNvPr id="464" name="Google Shape;464;p33"/>
          <p:cNvSpPr txBox="1"/>
          <p:nvPr/>
        </p:nvSpPr>
        <p:spPr>
          <a:xfrm>
            <a:off x="479425" y="1222329"/>
            <a:ext cx="643596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規則：根據基因組順序 先排列index 在轉換成按照順序的二維座標</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限制是：這個方法保留的是 </a:t>
            </a:r>
            <a:r>
              <a:rPr b="1" i="0" lang="zh-TW" sz="1400" u="none" cap="none" strike="noStrike">
                <a:solidFill>
                  <a:srgbClr val="000000"/>
                </a:solidFill>
                <a:latin typeface="Arial"/>
                <a:ea typeface="Arial"/>
                <a:cs typeface="Arial"/>
                <a:sym typeface="Arial"/>
              </a:rPr>
              <a:t>SNP 順序</a:t>
            </a:r>
            <a:r>
              <a:rPr b="0" i="0" lang="zh-TW" sz="1400" u="none" cap="none" strike="noStrike">
                <a:solidFill>
                  <a:srgbClr val="000000"/>
                </a:solidFill>
                <a:latin typeface="Arial"/>
                <a:ea typeface="Arial"/>
                <a:cs typeface="Arial"/>
                <a:sym typeface="Arial"/>
              </a:rPr>
              <a:t>，不是 SNP 之間實際相隔多少 bp。</a:t>
            </a:r>
            <a:endParaRPr b="0" i="0" sz="1400" u="none" cap="none" strike="noStrike">
              <a:solidFill>
                <a:srgbClr val="000000"/>
              </a:solidFill>
              <a:latin typeface="Arial"/>
              <a:ea typeface="Arial"/>
              <a:cs typeface="Arial"/>
              <a:sym typeface="Arial"/>
            </a:endParaRPr>
          </a:p>
        </p:txBody>
      </p:sp>
      <p:grpSp>
        <p:nvGrpSpPr>
          <p:cNvPr id="465" name="Google Shape;465;p33"/>
          <p:cNvGrpSpPr/>
          <p:nvPr/>
        </p:nvGrpSpPr>
        <p:grpSpPr>
          <a:xfrm>
            <a:off x="857854" y="2410893"/>
            <a:ext cx="3573469" cy="3175442"/>
            <a:chOff x="857854" y="2410893"/>
            <a:chExt cx="3573469" cy="3175442"/>
          </a:xfrm>
        </p:grpSpPr>
        <p:pic>
          <p:nvPicPr>
            <p:cNvPr id="466" name="Google Shape;466;p33"/>
            <p:cNvPicPr preferRelativeResize="0"/>
            <p:nvPr/>
          </p:nvPicPr>
          <p:blipFill rotWithShape="1">
            <a:blip r:embed="rId5">
              <a:alphaModFix/>
            </a:blip>
            <a:srcRect b="15484" l="3197" r="81755" t="49009"/>
            <a:stretch/>
          </p:blipFill>
          <p:spPr>
            <a:xfrm>
              <a:off x="2321169" y="2424960"/>
              <a:ext cx="2110154" cy="3111894"/>
            </a:xfrm>
            <a:prstGeom prst="rect">
              <a:avLst/>
            </a:prstGeom>
            <a:noFill/>
            <a:ln>
              <a:noFill/>
            </a:ln>
          </p:spPr>
        </p:pic>
        <p:pic>
          <p:nvPicPr>
            <p:cNvPr id="467" name="Google Shape;467;p33"/>
            <p:cNvPicPr preferRelativeResize="0"/>
            <p:nvPr/>
          </p:nvPicPr>
          <p:blipFill rotWithShape="1">
            <a:blip r:embed="rId6">
              <a:alphaModFix/>
            </a:blip>
            <a:srcRect b="18239" l="0" r="0" t="-1"/>
            <a:stretch/>
          </p:blipFill>
          <p:spPr>
            <a:xfrm>
              <a:off x="857854" y="2410893"/>
              <a:ext cx="1463315" cy="3175442"/>
            </a:xfrm>
            <a:prstGeom prst="rect">
              <a:avLst/>
            </a:prstGeom>
            <a:noFill/>
            <a:ln>
              <a:noFill/>
            </a:ln>
          </p:spPr>
        </p:pic>
      </p:grpSp>
      <p:sp>
        <p:nvSpPr>
          <p:cNvPr id="468" name="Google Shape;468;p33"/>
          <p:cNvSpPr txBox="1"/>
          <p:nvPr/>
        </p:nvSpPr>
        <p:spPr>
          <a:xfrm>
            <a:off x="453683" y="-181679"/>
            <a:ext cx="795528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SNPs were first ordered by physical position within each chromosome and assigned sequential indices. These one-dimensional indices were then mapped to neighboring two-dimensional coordinates along a Hilbert curve.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2" name="Shape 472"/>
        <p:cNvGrpSpPr/>
        <p:nvPr/>
      </p:nvGrpSpPr>
      <p:grpSpPr>
        <a:xfrm>
          <a:off x="0" y="0"/>
          <a:ext cx="0" cy="0"/>
          <a:chOff x="0" y="0"/>
          <a:chExt cx="0" cy="0"/>
        </a:xfrm>
      </p:grpSpPr>
      <p:pic>
        <p:nvPicPr>
          <p:cNvPr id="473" name="Google Shape;473;p34"/>
          <p:cNvPicPr preferRelativeResize="0"/>
          <p:nvPr/>
        </p:nvPicPr>
        <p:blipFill rotWithShape="1">
          <a:blip r:embed="rId3">
            <a:alphaModFix/>
          </a:blip>
          <a:srcRect b="0" l="0" r="0" t="0"/>
          <a:stretch/>
        </p:blipFill>
        <p:spPr>
          <a:xfrm>
            <a:off x="58522" y="939435"/>
            <a:ext cx="6313247" cy="5369291"/>
          </a:xfrm>
          <a:prstGeom prst="rect">
            <a:avLst/>
          </a:prstGeom>
          <a:noFill/>
          <a:ln>
            <a:noFill/>
          </a:ln>
        </p:spPr>
      </p:pic>
      <p:pic>
        <p:nvPicPr>
          <p:cNvPr id="474" name="Google Shape;474;p34"/>
          <p:cNvPicPr preferRelativeResize="0"/>
          <p:nvPr/>
        </p:nvPicPr>
        <p:blipFill rotWithShape="1">
          <a:blip r:embed="rId4">
            <a:alphaModFix/>
          </a:blip>
          <a:srcRect b="0" l="0" r="0" t="0"/>
          <a:stretch/>
        </p:blipFill>
        <p:spPr>
          <a:xfrm>
            <a:off x="5820231" y="939435"/>
            <a:ext cx="6313247" cy="536929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9" name="Shape 479"/>
        <p:cNvGrpSpPr/>
        <p:nvPr/>
      </p:nvGrpSpPr>
      <p:grpSpPr>
        <a:xfrm>
          <a:off x="0" y="0"/>
          <a:ext cx="0" cy="0"/>
          <a:chOff x="0" y="0"/>
          <a:chExt cx="0" cy="0"/>
        </a:xfrm>
      </p:grpSpPr>
      <p:sp>
        <p:nvSpPr>
          <p:cNvPr id="480" name="Google Shape;480;p35"/>
          <p:cNvSpPr txBox="1"/>
          <p:nvPr/>
        </p:nvSpPr>
        <p:spPr>
          <a:xfrm>
            <a:off x="634170" y="675249"/>
            <a:ext cx="3825086"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排法：先建立染色體派法 在分染色體區塊排列</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Step1:每條染色體各自建立 Hilbert tile。 </a:t>
            </a:r>
            <a:endParaRPr/>
          </a:p>
        </p:txBody>
      </p:sp>
      <p:sp>
        <p:nvSpPr>
          <p:cNvPr id="481" name="Google Shape;481;p35"/>
          <p:cNvSpPr txBox="1"/>
          <p:nvPr/>
        </p:nvSpPr>
        <p:spPr>
          <a:xfrm>
            <a:off x="634170" y="4500697"/>
            <a:ext cx="609834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Step2:再把 1–22、X、MT 排成一張全基因組圖譜。</a:t>
            </a:r>
            <a:endParaRPr/>
          </a:p>
        </p:txBody>
      </p:sp>
      <p:sp>
        <p:nvSpPr>
          <p:cNvPr id="482" name="Google Shape;482;p35"/>
          <p:cNvSpPr txBox="1"/>
          <p:nvPr/>
        </p:nvSpPr>
        <p:spPr>
          <a:xfrm>
            <a:off x="1266092" y="1631853"/>
            <a:ext cx="659774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依照染色體座標排序：setorder(snp_v5,chr_order_v5,</a:t>
            </a:r>
            <a:r>
              <a:rPr b="0" i="0" lang="zh-TW" sz="1400" u="none" cap="none" strike="noStrike">
                <a:solidFill>
                  <a:schemeClr val="accent1"/>
                </a:solidFill>
                <a:latin typeface="Arial"/>
                <a:ea typeface="Arial"/>
                <a:cs typeface="Arial"/>
                <a:sym typeface="Arial"/>
              </a:rPr>
              <a:t>Start</a:t>
            </a:r>
            <a:r>
              <a:rPr b="0" i="0" lang="zh-TW" sz="1400" u="none" cap="none" strike="noStrike">
                <a:solidFill>
                  <a:srgbClr val="000000"/>
                </a:solidFill>
                <a:latin typeface="Arial"/>
                <a:ea typeface="Arial"/>
                <a:cs typeface="Arial"/>
                <a:sym typeface="Arial"/>
              </a:rPr>
              <a:t>,</a:t>
            </a:r>
            <a:r>
              <a:rPr b="0" i="0" lang="zh-TW" sz="1400" u="none" cap="none" strike="noStrike">
                <a:solidFill>
                  <a:schemeClr val="accent1"/>
                </a:solidFill>
                <a:latin typeface="Arial"/>
                <a:ea typeface="Arial"/>
                <a:cs typeface="Arial"/>
                <a:sym typeface="Arial"/>
              </a:rPr>
              <a:t>probeset_id</a:t>
            </a:r>
            <a:r>
              <a:rPr b="0" i="0" lang="zh-TW"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建立hilbert_index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排列：</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每條染色體使用相同的 Hilbert 演算法與遞迴規則，但是：</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Hilbert order不同</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遞迴層數不同</a:t>
            </a:r>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總容量不同</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但不一定使用相同大小的 Hilbert square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zh-TW" sz="1400" u="none" cap="none" strike="noStrike">
                <a:solidFill>
                  <a:srgbClr val="000000"/>
                </a:solidFill>
                <a:latin typeface="Arial"/>
                <a:ea typeface="Arial"/>
                <a:cs typeface="Arial"/>
                <a:sym typeface="Arial"/>
              </a:rPr>
              <a:t>但依各染色體的 SNP 數量使用不同階數與影像尺寸</a:t>
            </a:r>
            <a:endParaRPr b="0" i="0" sz="1400" u="none" cap="none" strike="noStrike">
              <a:solidFill>
                <a:srgbClr val="000000"/>
              </a:solidFill>
              <a:latin typeface="Arial"/>
              <a:ea typeface="Arial"/>
              <a:cs typeface="Arial"/>
              <a:sym typeface="Arial"/>
            </a:endParaRPr>
          </a:p>
        </p:txBody>
      </p:sp>
      <p:pic>
        <p:nvPicPr>
          <p:cNvPr id="483" name="Google Shape;483;p35"/>
          <p:cNvPicPr preferRelativeResize="0"/>
          <p:nvPr/>
        </p:nvPicPr>
        <p:blipFill rotWithShape="1">
          <a:blip r:embed="rId3">
            <a:alphaModFix/>
          </a:blip>
          <a:srcRect b="0" l="0" r="0" t="0"/>
          <a:stretch/>
        </p:blipFill>
        <p:spPr>
          <a:xfrm>
            <a:off x="7359740" y="1814733"/>
            <a:ext cx="4832260" cy="361539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