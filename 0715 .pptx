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85" r:id="rId2"/>
    <p:sldId id="258" r:id="rId3"/>
    <p:sldId id="298" r:id="rId4"/>
    <p:sldId id="304" r:id="rId5"/>
    <p:sldId id="305" r:id="rId6"/>
    <p:sldId id="311" r:id="rId7"/>
    <p:sldId id="310" r:id="rId8"/>
    <p:sldId id="308" r:id="rId9"/>
    <p:sldId id="329" r:id="rId10"/>
    <p:sldId id="332" r:id="rId11"/>
    <p:sldId id="333" r:id="rId12"/>
    <p:sldId id="334" r:id="rId13"/>
    <p:sldId id="335" r:id="rId14"/>
    <p:sldId id="336" r:id="rId15"/>
    <p:sldId id="324" r:id="rId16"/>
    <p:sldId id="337" r:id="rId17"/>
    <p:sldId id="338" r:id="rId18"/>
    <p:sldId id="340" r:id="rId19"/>
    <p:sldId id="341" r:id="rId20"/>
    <p:sldId id="342" r:id="rId21"/>
    <p:sldId id="339" r:id="rId22"/>
    <p:sldId id="323" r:id="rId23"/>
    <p:sldId id="322" r:id="rId24"/>
    <p:sldId id="303" r:id="rId25"/>
    <p:sldId id="302" r:id="rId26"/>
    <p:sldId id="312" r:id="rId27"/>
    <p:sldId id="309" r:id="rId28"/>
    <p:sldId id="283" r:id="rId29"/>
  </p:sldIdLst>
  <p:sldSz cx="12192000" cy="6858000"/>
  <p:notesSz cx="6858000" cy="9144000"/>
  <p:embeddedFontLst>
    <p:embeddedFont>
      <p:font typeface="Alegreya" pitchFamily="2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Pinyon Script" pitchFamily="2" charset="0"/>
      <p:regular r:id="rId40"/>
    </p:embeddedFont>
    <p:embeddedFont>
      <p:font typeface="Playfair Display" pitchFamily="2" charset="0"/>
      <p:regular r:id="rId41"/>
      <p:bold r:id="rId42"/>
      <p:italic r:id="rId43"/>
      <p:boldItalic r:id="rId44"/>
    </p:embeddedFont>
    <p:embeddedFont>
      <p:font typeface="Playfair Display SemiBold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747775"/>
          </p15:clr>
        </p15:guide>
        <p15:guide id="2" pos="3840" userDrawn="1">
          <p15:clr>
            <a:srgbClr val="747775"/>
          </p15:clr>
        </p15:guide>
        <p15:guide id="3" orient="horz" pos="4065" userDrawn="1">
          <p15:clr>
            <a:srgbClr val="747775"/>
          </p15:clr>
        </p15:guide>
        <p15:guide id="4" orient="horz" pos="340">
          <p15:clr>
            <a:srgbClr val="747775"/>
          </p15:clr>
        </p15:guide>
        <p15:guide id="5" pos="7401" userDrawn="1">
          <p15:clr>
            <a:srgbClr val="747775"/>
          </p15:clr>
        </p15:guide>
        <p15:guide id="6" pos="27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9FE"/>
    <a:srgbClr val="FDFFEB"/>
    <a:srgbClr val="FBFFD4"/>
    <a:srgbClr val="FFF7FD"/>
    <a:srgbClr val="E4FFEE"/>
    <a:srgbClr val="E1ECFE"/>
    <a:srgbClr val="E3F2FE"/>
    <a:srgbClr val="E0EFFF"/>
    <a:srgbClr val="E1EEFF"/>
    <a:srgbClr val="E3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46EFF1-D363-4814-AD40-36413BC7005B}">
  <a:tblStyle styleId="{A546EFF1-D363-4814-AD40-36413BC700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78"/>
    <p:restoredTop sz="78346"/>
  </p:normalViewPr>
  <p:slideViewPr>
    <p:cSldViewPr snapToGrid="0">
      <p:cViewPr>
        <p:scale>
          <a:sx n="95" d="100"/>
          <a:sy n="95" d="100"/>
        </p:scale>
        <p:origin x="504" y="-248"/>
      </p:cViewPr>
      <p:guideLst>
        <p:guide orient="horz" pos="2228"/>
        <p:guide pos="3840"/>
        <p:guide orient="horz" pos="4065"/>
        <p:guide orient="horz" pos="340"/>
        <p:guide pos="7401"/>
        <p:guide pos="279"/>
      </p:guideLst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9B078A2C-D744-D530-9730-8B0A93B7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490a16415b2ac980_202:notes">
            <a:extLst>
              <a:ext uri="{FF2B5EF4-FFF2-40B4-BE49-F238E27FC236}">
                <a16:creationId xmlns:a16="http://schemas.microsoft.com/office/drawing/2014/main" id="{AA2A413C-E79A-EFE5-CFA4-27B3B7A40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490a16415b2ac980_202:notes">
            <a:extLst>
              <a:ext uri="{FF2B5EF4-FFF2-40B4-BE49-F238E27FC236}">
                <a16:creationId xmlns:a16="http://schemas.microsoft.com/office/drawing/2014/main" id="{DC5DE41A-661C-8D20-3D51-8F93CE494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g490a16415b2ac980_202:notes">
            <a:extLst>
              <a:ext uri="{FF2B5EF4-FFF2-40B4-BE49-F238E27FC236}">
                <a16:creationId xmlns:a16="http://schemas.microsoft.com/office/drawing/2014/main" id="{74BEC6E3-14D6-538A-02AE-82B9F0FDEF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1113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c48e4df94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c48e4df94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g3ec48e4df94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94C93611-E8CE-F436-1364-E57A46E7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D41F1D08-F3DC-8361-7553-8F2C9F646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7F9922A1-172D-5B90-F766-4E141385B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zh-TW" altLang="en-US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FBC4B1A7-DA75-CECC-321F-F66579CD0F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6917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1EFC1438-7338-0C90-8AD8-507C0146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8BD73FF1-E52C-0506-4CDB-DBDFD7B79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D0BC27C6-6C8E-B64B-F761-796EC5ADF6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altLang="zh-TW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42B0081E-F54F-213C-25C2-C891F91BBC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4223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9412570F-CA31-5FB0-1339-60F0E5CC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4D2DC72E-1830-3BE0-5C3B-19FA5D8DE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9BFC50CD-1651-259F-82EB-758597809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altLang="zh-TW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62F41BC1-4A86-7DBB-35D2-0520C3963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7396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C8DC75D4-ADDF-872E-9348-2B66ADEA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01E3CA2E-2B16-825A-F6CB-79457D578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1B035F81-C8FB-E9CB-4295-A4D4F9919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altLang="zh-TW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44AF0AC1-F5D7-CA23-19A1-7BA169E143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3456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75F1E776-2697-5B41-E2F0-66A472A9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2A574597-7286-2535-1E0A-605C94C610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909D55AF-305F-D660-2080-2B590FB8A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altLang="zh-TW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821BFFB9-5361-167F-D7CC-4B2CF3A8CB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5220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D222C4DE-A195-611B-9824-722B2243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3E79CEB8-6AD5-DEB6-8B2B-E2B84C074B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DEA95FFE-9541-27C6-8862-23BB3B35B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首先一開始老師給我</a:t>
            </a:r>
            <a:r>
              <a:rPr lang="en-US" altLang="zh-TW" dirty="0"/>
              <a:t>10</a:t>
            </a:r>
            <a:r>
              <a:rPr lang="zh-TW" altLang="en-US" dirty="0"/>
              <a:t>個</a:t>
            </a:r>
            <a:r>
              <a:rPr lang="en-US" altLang="zh-TW" dirty="0"/>
              <a:t>cel</a:t>
            </a:r>
            <a:r>
              <a:rPr lang="zh-TW" altLang="en-US" dirty="0"/>
              <a:t>檔案進行</a:t>
            </a:r>
            <a:r>
              <a:rPr lang="en-US" altLang="zh-TW" dirty="0"/>
              <a:t>genotype calling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然而當時對</a:t>
            </a:r>
            <a:r>
              <a:rPr lang="en-US" altLang="zh-TW" dirty="0"/>
              <a:t>raw data</a:t>
            </a:r>
            <a:r>
              <a:rPr lang="zh-TW" altLang="en-US" dirty="0"/>
              <a:t>的</a:t>
            </a:r>
            <a:r>
              <a:rPr lang="en-US" altLang="zh-TW" dirty="0"/>
              <a:t>preprocessing</a:t>
            </a:r>
            <a:r>
              <a:rPr lang="zh-TW" altLang="en-US" dirty="0"/>
              <a:t>處理流程大致規劃是這樣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因為</a:t>
            </a:r>
            <a:r>
              <a:rPr lang="en-US" altLang="zh-TW" dirty="0"/>
              <a:t>cel</a:t>
            </a:r>
            <a:r>
              <a:rPr lang="zh-TW" altLang="en-US" dirty="0"/>
              <a:t>檔案 是原始晶片的螢光訊號資料 所以要先用</a:t>
            </a:r>
            <a:r>
              <a:rPr lang="en-US" altLang="zh-TW" dirty="0"/>
              <a:t>Affymetrix power tools</a:t>
            </a:r>
            <a:r>
              <a:rPr lang="zh-TW" altLang="en-US" dirty="0"/>
              <a:t>的軟體進行轉換 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與此同時利用</a:t>
            </a:r>
            <a:r>
              <a:rPr lang="en-US" altLang="zh-TW" dirty="0" err="1"/>
              <a:t>APTcalling</a:t>
            </a:r>
            <a:r>
              <a:rPr lang="zh-TW" altLang="en-US" dirty="0"/>
              <a:t>時 需要相對應的</a:t>
            </a:r>
            <a:r>
              <a:rPr lang="en-US" altLang="zh-TW" dirty="0"/>
              <a:t>library</a:t>
            </a:r>
            <a:r>
              <a:rPr lang="zh-TW" altLang="en-US" dirty="0"/>
              <a:t>檔案 </a:t>
            </a:r>
            <a:r>
              <a:rPr lang="en-US" altLang="zh-TW" dirty="0"/>
              <a:t>library </a:t>
            </a:r>
            <a:r>
              <a:rPr lang="zh-TW" altLang="en-US" dirty="0"/>
              <a:t>檔案可以想像他就像是這個晶片的使用手冊 會有這些</a:t>
            </a:r>
            <a:r>
              <a:rPr lang="en-US" altLang="zh-TW" dirty="0"/>
              <a:t>probe</a:t>
            </a:r>
            <a:r>
              <a:rPr lang="zh-TW" altLang="en-US" dirty="0"/>
              <a:t>的相關資訊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然而所需要的</a:t>
            </a:r>
            <a:r>
              <a:rPr lang="en-US" altLang="zh-TW" dirty="0"/>
              <a:t>library</a:t>
            </a:r>
            <a:r>
              <a:rPr lang="zh-TW" altLang="en-US" dirty="0"/>
              <a:t>檔案是來自</a:t>
            </a:r>
            <a:r>
              <a:rPr lang="zh-TW" altLang="zh-TW" b="1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TWBv2.0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當然也遇到很多問題 像是</a:t>
            </a:r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4836C324-8D33-EE10-84BF-B3FF738BA8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4841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雖然</a:t>
            </a:r>
            <a:r>
              <a:rPr kumimoji="1" lang="en-US" altLang="zh-TW" dirty="0"/>
              <a:t>default </a:t>
            </a:r>
            <a:r>
              <a:rPr kumimoji="1" lang="zh-TW" altLang="en-US" dirty="0"/>
              <a:t>是</a:t>
            </a:r>
            <a:r>
              <a:rPr kumimoji="1" lang="en-US" altLang="zh-TW" dirty="0"/>
              <a:t>96</a:t>
            </a:r>
            <a:r>
              <a:rPr kumimoji="1" lang="zh-TW" altLang="en-US" dirty="0"/>
              <a:t>個以上檔案 我還是試著進行匯入</a:t>
            </a:r>
            <a:endParaRPr kumimoji="1" lang="en-US" altLang="zh-TW" dirty="0"/>
          </a:p>
          <a:p>
            <a:r>
              <a:rPr kumimoji="1" lang="zh-TW" altLang="en-US" dirty="0"/>
              <a:t>但後來有發現</a:t>
            </a:r>
            <a:r>
              <a:rPr kumimoji="1" lang="en-US" altLang="zh-TW" dirty="0"/>
              <a:t>import</a:t>
            </a:r>
            <a:r>
              <a:rPr kumimoji="1" lang="zh-TW" altLang="en-US" dirty="0"/>
              <a:t>的時候 </a:t>
            </a:r>
            <a:r>
              <a:rPr kumimoji="1" lang="en-US" altLang="zh-TW" dirty="0"/>
              <a:t>cel </a:t>
            </a:r>
            <a:r>
              <a:rPr kumimoji="1" lang="zh-TW" altLang="en-US" dirty="0"/>
              <a:t>跟</a:t>
            </a:r>
            <a:r>
              <a:rPr kumimoji="1" lang="en-US" altLang="zh-TW" dirty="0"/>
              <a:t>lib</a:t>
            </a:r>
            <a:r>
              <a:rPr kumimoji="1" lang="zh-TW" altLang="en-US" dirty="0"/>
              <a:t>檔案不相容</a:t>
            </a:r>
            <a:endParaRPr kumimoji="1" lang="en-US" altLang="zh-TW" sz="1200" dirty="0">
              <a:solidFill>
                <a:schemeClr val="dk1"/>
              </a:solidFill>
              <a:latin typeface="Calibri"/>
            </a:endParaRPr>
          </a:p>
          <a:p>
            <a:endParaRPr kumimoji="1" lang="en-US" altLang="zh-TW" sz="1200" dirty="0">
              <a:solidFill>
                <a:schemeClr val="dk1"/>
              </a:solidFill>
              <a:latin typeface="Calibri"/>
              <a:ea typeface="Songti SC" panose="02010600040101010101" pitchFamily="2" charset="-122"/>
            </a:endParaRPr>
          </a:p>
          <a:p>
            <a:r>
              <a:rPr kumimoji="1" lang="zh-TW" altLang="en-US" sz="1200" dirty="0">
                <a:solidFill>
                  <a:schemeClr val="dk1"/>
                </a:solidFill>
                <a:latin typeface="Calibri"/>
                <a:ea typeface="Songti SC" panose="02010600040101010101" pitchFamily="2" charset="-122"/>
              </a:rPr>
              <a:t>因此老師有給一個</a:t>
            </a:r>
            <a:r>
              <a:rPr lang="en-US" altLang="zh-TW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Future work: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是要了解</a:t>
            </a:r>
            <a:r>
              <a:rPr lang="en-US" altLang="zh-TW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cell</a:t>
            </a:r>
            <a:r>
              <a:rPr lang="zh-TW" altLang="en-US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檔案轉成</a:t>
            </a:r>
            <a:r>
              <a:rPr lang="en-US" altLang="zh-TW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genotype</a:t>
            </a:r>
            <a:r>
              <a:rPr lang="zh-TW" altLang="en-US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檔案的原理 以及</a:t>
            </a:r>
            <a:r>
              <a:rPr lang="en-US" altLang="zh-TW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bug(</a:t>
            </a:r>
            <a:r>
              <a:rPr lang="zh-TW" altLang="en-US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從螢光訊號做</a:t>
            </a:r>
            <a:r>
              <a:rPr lang="en-US" altLang="zh-TW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genotype </a:t>
            </a:r>
            <a:r>
              <a:rPr lang="zh-TW" altLang="en-US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鑑定中發生的問題</a:t>
            </a:r>
            <a:r>
              <a:rPr lang="en-US" altLang="zh-TW" sz="12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)</a:t>
            </a:r>
            <a:endParaRPr lang="zh-TW" altLang="en-US" sz="1200" dirty="0">
              <a:solidFill>
                <a:srgbClr val="FF0000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8394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5E826D0B-62E8-DEF2-9DEB-AEAF20BA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B3BC882C-7FDA-9AF1-17C8-B7029CD5D1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9A333936-52DD-FB4F-2B85-A7F718586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基於剛剛遇到的問題 老師後來就給我已經</a:t>
            </a:r>
            <a:r>
              <a:rPr lang="en-US" altLang="zh-TW" dirty="0"/>
              <a:t>calling</a:t>
            </a:r>
            <a:r>
              <a:rPr lang="zh-TW" altLang="en-US" dirty="0"/>
              <a:t>好的檔案 因此我就可以接著做</a:t>
            </a:r>
            <a:r>
              <a:rPr lang="en-US" altLang="zh-TW" dirty="0"/>
              <a:t>QC</a:t>
            </a:r>
            <a:r>
              <a:rPr lang="zh-TW" altLang="en-US" dirty="0"/>
              <a:t>的部分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然而還是要對這筆資料型態有所了解</a:t>
            </a:r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2551E950-BDBB-DF7A-B5F2-F3D89F9909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502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14E86A98-8B5E-EC12-FA95-58C9FC6C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1EA66D7A-598C-6467-F45B-BFCD11DE5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132A9E70-54E4-07F7-45D2-A82574566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首先老師給的文字黨中 他一開始有註解是有</a:t>
            </a:r>
            <a:r>
              <a:rPr lang="en-US" altLang="zh-TW" dirty="0"/>
              <a:t>68</a:t>
            </a:r>
            <a:r>
              <a:rPr lang="zh-TW" altLang="en-US" dirty="0"/>
              <a:t>萬多個</a:t>
            </a:r>
            <a:r>
              <a:rPr lang="en-US" altLang="zh-TW" dirty="0" err="1"/>
              <a:t>snp</a:t>
            </a:r>
            <a:r>
              <a:rPr lang="en-US" altLang="zh-TW" dirty="0"/>
              <a:t> </a:t>
            </a:r>
            <a:r>
              <a:rPr lang="zh-TW" altLang="en-US" dirty="0"/>
              <a:t>以及原本共有</a:t>
            </a:r>
            <a:r>
              <a:rPr lang="en-US" altLang="zh-TW" dirty="0"/>
              <a:t>240patient </a:t>
            </a:r>
            <a:r>
              <a:rPr lang="zh-TW" altLang="en-US" dirty="0"/>
              <a:t>不過我目前只會先針對</a:t>
            </a:r>
            <a:r>
              <a:rPr lang="en-US" altLang="zh-TW" dirty="0"/>
              <a:t>10</a:t>
            </a:r>
            <a:r>
              <a:rPr lang="zh-TW" altLang="en-US" dirty="0"/>
              <a:t>位病人做資料處理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這個資料格式是有</a:t>
            </a:r>
            <a:r>
              <a:rPr lang="en-US" altLang="zh-TW" dirty="0"/>
              <a:t>680865</a:t>
            </a:r>
            <a:r>
              <a:rPr lang="zh-TW" altLang="en-US" dirty="0"/>
              <a:t>列 </a:t>
            </a:r>
            <a:r>
              <a:rPr lang="en-US" altLang="zh-TW" dirty="0"/>
              <a:t>77</a:t>
            </a:r>
            <a:r>
              <a:rPr lang="zh-TW" altLang="en-US" dirty="0"/>
              <a:t>欄其中欄位中包含</a:t>
            </a:r>
            <a:r>
              <a:rPr lang="en-US" altLang="zh-TW" dirty="0"/>
              <a:t>10</a:t>
            </a:r>
            <a:r>
              <a:rPr lang="zh-TW" altLang="en-US" dirty="0"/>
              <a:t>個</a:t>
            </a:r>
            <a:r>
              <a:rPr lang="en-US" altLang="zh-TW" dirty="0"/>
              <a:t>patient</a:t>
            </a:r>
            <a:r>
              <a:rPr lang="zh-TW" altLang="en-US" dirty="0"/>
              <a:t>的</a:t>
            </a:r>
            <a:r>
              <a:rPr lang="en-US" altLang="zh-TW" dirty="0"/>
              <a:t>genotype</a:t>
            </a:r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9962E071-E779-A6E9-016E-C0AA01C748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8468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因為知道資料是由</a:t>
            </a:r>
            <a:r>
              <a:rPr kumimoji="1" lang="en-US" altLang="zh-TW" dirty="0"/>
              <a:t>patient genotype +annotation</a:t>
            </a:r>
            <a:r>
              <a:rPr kumimoji="1" lang="zh-TW" altLang="en-US" dirty="0"/>
              <a:t>組成 因此我首先想知道</a:t>
            </a:r>
            <a:r>
              <a:rPr kumimoji="1" lang="en-US" altLang="zh-TW" dirty="0"/>
              <a:t>annotation</a:t>
            </a:r>
            <a:r>
              <a:rPr kumimoji="1" lang="zh-TW" altLang="en-US" dirty="0"/>
              <a:t>分別有什麼以及他代表的涵意 </a:t>
            </a: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778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自己把它整理成表格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4761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A53DE-89BF-9D44-A584-0541E230A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D4C7C40-B0CC-0B15-CC30-6809030F8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928AAE-C3A1-F4E5-B102-67430BBE7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接著看</a:t>
            </a:r>
            <a:r>
              <a:rPr kumimoji="1" lang="en-US" altLang="zh-TW" dirty="0"/>
              <a:t>genotype</a:t>
            </a:r>
            <a:r>
              <a:rPr kumimoji="1" lang="zh-TW" altLang="en-US" dirty="0"/>
              <a:t>的資料清況 把這十個人的</a:t>
            </a:r>
            <a:r>
              <a:rPr kumimoji="1" lang="en-US" altLang="zh-TW" dirty="0"/>
              <a:t>genotype </a:t>
            </a:r>
            <a:r>
              <a:rPr kumimoji="1" lang="zh-TW" altLang="en-US" dirty="0"/>
              <a:t>數量、</a:t>
            </a:r>
            <a:r>
              <a:rPr kumimoji="1" lang="en-US" altLang="zh-TW" dirty="0"/>
              <a:t>call rate</a:t>
            </a:r>
            <a:r>
              <a:rPr kumimoji="1" lang="zh-TW" altLang="en-US" dirty="0"/>
              <a:t>都先確認</a:t>
            </a:r>
            <a:endParaRPr kumimoji="1" lang="en-US" altLang="zh-TW" dirty="0"/>
          </a:p>
          <a:p>
            <a:r>
              <a:rPr kumimoji="1" lang="zh-TW" altLang="en-US" dirty="0"/>
              <a:t>然而這十個人的</a:t>
            </a:r>
            <a:r>
              <a:rPr kumimoji="1" lang="en-US" altLang="zh-TW" dirty="0"/>
              <a:t>call rate</a:t>
            </a:r>
            <a:r>
              <a:rPr kumimoji="1" lang="zh-TW" altLang="en-US" dirty="0"/>
              <a:t>中有些人</a:t>
            </a:r>
            <a:r>
              <a:rPr kumimoji="1" lang="en-US" altLang="zh-TW" dirty="0"/>
              <a:t>call rate </a:t>
            </a:r>
            <a:r>
              <a:rPr kumimoji="1" lang="zh-TW" altLang="en-US" dirty="0"/>
              <a:t>高達</a:t>
            </a:r>
            <a:r>
              <a:rPr kumimoji="1" lang="en-US" altLang="zh-TW" dirty="0"/>
              <a:t>99% </a:t>
            </a:r>
            <a:r>
              <a:rPr kumimoji="1" lang="zh-TW" altLang="en-US" dirty="0"/>
              <a:t>但有</a:t>
            </a:r>
            <a:r>
              <a:rPr kumimoji="1" lang="en-US" altLang="zh-TW" dirty="0"/>
              <a:t>6</a:t>
            </a:r>
            <a:r>
              <a:rPr kumimoji="1" lang="zh-TW" altLang="en-US" dirty="0"/>
              <a:t>成的人只有接近</a:t>
            </a:r>
            <a:r>
              <a:rPr kumimoji="1" lang="en-US" altLang="zh-TW" dirty="0"/>
              <a:t>98</a:t>
            </a:r>
            <a:r>
              <a:rPr kumimoji="1" lang="zh-TW" altLang="en-US" dirty="0"/>
              <a:t>％</a:t>
            </a:r>
            <a:r>
              <a:rPr kumimoji="1" lang="en-US" altLang="zh-TW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203FF3-D5F3-4AFF-63D1-72AB7DFB9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6740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076F-F0E6-EA89-9870-D24E8AF0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34DC48E-D9F7-EBE0-2FFA-8E71FCE4C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9465FD9-7989-3BE5-D4A7-612C58D2B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接著看每個</a:t>
            </a:r>
            <a:r>
              <a:rPr kumimoji="1" lang="en-US" altLang="zh-TW" dirty="0" err="1"/>
              <a:t>snp</a:t>
            </a:r>
            <a:r>
              <a:rPr kumimoji="1" lang="zh-TW" altLang="en-US" dirty="0"/>
              <a:t>的</a:t>
            </a:r>
            <a:r>
              <a:rPr kumimoji="1" lang="en-US" altLang="zh-TW" dirty="0"/>
              <a:t>missing rate</a:t>
            </a:r>
            <a:r>
              <a:rPr kumimoji="1" lang="zh-TW" altLang="en-US" dirty="0"/>
              <a:t>  換句話說就是看每個</a:t>
            </a:r>
            <a:r>
              <a:rPr kumimoji="1" lang="en-US" altLang="zh-TW" dirty="0" err="1"/>
              <a:t>snp</a:t>
            </a:r>
            <a:r>
              <a:rPr kumimoji="1" lang="zh-TW" altLang="en-US" dirty="0"/>
              <a:t>中 在這</a:t>
            </a:r>
            <a:r>
              <a:rPr kumimoji="1" lang="en-US" altLang="zh-TW" dirty="0"/>
              <a:t>10</a:t>
            </a:r>
            <a:r>
              <a:rPr kumimoji="1" lang="zh-TW" altLang="en-US" dirty="0"/>
              <a:t>個人中有多少人是</a:t>
            </a:r>
            <a:r>
              <a:rPr kumimoji="1" lang="en-US" altLang="zh-TW" dirty="0" err="1"/>
              <a:t>nocall</a:t>
            </a:r>
            <a:endParaRPr kumimoji="1" lang="en-US" altLang="zh-TW" dirty="0"/>
          </a:p>
          <a:p>
            <a:pPr marL="228600" indent="0">
              <a:buFont typeface="Arial" panose="020B0604020202020204" pitchFamily="34" charset="0"/>
              <a:buNone/>
            </a:pPr>
            <a:r>
              <a:rPr kumimoji="1" lang="zh-TW" altLang="en-US" dirty="0"/>
              <a:t>圖表統整的結果 可以知道在這</a:t>
            </a:r>
            <a:r>
              <a:rPr kumimoji="1" lang="en-US" altLang="zh-TW" dirty="0"/>
              <a:t>60</a:t>
            </a:r>
            <a:r>
              <a:rPr kumimoji="1" lang="zh-TW" altLang="en-US" dirty="0"/>
              <a:t>幾萬的</a:t>
            </a:r>
            <a:r>
              <a:rPr kumimoji="1" lang="en-US" altLang="zh-TW" dirty="0" err="1"/>
              <a:t>snp</a:t>
            </a:r>
            <a:r>
              <a:rPr kumimoji="1" lang="zh-TW" altLang="en-US" dirty="0"/>
              <a:t>中有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97% SNP 在10位樣本中完全沒有缺失 </a:t>
            </a:r>
          </a:p>
          <a:p>
            <a:pPr marL="228600" indent="0">
              <a:buFont typeface="Arial" panose="020B0604020202020204" pitchFamily="34" charset="0"/>
              <a:buNone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約 1% SNP 只有1人</a:t>
            </a:r>
            <a:r>
              <a:rPr lang="en-US" altLang="zh-TW" sz="1200" dirty="0" err="1">
                <a:solidFill>
                  <a:schemeClr val="accent5">
                    <a:lumMod val="50000"/>
                  </a:schemeClr>
                </a:solidFill>
              </a:rPr>
              <a:t>nocall</a:t>
            </a:r>
            <a:endParaRPr lang="zh-TW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228600" indent="0">
              <a:buFont typeface="Arial" panose="020B0604020202020204" pitchFamily="34" charset="0"/>
              <a:buNone/>
            </a:pP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但是有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約 1.97% SNP 剛好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在其中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6人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中都是</a:t>
            </a:r>
            <a:r>
              <a:rPr lang="en-US" altLang="zh-TW" sz="1200" dirty="0" err="1">
                <a:solidFill>
                  <a:schemeClr val="accent5">
                    <a:lumMod val="50000"/>
                  </a:schemeClr>
                </a:solidFill>
              </a:rPr>
              <a:t>nocall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228600" indent="0">
              <a:buFont typeface="Arial" panose="020B0604020202020204" pitchFamily="34" charset="0"/>
              <a:buNone/>
            </a:pP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228600" indent="0">
              <a:buFont typeface="Arial" panose="020B0604020202020204" pitchFamily="34" charset="0"/>
              <a:buNone/>
            </a:pP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然而剛剛在看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genotype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的時候有發現有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6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個人的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call rate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相對低 所以我就在想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genotype call rate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跟</a:t>
            </a:r>
            <a:r>
              <a:rPr lang="en-US" altLang="zh-TW" sz="1200" dirty="0" err="1">
                <a:solidFill>
                  <a:schemeClr val="accent5">
                    <a:lumMod val="50000"/>
                  </a:schemeClr>
                </a:solidFill>
              </a:rPr>
              <a:t>snp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 missing rate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是不是都是來自相同的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6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個人中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228600" indent="0">
              <a:buFont typeface="Arial" panose="020B0604020202020204" pitchFamily="34" charset="0"/>
              <a:buNone/>
            </a:pP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所以針對這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1.97%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也就是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13404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個</a:t>
            </a:r>
            <a:r>
              <a:rPr lang="en-US" altLang="zh-TW" sz="1200" dirty="0" err="1">
                <a:solidFill>
                  <a:schemeClr val="accent5">
                    <a:lumMod val="50000"/>
                  </a:schemeClr>
                </a:solidFill>
              </a:rPr>
              <a:t>snp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去探討 得到的節果也證實我原本的猜測 這個部分有詢問老師需要如何處理 所以後續的解決方法是上色時將這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13404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個</a:t>
            </a:r>
            <a:r>
              <a:rPr lang="en-US" altLang="zh-TW" sz="1200" dirty="0" err="1">
                <a:solidFill>
                  <a:schemeClr val="accent5">
                    <a:lumMod val="50000"/>
                  </a:schemeClr>
                </a:solidFill>
              </a:rPr>
              <a:t>snp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上其他顏色</a:t>
            </a:r>
            <a:endParaRPr lang="zh-TW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228600" indent="0">
              <a:buFont typeface="Arial" panose="020B0604020202020204" pitchFamily="34" charset="0"/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D35612-F00A-C1EC-33A3-F167C9808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6677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4EC7-3C17-96B3-D717-73CFE3F2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6D50E9-A0FF-44AA-347B-1935ED018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0E8ACC-B6DE-DA1A-CAB3-43411A115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然後看</a:t>
            </a:r>
            <a:r>
              <a:rPr kumimoji="1" lang="en-US" altLang="zh-TW" dirty="0"/>
              <a:t>chromosome position</a:t>
            </a:r>
            <a:r>
              <a:rPr kumimoji="1" lang="zh-TW" altLang="en-US" dirty="0"/>
              <a:t>是否完整 </a:t>
            </a:r>
            <a:endParaRPr kumimoji="1" lang="en-US" altLang="zh-TW" dirty="0"/>
          </a:p>
          <a:p>
            <a:r>
              <a:rPr kumimoji="1" lang="zh-TW" altLang="en-US" dirty="0"/>
              <a:t>有發現有</a:t>
            </a:r>
            <a:r>
              <a:rPr kumimoji="1" lang="en-US" altLang="zh-TW" dirty="0"/>
              <a:t>85</a:t>
            </a:r>
            <a:r>
              <a:rPr kumimoji="1" lang="zh-TW" altLang="en-US" dirty="0"/>
              <a:t>個</a:t>
            </a:r>
            <a:r>
              <a:rPr kumimoji="1" lang="en-US" altLang="zh-TW" dirty="0" err="1"/>
              <a:t>snp</a:t>
            </a:r>
            <a:r>
              <a:rPr kumimoji="1" lang="zh-TW" altLang="en-US" dirty="0"/>
              <a:t>沒有染色體資訊</a:t>
            </a:r>
            <a:endParaRPr kumimoji="1" lang="en-US" altLang="zh-TW" dirty="0"/>
          </a:p>
          <a:p>
            <a:r>
              <a:rPr kumimoji="1" lang="zh-TW" altLang="en-US" dirty="0"/>
              <a:t>因此進一步用這七個欄位確認</a:t>
            </a:r>
            <a:r>
              <a:rPr kumimoji="1" lang="en-US" altLang="zh-TW" dirty="0"/>
              <a:t> </a:t>
            </a:r>
            <a:r>
              <a:rPr kumimoji="1" lang="zh-TW" altLang="en-US" dirty="0"/>
              <a:t>結果得知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hg19的</a:t>
            </a:r>
            <a:r>
              <a:rPr kumimoji="1" lang="en-US" altLang="zh-TW" dirty="0"/>
              <a:t>chromosome position</a:t>
            </a:r>
            <a:r>
              <a:rPr kumimoji="1" lang="zh-TW" altLang="en-US" dirty="0"/>
              <a:t>都是</a:t>
            </a:r>
            <a:r>
              <a:rPr kumimoji="1" lang="en-US" altLang="zh-TW" dirty="0"/>
              <a:t>NA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r>
              <a:rPr kumimoji="1" lang="zh-TW" altLang="en-US" dirty="0"/>
              <a:t>所以用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Chr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omosome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_id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以及Start 去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kumimoji="1" lang="en-US" altLang="zh-TW" dirty="0"/>
              <a:t>impute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r>
              <a:rPr kumimoji="1" lang="zh-TW" altLang="en-US" dirty="0"/>
              <a:t>然後在建立新欄位</a:t>
            </a:r>
            <a:r>
              <a:rPr kumimoji="1" lang="en" altLang="zh-TW" dirty="0" err="1"/>
              <a:t>position_source</a:t>
            </a:r>
            <a:r>
              <a:rPr kumimoji="1" lang="en" altLang="zh-TW" dirty="0"/>
              <a:t> </a:t>
            </a:r>
            <a:r>
              <a:rPr kumimoji="1" lang="zh-TW" altLang="en-US" dirty="0"/>
              <a:t> 可以辨識他是否是利用其他欄位補值的結果</a:t>
            </a:r>
            <a:endParaRPr kumimoji="1" lang="en-US" altLang="zh-TW" dirty="0"/>
          </a:p>
          <a:p>
            <a:endParaRPr kumimoji="1" lang="en-US" altLang="zh-TW" dirty="0"/>
          </a:p>
          <a:p>
            <a:pPr marL="0" indent="0">
              <a:buFont typeface="+mj-lt"/>
              <a:buNone/>
            </a:pPr>
            <a:r>
              <a:rPr kumimoji="1" lang="zh-TW" altLang="en-US" dirty="0"/>
              <a:t>接著也會檢查是否有重複的</a:t>
            </a:r>
            <a:r>
              <a:rPr kumimoji="1" lang="en-US" altLang="zh-TW" dirty="0" err="1"/>
              <a:t>snp</a:t>
            </a:r>
            <a:r>
              <a:rPr kumimoji="1" lang="zh-TW" altLang="en-US" dirty="0"/>
              <a:t>資訊 例如</a:t>
            </a:r>
            <a:r>
              <a:rPr lang="zh-TW" altLang="zh-TW" dirty="0"/>
              <a:t>probeset_id</a:t>
            </a:r>
            <a:r>
              <a:rPr lang="zh-TW" altLang="en-US" dirty="0"/>
              <a:t> 、</a:t>
            </a:r>
            <a:r>
              <a:rPr lang="zh-TW" altLang="zh-TW" dirty="0"/>
              <a:t>rsID</a:t>
            </a:r>
            <a:r>
              <a:rPr lang="zh-TW" altLang="en-US" dirty="0"/>
              <a:t>、</a:t>
            </a:r>
            <a:r>
              <a:rPr lang="zh-TW" altLang="zh-TW" dirty="0"/>
              <a:t>chromosome + position</a:t>
            </a:r>
            <a:endParaRPr lang="en-US" altLang="zh-TW" dirty="0"/>
          </a:p>
          <a:p>
            <a:pPr marL="0" indent="0">
              <a:buFont typeface="+mj-lt"/>
              <a:buNone/>
            </a:pPr>
            <a:r>
              <a:rPr kumimoji="1" lang="zh-TW" altLang="en-US" dirty="0"/>
              <a:t>但在</a:t>
            </a:r>
            <a:r>
              <a:rPr lang="zh-TW" altLang="zh-TW" dirty="0"/>
              <a:t>chromosome + position</a:t>
            </a:r>
            <a:r>
              <a:rPr lang="zh-TW" altLang="en-US" dirty="0"/>
              <a:t>有</a:t>
            </a:r>
            <a:r>
              <a:rPr lang="en-US" altLang="zh-TW" dirty="0"/>
              <a:t>4143</a:t>
            </a:r>
            <a:r>
              <a:rPr lang="zh-TW" altLang="en-US" dirty="0"/>
              <a:t>個</a:t>
            </a:r>
            <a:r>
              <a:rPr lang="en-US" altLang="zh-TW" dirty="0" err="1"/>
              <a:t>snp</a:t>
            </a:r>
            <a:r>
              <a:rPr lang="zh-TW" altLang="en-US" dirty="0"/>
              <a:t>次重複的 </a:t>
            </a:r>
            <a:endParaRPr lang="en-US" altLang="zh-TW" dirty="0"/>
          </a:p>
          <a:p>
            <a:pPr marL="0" indent="0">
              <a:buFont typeface="+mj-lt"/>
              <a:buNone/>
            </a:pPr>
            <a:endParaRPr kumimoji="1" lang="en-US" altLang="zh-TW" dirty="0"/>
          </a:p>
          <a:p>
            <a:pPr marL="0" indent="0">
              <a:buFont typeface="+mj-lt"/>
              <a:buNone/>
            </a:pPr>
            <a:r>
              <a:rPr kumimoji="1" lang="zh-TW" altLang="en-US" dirty="0"/>
              <a:t>補充：</a:t>
            </a:r>
            <a:endParaRPr kumimoji="1" lang="en-US" altLang="zh-TW" dirty="0"/>
          </a:p>
          <a:p>
            <a:pPr>
              <a:buNone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這一步之後可能會用：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BestProbeset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BestandRecommended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決定同一 SNP 多個 probeset 時保留哪一個。</a:t>
            </a:r>
          </a:p>
          <a:p>
            <a:pPr>
              <a:buNone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但現在先不刪。</a:t>
            </a:r>
          </a:p>
          <a:p>
            <a:pPr marL="0" indent="0">
              <a:buFont typeface="+mj-lt"/>
              <a:buNone/>
            </a:pP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56E753-5D8D-46DB-113B-6C7D0DB0C2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5486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4733-E606-78DB-CEE4-27169042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E0F0AF-CA21-0237-B528-9A4EFA585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1239ADB-4A9A-4D22-2155-4BFB5CA6E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再來是</a:t>
            </a:r>
            <a:r>
              <a:rPr kumimoji="1" lang="en-US" altLang="zh-TW" dirty="0"/>
              <a:t>batch</a:t>
            </a:r>
            <a:r>
              <a:rPr kumimoji="1" lang="zh-TW" altLang="en-US" dirty="0"/>
              <a:t>的</a:t>
            </a:r>
            <a:r>
              <a:rPr kumimoji="1" lang="en-US" altLang="zh-TW" dirty="0"/>
              <a:t>Quality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control</a:t>
            </a:r>
          </a:p>
          <a:p>
            <a:r>
              <a:rPr kumimoji="1" lang="zh-TW" altLang="en-US" dirty="0"/>
              <a:t>首先是利用</a:t>
            </a:r>
            <a:r>
              <a:rPr kumimoji="1" lang="en-US" altLang="zh-TW" dirty="0"/>
              <a:t>AA AB BB NOCALL</a:t>
            </a:r>
            <a:r>
              <a:rPr kumimoji="1" lang="zh-TW" altLang="en-US" dirty="0"/>
              <a:t>的數量去看</a:t>
            </a:r>
            <a:r>
              <a:rPr kumimoji="1" lang="en-US" altLang="zh-TW" dirty="0"/>
              <a:t>batch</a:t>
            </a:r>
            <a:r>
              <a:rPr kumimoji="1" lang="zh-TW" altLang="en-US" dirty="0"/>
              <a:t>的 </a:t>
            </a:r>
            <a:r>
              <a:rPr lang="zh-TW" altLang="zh-TW" dirty="0"/>
              <a:t>calling </a:t>
            </a:r>
            <a:r>
              <a:rPr lang="zh-TW" altLang="en-US" dirty="0"/>
              <a:t>表現</a:t>
            </a: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200" dirty="0">
                <a:latin typeface="Songti SC" panose="02010600040101010101" pitchFamily="2" charset="-122"/>
                <a:ea typeface="Songti SC" panose="02010600040101010101" pitchFamily="2" charset="-122"/>
              </a:rPr>
              <a:t>發現BB</a:t>
            </a:r>
            <a:r>
              <a:rPr lang="en-US" altLang="zh-TW" sz="1200" dirty="0"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lang="zh-TW" altLang="en-US" sz="1200" dirty="0">
                <a:latin typeface="Songti SC" panose="02010600040101010101" pitchFamily="2" charset="-122"/>
                <a:ea typeface="Songti SC" panose="02010600040101010101" pitchFamily="2" charset="-122"/>
              </a:rPr>
              <a:t>和</a:t>
            </a:r>
            <a:r>
              <a:rPr lang="en-US" altLang="zh-TW" sz="1200" dirty="0" err="1">
                <a:latin typeface="Songti SC" panose="02010600040101010101" pitchFamily="2" charset="-122"/>
                <a:ea typeface="Songti SC" panose="02010600040101010101" pitchFamily="2" charset="-122"/>
              </a:rPr>
              <a:t>nocall</a:t>
            </a:r>
            <a:r>
              <a:rPr lang="zh-TW" altLang="en-US" sz="1200" dirty="0">
                <a:latin typeface="Songti SC" panose="02010600040101010101" pitchFamily="2" charset="-122"/>
                <a:ea typeface="Songti SC" panose="02010600040101010101" pitchFamily="2" charset="-122"/>
              </a:rPr>
              <a:t>是文字型且有非純文字的註解 </a:t>
            </a:r>
            <a:endParaRPr lang="en-US" altLang="zh-TW" sz="12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200" dirty="0">
                <a:latin typeface="Songti SC" panose="02010600040101010101" pitchFamily="2" charset="-122"/>
                <a:ea typeface="Songti SC" panose="02010600040101010101" pitchFamily="2" charset="-122"/>
              </a:rPr>
              <a:t>然後</a:t>
            </a:r>
            <a:r>
              <a:rPr lang="en-US" altLang="zh-TW" sz="1200" dirty="0">
                <a:latin typeface="Songti SC" panose="02010600040101010101" pitchFamily="2" charset="-122"/>
                <a:ea typeface="Songti SC" panose="02010600040101010101" pitchFamily="2" charset="-122"/>
              </a:rPr>
              <a:t>print</a:t>
            </a:r>
            <a:r>
              <a:rPr lang="zh-TW" altLang="en-US" sz="1200" dirty="0">
                <a:latin typeface="Songti SC" panose="02010600040101010101" pitchFamily="2" charset="-122"/>
                <a:ea typeface="Songti SC" panose="02010600040101010101" pitchFamily="2" charset="-122"/>
              </a:rPr>
              <a:t>出他的欄位有什麼 結果發現可能是讀如文字檔案後格式跑掉 出現位移情況</a:t>
            </a:r>
            <a:endParaRPr lang="en-US" altLang="zh-TW" sz="12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然後</a:t>
            </a:r>
            <a:r>
              <a:rPr lang="zh-TW" altLang="en-US" sz="1200" dirty="0">
                <a:solidFill>
                  <a:schemeClr val="tx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檢查</a:t>
            </a:r>
            <a:r>
              <a:rPr lang="zh-TW" altLang="zh-TW" sz="1200" dirty="0"/>
              <a:t> 每個 SNP 在原始 calling batch 中的 call rate</a:t>
            </a:r>
            <a:endParaRPr lang="en-US" altLang="zh-TW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dirty="0"/>
              <a:t>結果得知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最低的 SNP call rate 是 95%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至少 75% 的 SNP，call rate 都是 100%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平均約 99.9% 也就是說：</a:t>
            </a:r>
          </a:p>
          <a:p>
            <a:pPr>
              <a:buNone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大部分 SNP 在原始 batch 中幾乎所有樣本都成功被判定 genotype。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zh-TW" altLang="en-US" dirty="0"/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532F0E-FEC7-D8F1-8C52-7E4A0375F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44047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A49B-71DF-8AAF-EDA9-D3DD793D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BAD170-EAA4-9304-8176-35DE8FE6A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E5A3AF-D25E-C002-0581-A63310B3F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b="0" dirty="0"/>
              <a:t>再來的話一樣都是檢查</a:t>
            </a:r>
            <a:r>
              <a:rPr lang="en" altLang="zh-TW" b="0" dirty="0">
                <a:latin typeface="Songti SC" panose="02010600040101010101" pitchFamily="2" charset="-122"/>
                <a:ea typeface="Songti SC" panose="02010600040101010101" pitchFamily="2" charset="-122"/>
              </a:rPr>
              <a:t>batch-level SNP</a:t>
            </a:r>
          </a:p>
          <a:p>
            <a:r>
              <a:rPr kumimoji="1" lang="zh-TW" altLang="en-US" b="0" dirty="0">
                <a:latin typeface="Songti SC" panose="02010600040101010101" pitchFamily="2" charset="-122"/>
                <a:ea typeface="Songti SC" panose="02010600040101010101" pitchFamily="2" charset="-122"/>
              </a:rPr>
              <a:t>不過都有發現位移的情況</a:t>
            </a:r>
            <a:endParaRPr kumimoji="1" lang="en-US" altLang="zh-TW" b="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r>
              <a:rPr kumimoji="1" lang="zh-TW" altLang="en-US" b="0" dirty="0">
                <a:latin typeface="Songti SC" panose="02010600040101010101" pitchFamily="2" charset="-122"/>
                <a:ea typeface="Songti SC" panose="02010600040101010101" pitchFamily="2" charset="-122"/>
              </a:rPr>
              <a:t>因此這個部分目前還在調整資料讀入的間隔</a:t>
            </a:r>
            <a:endParaRPr kumimoji="1" lang="en-US" altLang="zh-TW" b="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endParaRPr kumimoji="1" lang="en-US" altLang="zh-TW" b="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80D778-9C8E-93B1-34A3-C03EF94538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83821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ED26BBFC-7A6B-DC4D-7B4D-5F92D422E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452AF8C2-0B4B-FAA6-EC81-39D7A54DB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B3434125-3811-297E-CE9D-C272C5A96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因此</a:t>
            </a:r>
            <a:r>
              <a:rPr lang="en-US" altLang="zh-TW" dirty="0"/>
              <a:t>future work </a:t>
            </a:r>
            <a:r>
              <a:rPr lang="zh-TW" altLang="en-US" dirty="0"/>
              <a:t>就是先把資料格式問題搞定然後就能進行</a:t>
            </a:r>
            <a:r>
              <a:rPr lang="en-US" altLang="zh-TW" dirty="0"/>
              <a:t>genotype coding</a:t>
            </a:r>
            <a:endParaRPr lang="zh-TW" altLang="en-US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E5D1D438-638F-79B9-3D3F-129FB2169A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3948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.cel: probe intensity values on the microarray chip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0138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B9F3B-5FE8-9630-DF0D-6E2EA0B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8BB8DE1-7FBD-8825-3639-73CEA29FC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B092BA1-0360-548D-9C86-D47F691D4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.cel: probe intensity values on the microarray chip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9F99D2-327D-5E90-7EC5-03B1BC03B7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94371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0686-CCD3-07FE-E449-C2E99720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9C0BA5B-083A-D033-E23E-713CED2B8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B105367-086B-0C6E-E38B-8BBDBCC31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.cel: probe intensity values on the microarray chip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893CBB-561B-9D87-92C3-9583512474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92402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490a16415b2ac98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490a16415b2ac980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g490a16415b2ac980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1804.0528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>
          <a:extLst>
            <a:ext uri="{FF2B5EF4-FFF2-40B4-BE49-F238E27FC236}">
              <a16:creationId xmlns:a16="http://schemas.microsoft.com/office/drawing/2014/main" id="{732EDE17-9B56-D4D1-70FA-02351E48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40">
            <a:extLst>
              <a:ext uri="{FF2B5EF4-FFF2-40B4-BE49-F238E27FC236}">
                <a16:creationId xmlns:a16="http://schemas.microsoft.com/office/drawing/2014/main" id="{694FBA3D-3B47-90A8-064D-DC42B80F10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0745"/>
          <a:stretch/>
        </p:blipFill>
        <p:spPr>
          <a:xfrm>
            <a:off x="8014002" y="540000"/>
            <a:ext cx="842099" cy="8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>
            <a:extLst>
              <a:ext uri="{FF2B5EF4-FFF2-40B4-BE49-F238E27FC236}">
                <a16:creationId xmlns:a16="http://schemas.microsoft.com/office/drawing/2014/main" id="{E5F7A757-9985-3849-38C4-39E025490B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467"/>
          <a:stretch/>
        </p:blipFill>
        <p:spPr>
          <a:xfrm>
            <a:off x="8856100" y="622900"/>
            <a:ext cx="2843900" cy="6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0">
            <a:extLst>
              <a:ext uri="{FF2B5EF4-FFF2-40B4-BE49-F238E27FC236}">
                <a16:creationId xmlns:a16="http://schemas.microsoft.com/office/drawing/2014/main" id="{0F97C9CB-ACF9-403F-87D8-8DB2715C2DF2}"/>
              </a:ext>
            </a:extLst>
          </p:cNvPr>
          <p:cNvSpPr/>
          <p:nvPr/>
        </p:nvSpPr>
        <p:spPr>
          <a:xfrm>
            <a:off x="-3322025" y="0"/>
            <a:ext cx="6249300" cy="68580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1;p13">
            <a:extLst>
              <a:ext uri="{FF2B5EF4-FFF2-40B4-BE49-F238E27FC236}">
                <a16:creationId xmlns:a16="http://schemas.microsoft.com/office/drawing/2014/main" id="{A48DBB92-4DA9-0E32-9942-B30BEE3CFD4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864000" y="2908800"/>
            <a:ext cx="59289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SUMMER INTERN</a:t>
            </a:r>
            <a:endParaRPr sz="4800" b="1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5" name="Google Shape;92;p13">
            <a:extLst>
              <a:ext uri="{FF2B5EF4-FFF2-40B4-BE49-F238E27FC236}">
                <a16:creationId xmlns:a16="http://schemas.microsoft.com/office/drawing/2014/main" id="{A6382735-05F7-721C-8FFF-58117A614BB0}"/>
              </a:ext>
            </a:extLst>
          </p:cNvPr>
          <p:cNvSpPr txBox="1">
            <a:spLocks/>
          </p:cNvSpPr>
          <p:nvPr/>
        </p:nvSpPr>
        <p:spPr>
          <a:xfrm>
            <a:off x="783093" y="1912050"/>
            <a:ext cx="33144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12000" b="1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20</a:t>
            </a:r>
            <a:endParaRPr lang="zh-TW" altLang="en-US" sz="12000" b="1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r>
              <a:rPr lang="zh-TW" altLang="en-US" sz="12000" b="1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   </a:t>
            </a:r>
            <a:r>
              <a:rPr lang="en-US" altLang="zh-TW" sz="12000" b="1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26</a:t>
            </a:r>
            <a:endParaRPr lang="zh-TW" altLang="en-US" sz="12000" b="1" dirty="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18E93AB0-F3DC-5CF7-F766-E1749CF30E3B}"/>
              </a:ext>
            </a:extLst>
          </p:cNvPr>
          <p:cNvSpPr txBox="1"/>
          <p:nvPr/>
        </p:nvSpPr>
        <p:spPr>
          <a:xfrm>
            <a:off x="7731775" y="5321300"/>
            <a:ext cx="5446800" cy="144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rgbClr val="22222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Presenter: Tsai-Hsuan,Lin</a:t>
            </a:r>
            <a:r>
              <a:rPr lang="en-US" altLang="zh-TW" dirty="0">
                <a:solidFill>
                  <a:srgbClr val="22222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(Sheena)</a:t>
            </a:r>
            <a:endParaRPr dirty="0">
              <a:solidFill>
                <a:srgbClr val="22222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rgbClr val="22222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Advisor: Prof. Hsuan-Yu Chen  </a:t>
            </a:r>
            <a:endParaRPr dirty="0">
              <a:solidFill>
                <a:srgbClr val="22222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zh-TW" dirty="0">
                <a:solidFill>
                  <a:srgbClr val="22222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Institute of Statistical Science Academia Sinica</a:t>
            </a:r>
            <a:endParaRPr dirty="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1905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275800" y="540000"/>
            <a:ext cx="164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Outline</a:t>
            </a:r>
            <a:endParaRPr sz="360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680875" y="2272068"/>
            <a:ext cx="584100" cy="5460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3733525" y="2318631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4718850" y="2177865"/>
            <a:ext cx="2754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TW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Brief</a:t>
            </a:r>
            <a:r>
              <a:rPr lang="zh-TW" altLang="en-US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  </a:t>
            </a:r>
            <a:r>
              <a:rPr lang="en" altLang="zh-TW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 background</a:t>
            </a:r>
            <a:endParaRPr sz="2400" dirty="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3680875" y="3194643"/>
            <a:ext cx="584100" cy="5460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3733525" y="3241206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680875" y="4117218"/>
            <a:ext cx="584100" cy="5460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3733525" y="4163781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sz="3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2" name="Google Shape;132;p15">
            <a:extLst>
              <a:ext uri="{FF2B5EF4-FFF2-40B4-BE49-F238E27FC236}">
                <a16:creationId xmlns:a16="http://schemas.microsoft.com/office/drawing/2014/main" id="{C014B5D5-401E-9D70-32E0-9E991C0FA443}"/>
              </a:ext>
            </a:extLst>
          </p:cNvPr>
          <p:cNvSpPr txBox="1"/>
          <p:nvPr/>
        </p:nvSpPr>
        <p:spPr>
          <a:xfrm>
            <a:off x="4718850" y="3098326"/>
            <a:ext cx="2754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 work</a:t>
            </a:r>
            <a:endParaRPr sz="2400" dirty="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3" name="Google Shape;132;p15">
            <a:extLst>
              <a:ext uri="{FF2B5EF4-FFF2-40B4-BE49-F238E27FC236}">
                <a16:creationId xmlns:a16="http://schemas.microsoft.com/office/drawing/2014/main" id="{B3DF503C-0338-BED9-43E6-18E7677057A6}"/>
              </a:ext>
            </a:extLst>
          </p:cNvPr>
          <p:cNvSpPr txBox="1"/>
          <p:nvPr/>
        </p:nvSpPr>
        <p:spPr>
          <a:xfrm>
            <a:off x="4718850" y="4013767"/>
            <a:ext cx="2754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Future  work</a:t>
            </a:r>
            <a:endParaRPr sz="2400" dirty="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1E19870F-C163-2EE9-A49D-2F38451A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FA1A6CCE-B64D-770E-0E09-8779B10B1E00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10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19AF773-E42E-0B2B-E6B5-69F6CD8FD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010951"/>
              </p:ext>
            </p:extLst>
          </p:nvPr>
        </p:nvGraphicFramePr>
        <p:xfrm>
          <a:off x="258353" y="1600817"/>
          <a:ext cx="3802238" cy="4773286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3802238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56040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421287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8B44ED16-2C0C-5200-D9A2-CD28B5549D8F}"/>
              </a:ext>
            </a:extLst>
          </p:cNvPr>
          <p:cNvSpPr txBox="1"/>
          <p:nvPr/>
        </p:nvSpPr>
        <p:spPr>
          <a:xfrm>
            <a:off x="1094838" y="1600817"/>
            <a:ext cx="21292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Data preprocessing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CE21F5C4-1617-852A-F32F-19CEAC957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655690"/>
              </p:ext>
            </p:extLst>
          </p:nvPr>
        </p:nvGraphicFramePr>
        <p:xfrm>
          <a:off x="4221679" y="1600818"/>
          <a:ext cx="4198640" cy="2690631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4198640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5234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216718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5A05B7EF-BD8D-4565-C5BE-EE187EA79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908586"/>
              </p:ext>
            </p:extLst>
          </p:nvPr>
        </p:nvGraphicFramePr>
        <p:xfrm>
          <a:off x="8577996" y="1602076"/>
          <a:ext cx="3352240" cy="2689373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3352240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52423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F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216513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828A4CE1-0F76-EEFE-56DA-09C311FCDBA7}"/>
              </a:ext>
            </a:extLst>
          </p:cNvPr>
          <p:cNvSpPr txBox="1"/>
          <p:nvPr/>
        </p:nvSpPr>
        <p:spPr>
          <a:xfrm>
            <a:off x="5170527" y="1731722"/>
            <a:ext cx="20673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buSzPts val="1800"/>
            </a:pPr>
            <a:r>
              <a:rPr lang="en" altLang="zh-TW" sz="1600" b="1" dirty="0">
                <a:solidFill>
                  <a:schemeClr val="tx1"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CNN model design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FCCA735-0F1E-793E-1B89-84E296E8BD52}"/>
              </a:ext>
            </a:extLst>
          </p:cNvPr>
          <p:cNvSpPr txBox="1"/>
          <p:nvPr/>
        </p:nvSpPr>
        <p:spPr>
          <a:xfrm>
            <a:off x="8795727" y="1731722"/>
            <a:ext cx="2916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buSzPts val="1800"/>
            </a:pPr>
            <a:r>
              <a:rPr lang="en" altLang="zh-TW" sz="1600" b="1" dirty="0">
                <a:solidFill>
                  <a:schemeClr val="tx1"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Evaluation and Interpretation</a:t>
            </a:r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7CEE1095-04E9-6FFD-D492-8323AE915F92}"/>
              </a:ext>
            </a:extLst>
          </p:cNvPr>
          <p:cNvSpPr/>
          <p:nvPr/>
        </p:nvSpPr>
        <p:spPr>
          <a:xfrm>
            <a:off x="3914530" y="1697469"/>
            <a:ext cx="563683" cy="38856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向右箭號 28">
            <a:extLst>
              <a:ext uri="{FF2B5EF4-FFF2-40B4-BE49-F238E27FC236}">
                <a16:creationId xmlns:a16="http://schemas.microsoft.com/office/drawing/2014/main" id="{FAA9D01C-DBE5-D30E-0AC0-A04810C9B846}"/>
              </a:ext>
            </a:extLst>
          </p:cNvPr>
          <p:cNvSpPr/>
          <p:nvPr/>
        </p:nvSpPr>
        <p:spPr>
          <a:xfrm>
            <a:off x="8277471" y="1689247"/>
            <a:ext cx="563683" cy="38856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57D6AE4-2E84-BC34-1131-99E72DD504C2}"/>
              </a:ext>
            </a:extLst>
          </p:cNvPr>
          <p:cNvSpPr txBox="1"/>
          <p:nvPr/>
        </p:nvSpPr>
        <p:spPr>
          <a:xfrm>
            <a:off x="161005" y="2098851"/>
            <a:ext cx="38944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Encoding strategy :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DC6C359-2325-5CEC-E49F-CD3D45CB748A}"/>
              </a:ext>
            </a:extLst>
          </p:cNvPr>
          <p:cNvSpPr txBox="1"/>
          <p:nvPr/>
        </p:nvSpPr>
        <p:spPr>
          <a:xfrm>
            <a:off x="169524" y="2485449"/>
            <a:ext cx="4455378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QC:LD, MAF, HWE, call rate filtering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Missing genotype -&gt; imputation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Train / validation / test split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5FAC32B-E682-A250-0856-E3081E2EA3D8}"/>
              </a:ext>
            </a:extLst>
          </p:cNvPr>
          <p:cNvSpPr txBox="1"/>
          <p:nvPr/>
        </p:nvSpPr>
        <p:spPr>
          <a:xfrm>
            <a:off x="169524" y="3424483"/>
            <a:ext cx="28154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Image construction :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5E39F0C-91D2-2026-1312-FD72443F922D}"/>
              </a:ext>
            </a:extLst>
          </p:cNvPr>
          <p:cNvSpPr txBox="1"/>
          <p:nvPr/>
        </p:nvSpPr>
        <p:spPr>
          <a:xfrm>
            <a:off x="4235644" y="2501830"/>
            <a:ext cx="4198639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Single-channel /multi-channel CNN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Hyperparameter  tuning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Regularization to prevent overfitting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Multi-input CNN for chromosome-level images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3AD2A083-1CE9-5713-8332-697F6F5D0488}"/>
              </a:ext>
            </a:extLst>
          </p:cNvPr>
          <p:cNvSpPr txBox="1"/>
          <p:nvPr/>
        </p:nvSpPr>
        <p:spPr>
          <a:xfrm>
            <a:off x="8559313" y="2529738"/>
            <a:ext cx="3352241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AUC, sensitivity, specificity, F1-score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Map important pixels back to SNPs / genes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" altLang="zh-TW" dirty="0">
              <a:solidFill>
                <a:schemeClr val="accent5">
                  <a:lumMod val="50000"/>
                  <a:alpha val="30000"/>
                </a:schemeClr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41F2ABD-638C-DF86-C204-23A1544B1DF5}"/>
              </a:ext>
            </a:extLst>
          </p:cNvPr>
          <p:cNvSpPr txBox="1"/>
          <p:nvPr/>
        </p:nvSpPr>
        <p:spPr>
          <a:xfrm>
            <a:off x="169524" y="3887802"/>
            <a:ext cx="3802238" cy="168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multi-channel encoding: each SNP is mapped to one pixel position</a:t>
            </a:r>
          </a:p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A/T/C/G channels represent diploid allele counts, allowing the image to preserve nucleotide identity and genotype dosage.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92CA65AF-06FB-F962-931D-9AB7BBB66E11}"/>
                  </a:ext>
                </a:extLst>
              </p:cNvPr>
              <p:cNvSpPr txBox="1"/>
              <p:nvPr/>
            </p:nvSpPr>
            <p:spPr>
              <a:xfrm>
                <a:off x="477217" y="5778824"/>
                <a:ext cx="2507759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𝑆𝑁𝑃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​→</a:t>
                </a:r>
                <a:r>
                  <a:rPr lang="en-US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​,</a:t>
                </a:r>
                <a:r>
                  <a:rPr lang="zh-TW" alt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​,</a:t>
                </a:r>
                <a:r>
                  <a:rPr lang="zh-TW" alt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​​,</a:t>
                </a:r>
                <a:r>
                  <a:rPr lang="zh-TW" alt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​​]</a:t>
                </a:r>
                <a:r>
                  <a:rPr lang="en-US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, </a:t>
                </a:r>
                <a:endParaRPr lang="zh-TW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92CA65AF-06FB-F962-931D-9AB7BBB66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17" y="5778824"/>
                <a:ext cx="2507759" cy="325089"/>
              </a:xfrm>
              <a:prstGeom prst="rect">
                <a:avLst/>
              </a:prstGeom>
              <a:blipFill>
                <a:blip r:embed="rId4"/>
                <a:stretch>
                  <a:fillRect t="-7692"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E127A32B-356C-163C-AA08-3E779D318437}"/>
              </a:ext>
            </a:extLst>
          </p:cNvPr>
          <p:cNvSpPr txBox="1"/>
          <p:nvPr/>
        </p:nvSpPr>
        <p:spPr>
          <a:xfrm>
            <a:off x="2345756" y="5589769"/>
            <a:ext cx="1337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legreya"/>
                <a:sym typeface="Alegreya"/>
              </a:rPr>
              <a:t>AA =[2, 0, 0, 0]</a:t>
            </a:r>
          </a:p>
          <a:p>
            <a:r>
              <a:rPr kumimoji="1" lang="en" altLang="zh-TW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Alegreya"/>
              </a:rPr>
              <a:t>AG =[1, 0, 0, 1]</a:t>
            </a:r>
          </a:p>
          <a:p>
            <a:r>
              <a:rPr kumimoji="1" lang="en" altLang="zh-TW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Alegreya"/>
              </a:rPr>
              <a:t>GG =[0, 0, 0, 2]</a:t>
            </a:r>
          </a:p>
          <a:p>
            <a:endParaRPr kumimoji="1" lang="zh-TW" altLang="en-US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026B6E6-E9E1-0AD5-4BFA-EF118AC0F897}"/>
              </a:ext>
            </a:extLst>
          </p:cNvPr>
          <p:cNvSpPr txBox="1"/>
          <p:nvPr/>
        </p:nvSpPr>
        <p:spPr>
          <a:xfrm>
            <a:off x="4157939" y="4307830"/>
            <a:ext cx="74777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b="0" i="0" dirty="0">
                <a:solidFill>
                  <a:srgbClr val="474747">
                    <a:alpha val="30000"/>
                  </a:srgbClr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zh-TW" altLang="zh-TW" sz="1050" b="0" i="0" dirty="0">
                <a:solidFill>
                  <a:srgbClr val="474747">
                    <a:alpha val="30000"/>
                  </a:srgbClr>
                </a:solidFill>
                <a:effectLst/>
                <a:latin typeface="Arial" panose="020B0604020202020204" pitchFamily="34" charset="0"/>
              </a:rPr>
              <a:t>convolutional neural network</a:t>
            </a:r>
            <a:r>
              <a:rPr lang="en-US" altLang="zh-TW" sz="1050" b="0" i="0" dirty="0">
                <a:solidFill>
                  <a:srgbClr val="474747">
                    <a:alpha val="30000"/>
                  </a:srgbClr>
                </a:solidFill>
                <a:effectLst/>
                <a:latin typeface="Arial" panose="020B0604020202020204" pitchFamily="34" charset="0"/>
              </a:rPr>
              <a:t>, CNN</a:t>
            </a:r>
            <a:endParaRPr lang="zh-TW" altLang="en-US" dirty="0">
              <a:solidFill>
                <a:srgbClr val="000000">
                  <a:alpha val="30000"/>
                </a:srgbClr>
              </a:solidFill>
            </a:endParaRPr>
          </a:p>
        </p:txBody>
      </p:sp>
      <p:grpSp>
        <p:nvGrpSpPr>
          <p:cNvPr id="3" name="Google Shape;227;p20">
            <a:extLst>
              <a:ext uri="{FF2B5EF4-FFF2-40B4-BE49-F238E27FC236}">
                <a16:creationId xmlns:a16="http://schemas.microsoft.com/office/drawing/2014/main" id="{2056E10D-DE4E-D43B-F2AE-654666AF1645}"/>
              </a:ext>
            </a:extLst>
          </p:cNvPr>
          <p:cNvGrpSpPr/>
          <p:nvPr/>
        </p:nvGrpSpPr>
        <p:grpSpPr>
          <a:xfrm>
            <a:off x="492000" y="540000"/>
            <a:ext cx="2856111" cy="546000"/>
            <a:chOff x="492000" y="540000"/>
            <a:chExt cx="2856111" cy="546000"/>
          </a:xfrm>
        </p:grpSpPr>
        <p:sp>
          <p:nvSpPr>
            <p:cNvPr id="4" name="Google Shape;228;p20">
              <a:extLst>
                <a:ext uri="{FF2B5EF4-FFF2-40B4-BE49-F238E27FC236}">
                  <a16:creationId xmlns:a16="http://schemas.microsoft.com/office/drawing/2014/main" id="{A82CD406-F42E-3E3C-466E-22F3F4C8ABB7}"/>
                </a:ext>
              </a:extLst>
            </p:cNvPr>
            <p:cNvSpPr/>
            <p:nvPr/>
          </p:nvSpPr>
          <p:spPr>
            <a:xfrm>
              <a:off x="492000" y="540000"/>
              <a:ext cx="2856111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29;p20">
              <a:extLst>
                <a:ext uri="{FF2B5EF4-FFF2-40B4-BE49-F238E27FC236}">
                  <a16:creationId xmlns:a16="http://schemas.microsoft.com/office/drawing/2014/main" id="{E38AACD3-608A-8741-C5C7-5B4597467124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Google Shape;230;p20">
            <a:extLst>
              <a:ext uri="{FF2B5EF4-FFF2-40B4-BE49-F238E27FC236}">
                <a16:creationId xmlns:a16="http://schemas.microsoft.com/office/drawing/2014/main" id="{CFAD5287-55C1-5DCC-999C-E5420B89D85A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" name="Google Shape;231;p20">
            <a:extLst>
              <a:ext uri="{FF2B5EF4-FFF2-40B4-BE49-F238E27FC236}">
                <a16:creationId xmlns:a16="http://schemas.microsoft.com/office/drawing/2014/main" id="{3C87985D-4CB8-7CB4-E797-E99A942E0FA8}"/>
              </a:ext>
            </a:extLst>
          </p:cNvPr>
          <p:cNvSpPr txBox="1"/>
          <p:nvPr/>
        </p:nvSpPr>
        <p:spPr>
          <a:xfrm>
            <a:off x="1161826" y="483897"/>
            <a:ext cx="223893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Brief   background</a:t>
            </a:r>
          </a:p>
        </p:txBody>
      </p:sp>
    </p:spTree>
    <p:extLst>
      <p:ext uri="{BB962C8B-B14F-4D97-AF65-F5344CB8AC3E}">
        <p14:creationId xmlns:p14="http://schemas.microsoft.com/office/powerpoint/2010/main" val="254442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E155E99A-4584-94B0-6036-CC680CBC4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38B5E5D3-5F2E-7BC5-DE81-4E8CD7D52FD4}"/>
              </a:ext>
            </a:extLst>
          </p:cNvPr>
          <p:cNvGrpSpPr/>
          <p:nvPr/>
        </p:nvGrpSpPr>
        <p:grpSpPr>
          <a:xfrm>
            <a:off x="492000" y="483897"/>
            <a:ext cx="2375892" cy="646300"/>
            <a:chOff x="492000" y="483897"/>
            <a:chExt cx="2375892" cy="6463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F29B075A-D0EE-FCC1-EABC-552DA96F48E3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5680E210-AA43-6DFF-DDF1-13629716C8AE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0">
              <a:extLst>
                <a:ext uri="{FF2B5EF4-FFF2-40B4-BE49-F238E27FC236}">
                  <a16:creationId xmlns:a16="http://schemas.microsoft.com/office/drawing/2014/main" id="{2CBD9012-0C24-7754-24DB-5733C38D8069}"/>
                </a:ext>
              </a:extLst>
            </p:cNvPr>
            <p:cNvSpPr txBox="1"/>
            <p:nvPr/>
          </p:nvSpPr>
          <p:spPr>
            <a:xfrm>
              <a:off x="544650" y="586563"/>
              <a:ext cx="478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  <a:endParaRPr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31" name="Google Shape;231;p20">
              <a:extLst>
                <a:ext uri="{FF2B5EF4-FFF2-40B4-BE49-F238E27FC236}">
                  <a16:creationId xmlns:a16="http://schemas.microsoft.com/office/drawing/2014/main" id="{D6605507-67DE-C9EF-28DF-A9E955AFF104}"/>
                </a:ext>
              </a:extLst>
            </p:cNvPr>
            <p:cNvSpPr txBox="1"/>
            <p:nvPr/>
          </p:nvSpPr>
          <p:spPr>
            <a:xfrm>
              <a:off x="1161826" y="483897"/>
              <a:ext cx="1706066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000" dirty="0">
                  <a:solidFill>
                    <a:schemeClr val="dk1"/>
                  </a:solidFill>
                  <a:latin typeface="Alegreya"/>
                  <a:ea typeface="Alegreya"/>
                  <a:cs typeface="Alegreya"/>
                  <a:sym typeface="Alegreya"/>
                </a:rPr>
                <a:t>Recent work</a:t>
              </a: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F52D667F-E56C-89EA-2407-027628287740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2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EDDCFAF-A316-21EE-BF8F-343CC7C6B1B1}"/>
              </a:ext>
            </a:extLst>
          </p:cNvPr>
          <p:cNvSpPr txBox="1"/>
          <p:nvPr/>
        </p:nvSpPr>
        <p:spPr>
          <a:xfrm>
            <a:off x="2106386" y="-2171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01E32331-02F6-DC57-8CA3-33AFF0F22D8C}"/>
              </a:ext>
            </a:extLst>
          </p:cNvPr>
          <p:cNvGrpSpPr/>
          <p:nvPr/>
        </p:nvGrpSpPr>
        <p:grpSpPr>
          <a:xfrm>
            <a:off x="630353" y="1176760"/>
            <a:ext cx="11118735" cy="4540711"/>
            <a:chOff x="1076100" y="1359901"/>
            <a:chExt cx="10257504" cy="4138198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F7FEFFA6-6A09-2ACC-D9DA-F3D622454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5000"/>
            </a:blip>
            <a:srcRect l="17511" t="143" r="10067" b="49994"/>
            <a:stretch>
              <a:fillRect/>
            </a:stretch>
          </p:blipFill>
          <p:spPr>
            <a:xfrm>
              <a:off x="1076100" y="1525540"/>
              <a:ext cx="10257504" cy="3972559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DE962725-9A3A-6605-DE2B-4C297416E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9682" y="1359901"/>
              <a:ext cx="5690690" cy="3972559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04CFC7A7-2D06-C2F3-EED9-42CAE743CA98}"/>
                </a:ext>
              </a:extLst>
            </p:cNvPr>
            <p:cNvSpPr txBox="1"/>
            <p:nvPr/>
          </p:nvSpPr>
          <p:spPr>
            <a:xfrm>
              <a:off x="4407873" y="3453041"/>
              <a:ext cx="212926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CNN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+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DNA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55A6F53D-3410-757B-8C6D-242E26FAE399}"/>
                </a:ext>
              </a:extLst>
            </p:cNvPr>
            <p:cNvSpPr txBox="1"/>
            <p:nvPr/>
          </p:nvSpPr>
          <p:spPr>
            <a:xfrm>
              <a:off x="6022646" y="2152985"/>
              <a:ext cx="2129267" cy="841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CNN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+</a:t>
              </a:r>
            </a:p>
            <a:p>
              <a:pPr marL="114300" algn="ctr">
                <a:buSzPts val="1800"/>
              </a:pPr>
              <a:r>
                <a:rPr lang="en" altLang="zh-TW" sz="1800" b="1" dirty="0" err="1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Colour</a:t>
              </a: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 image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4311AD6-7CE0-BCA0-0AAA-9417D6A14858}"/>
                </a:ext>
              </a:extLst>
            </p:cNvPr>
            <p:cNvSpPr txBox="1"/>
            <p:nvPr/>
          </p:nvSpPr>
          <p:spPr>
            <a:xfrm>
              <a:off x="7328844" y="3457995"/>
              <a:ext cx="2129267" cy="13463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CNN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+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DNA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+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image</a:t>
              </a:r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1564E186-D56A-8FE2-D900-BAE8263722E3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 </a:t>
            </a:r>
          </a:p>
        </p:txBody>
      </p:sp>
    </p:spTree>
    <p:extLst>
      <p:ext uri="{BB962C8B-B14F-4D97-AF65-F5344CB8AC3E}">
        <p14:creationId xmlns:p14="http://schemas.microsoft.com/office/powerpoint/2010/main" val="7484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16A9D105-960F-FD4A-FF87-DB51A42A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E9D7370F-93E8-9F2E-48A4-098D5F6271D3}"/>
              </a:ext>
            </a:extLst>
          </p:cNvPr>
          <p:cNvGrpSpPr/>
          <p:nvPr/>
        </p:nvGrpSpPr>
        <p:grpSpPr>
          <a:xfrm>
            <a:off x="492000" y="483897"/>
            <a:ext cx="2375892" cy="646300"/>
            <a:chOff x="492000" y="483897"/>
            <a:chExt cx="2375892" cy="6463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606EB4C1-6555-33AD-27FF-450547B3DB05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4754E2F6-A995-5B3F-0E53-2CFFB095BFC8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0">
              <a:extLst>
                <a:ext uri="{FF2B5EF4-FFF2-40B4-BE49-F238E27FC236}">
                  <a16:creationId xmlns:a16="http://schemas.microsoft.com/office/drawing/2014/main" id="{6C17F874-CFE7-1E17-8AE4-98D4E471A398}"/>
                </a:ext>
              </a:extLst>
            </p:cNvPr>
            <p:cNvSpPr txBox="1"/>
            <p:nvPr/>
          </p:nvSpPr>
          <p:spPr>
            <a:xfrm>
              <a:off x="544650" y="586563"/>
              <a:ext cx="478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  <a:endParaRPr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31" name="Google Shape;231;p20">
              <a:extLst>
                <a:ext uri="{FF2B5EF4-FFF2-40B4-BE49-F238E27FC236}">
                  <a16:creationId xmlns:a16="http://schemas.microsoft.com/office/drawing/2014/main" id="{52751FA5-3046-8490-1C65-0C4B1C6864A3}"/>
                </a:ext>
              </a:extLst>
            </p:cNvPr>
            <p:cNvSpPr txBox="1"/>
            <p:nvPr/>
          </p:nvSpPr>
          <p:spPr>
            <a:xfrm>
              <a:off x="1161826" y="483897"/>
              <a:ext cx="1706066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000" dirty="0">
                  <a:solidFill>
                    <a:schemeClr val="dk1"/>
                  </a:solidFill>
                  <a:latin typeface="Alegreya"/>
                  <a:ea typeface="Alegreya"/>
                  <a:cs typeface="Alegreya"/>
                  <a:sym typeface="Alegreya"/>
                </a:rPr>
                <a:t>Recent work</a:t>
              </a: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927D5D97-B36A-0F1D-8CD8-9E1339A87F8C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9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5E51030-8254-CD4A-C928-5F15CF32C700}"/>
              </a:ext>
            </a:extLst>
          </p:cNvPr>
          <p:cNvSpPr txBox="1"/>
          <p:nvPr/>
        </p:nvSpPr>
        <p:spPr>
          <a:xfrm>
            <a:off x="2106386" y="-2171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CE32B98-DE92-FEFC-7631-D6611DFED98B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CA33786-7248-7B5B-43C5-EC3F51942D61}"/>
              </a:ext>
            </a:extLst>
          </p:cNvPr>
          <p:cNvSpPr txBox="1"/>
          <p:nvPr/>
        </p:nvSpPr>
        <p:spPr>
          <a:xfrm>
            <a:off x="433282" y="6469509"/>
            <a:ext cx="1120443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Akkaya, 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Ü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. M., &amp; Kalkan, H. (2021). Classification of DNA sequences with k-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mers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 based vector representations. In 2021 Innovations in Intelligent Systems and Applications Conference (ASYU) (pp. 1–5). IEEE. https://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/10.1109/ASYU52992.2021.9599084</a:t>
            </a:r>
          </a:p>
          <a:p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Zhang, Q., Zhu, L., &amp; Huang, D.-S. (2019). High-order convolutional neural network architecture for predicting DNA-protein binding sites. IEEE/ACM Transactions on Computational Biology and Bioinformatics, 16(4), 1184–1192. https://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/10.1109/TCBB.2018.2819660</a:t>
            </a:r>
          </a:p>
          <a:p>
            <a:endParaRPr lang="en" altLang="zh-TW" sz="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62E5BD9-97F4-A374-1EAC-0756296B3FB3}"/>
              </a:ext>
            </a:extLst>
          </p:cNvPr>
          <p:cNvSpPr txBox="1"/>
          <p:nvPr/>
        </p:nvSpPr>
        <p:spPr>
          <a:xfrm>
            <a:off x="468121" y="1664978"/>
            <a:ext cx="10401960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1.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k-</a:t>
            </a:r>
            <a:r>
              <a:rPr lang="en" altLang="zh-TW" sz="1600" dirty="0" err="1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mer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representation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會影響模型學習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(Akkaya &amp; Kalkan, 2021) :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6F83A31-3972-78EE-93B5-92A275122047}"/>
              </a:ext>
            </a:extLst>
          </p:cNvPr>
          <p:cNvSpPr txBox="1"/>
          <p:nvPr/>
        </p:nvSpPr>
        <p:spPr>
          <a:xfrm>
            <a:off x="698375" y="2019989"/>
            <a:ext cx="10401960" cy="264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資料型態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-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DNA sequence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(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有完整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sequence position)-&gt;</a:t>
            </a:r>
            <a:r>
              <a:rPr lang="en-US" altLang="zh-TW" sz="1600" u="sng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microarray data</a:t>
            </a:r>
            <a:r>
              <a:rPr lang="zh-TW" altLang="en-US" sz="1600" u="sng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做不了</a:t>
            </a:r>
            <a:endParaRPr lang="en" altLang="zh-TW" sz="1600" u="sng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Alegreya"/>
            </a:endParaRPr>
          </a:p>
          <a:p>
            <a:pPr marL="114300">
              <a:lnSpc>
                <a:spcPct val="150000"/>
              </a:lnSpc>
              <a:buSzPts val="1800"/>
            </a:pP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方法：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Alegreya"/>
            </a:endParaRPr>
          </a:p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One-hot vector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(default/random):</a:t>
            </a:r>
          </a:p>
          <a:p>
            <a:pPr marL="114300" lvl="2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         -&gt;k-</a:t>
            </a:r>
            <a:r>
              <a:rPr lang="en" altLang="zh-TW" sz="1600" dirty="0" err="1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mer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彼此之間的距離都一樣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(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任兩個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one hot vector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之間的距離都相等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)</a:t>
            </a:r>
          </a:p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         -&gt;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探討排序位置是否會影響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CNN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學習結果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-&gt;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 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yes: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 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random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排列的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accuracy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最低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Wingdings" pitchFamily="2" charset="2"/>
            </a:endParaRPr>
          </a:p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dna2vec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: k-</a:t>
            </a:r>
            <a:r>
              <a:rPr lang="en-US" altLang="zh-TW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mer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 embedding,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保留了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sequence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組合關係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highlight>
                <a:srgbClr val="FFF7FD"/>
              </a:highlight>
              <a:latin typeface="Alegreya"/>
              <a:ea typeface="Alegreya"/>
              <a:cs typeface="Alegreya"/>
              <a:sym typeface="Wingdings" pitchFamily="2" charset="2"/>
            </a:endParaRPr>
          </a:p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VOSS: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每段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DNA sequence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拆成 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4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條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0/1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數列 分別表示 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ACGT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在每個位置有沒有出現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0317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8087615D-151F-308A-FA78-EFFC74FF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7A74A232-D4E2-D260-937A-65C50FCEB47C}"/>
              </a:ext>
            </a:extLst>
          </p:cNvPr>
          <p:cNvGrpSpPr/>
          <p:nvPr/>
        </p:nvGrpSpPr>
        <p:grpSpPr>
          <a:xfrm>
            <a:off x="492000" y="483897"/>
            <a:ext cx="2375892" cy="646300"/>
            <a:chOff x="492000" y="483897"/>
            <a:chExt cx="2375892" cy="6463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18FE8C45-3892-8E31-A91C-940AC3530B6B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23CD0C5A-1C23-EE28-460B-B058F5D8D216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0">
              <a:extLst>
                <a:ext uri="{FF2B5EF4-FFF2-40B4-BE49-F238E27FC236}">
                  <a16:creationId xmlns:a16="http://schemas.microsoft.com/office/drawing/2014/main" id="{1686C2D6-682D-E7FC-A212-030FC4290468}"/>
                </a:ext>
              </a:extLst>
            </p:cNvPr>
            <p:cNvSpPr txBox="1"/>
            <p:nvPr/>
          </p:nvSpPr>
          <p:spPr>
            <a:xfrm>
              <a:off x="544650" y="586563"/>
              <a:ext cx="478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  <a:endParaRPr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31" name="Google Shape;231;p20">
              <a:extLst>
                <a:ext uri="{FF2B5EF4-FFF2-40B4-BE49-F238E27FC236}">
                  <a16:creationId xmlns:a16="http://schemas.microsoft.com/office/drawing/2014/main" id="{BA34491A-AD9B-8D78-FC70-E8B243EA7541}"/>
                </a:ext>
              </a:extLst>
            </p:cNvPr>
            <p:cNvSpPr txBox="1"/>
            <p:nvPr/>
          </p:nvSpPr>
          <p:spPr>
            <a:xfrm>
              <a:off x="1161826" y="483897"/>
              <a:ext cx="1706066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000" dirty="0">
                  <a:solidFill>
                    <a:schemeClr val="dk1"/>
                  </a:solidFill>
                  <a:latin typeface="Alegreya"/>
                  <a:ea typeface="Alegreya"/>
                  <a:cs typeface="Alegreya"/>
                  <a:sym typeface="Alegreya"/>
                </a:rPr>
                <a:t>Recent work</a:t>
              </a: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5BE56DC5-0B80-CE83-4406-272AA832C55D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9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F62396C-E6DC-3091-B137-7EEDE695DD73}"/>
              </a:ext>
            </a:extLst>
          </p:cNvPr>
          <p:cNvSpPr txBox="1"/>
          <p:nvPr/>
        </p:nvSpPr>
        <p:spPr>
          <a:xfrm>
            <a:off x="2106386" y="-2171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3B59D98-2472-1332-C93D-4D4A3DFAB895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353C2EB-4F39-84EE-4CBC-8CC222892D9F}"/>
              </a:ext>
            </a:extLst>
          </p:cNvPr>
          <p:cNvSpPr txBox="1"/>
          <p:nvPr/>
        </p:nvSpPr>
        <p:spPr>
          <a:xfrm>
            <a:off x="433282" y="6469509"/>
            <a:ext cx="1120443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Akkaya, 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Ü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. M., &amp; Kalkan, H. (2021). Classification of DNA sequences with k-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mers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 based vector representations. In 2021 Innovations in Intelligent Systems and Applications Conference (ASYU) (pp. 1–5). IEEE. https://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/10.1109/ASYU52992.2021.9599084</a:t>
            </a:r>
          </a:p>
          <a:p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Zhang, Q., Zhu, L., &amp; Huang, D.-S. (2019). High-order convolutional neural network architecture for predicting DNA-protein binding sites. IEEE/ACM Transactions on Computational Biology and Bioinformatics, 16(4), 1184–1192. https://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/10.1109/TCBB.2018.2819660</a:t>
            </a:r>
          </a:p>
          <a:p>
            <a:endParaRPr lang="en" altLang="zh-TW" sz="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21AA39E-0E93-F202-E822-ABF0B43068D5}"/>
              </a:ext>
            </a:extLst>
          </p:cNvPr>
          <p:cNvSpPr txBox="1"/>
          <p:nvPr/>
        </p:nvSpPr>
        <p:spPr>
          <a:xfrm>
            <a:off x="433282" y="1715609"/>
            <a:ext cx="85728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2. High-Order Convolutional Neural Network(HOCNN)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(Zhang et al., 2019)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91E07E-DC21-9E42-D132-17EE5EE64B7E}"/>
                  </a:ext>
                </a:extLst>
              </p:cNvPr>
              <p:cNvSpPr txBox="1"/>
              <p:nvPr/>
            </p:nvSpPr>
            <p:spPr>
              <a:xfrm>
                <a:off x="616196" y="2202599"/>
                <a:ext cx="10838609" cy="264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把相鄰幾個 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nucleotide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當成一個單位來編碼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,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一次看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2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個鹼基組合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-&gt;2- 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order(2-mer) </a:t>
                </a:r>
                <a:r>
                  <a:rPr lang="zh-TW" altLang="en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、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k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個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-&gt;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k-</a:t>
                </a:r>
                <a:r>
                  <a:rPr lang="en" altLang="zh-TW" sz="1600" dirty="0" err="1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mer</a:t>
                </a:r>
                <a:endParaRPr lang="en" altLang="zh-TW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主要是呈現每個位置附近出現了哪種 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nucleotide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組合</a:t>
                </a:r>
                <a:endParaRPr lang="en-US" altLang="zh-TW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E.g., 2-mer: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的排列組合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AA, AT, AC, AG, TA, TT, TC, TG, CA, CT, CC, CG, GA, GT, GC, GG  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6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=16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種</a:t>
                </a: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         表示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2-</a:t>
                </a:r>
                <a:r>
                  <a:rPr lang="en" altLang="zh-TW" sz="1600" dirty="0" err="1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mer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可以用 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16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維 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one-hot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來呈現，因此給定這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16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種排列順序後看他對應的是哪一組的位置：</a:t>
                </a: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endParaRPr lang="zh-TW" altLang="en-US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endParaRPr lang="zh-TW" altLang="en-US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endParaRPr lang="en" altLang="zh-TW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91E07E-DC21-9E42-D132-17EE5EE64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" y="2202599"/>
                <a:ext cx="10838609" cy="26468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2245B4AF-C45C-9B4B-63E2-B344E6380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26" y="3766528"/>
            <a:ext cx="33591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0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3355D529-706D-2D0F-251E-F3D5F7ED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2E1D7BD5-E8D8-98F3-C83D-C0AA407F26DB}"/>
              </a:ext>
            </a:extLst>
          </p:cNvPr>
          <p:cNvGrpSpPr/>
          <p:nvPr/>
        </p:nvGrpSpPr>
        <p:grpSpPr>
          <a:xfrm>
            <a:off x="492000" y="483897"/>
            <a:ext cx="2375892" cy="646300"/>
            <a:chOff x="492000" y="483897"/>
            <a:chExt cx="2375892" cy="6463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4BD74ABD-1A1E-B9A4-CDCF-6530B1CABF39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05B1544D-9D22-70B1-D5F5-4FF7F1190C74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0">
              <a:extLst>
                <a:ext uri="{FF2B5EF4-FFF2-40B4-BE49-F238E27FC236}">
                  <a16:creationId xmlns:a16="http://schemas.microsoft.com/office/drawing/2014/main" id="{E37DDE4B-ED14-69E2-DE8C-C08857E363C3}"/>
                </a:ext>
              </a:extLst>
            </p:cNvPr>
            <p:cNvSpPr txBox="1"/>
            <p:nvPr/>
          </p:nvSpPr>
          <p:spPr>
            <a:xfrm>
              <a:off x="544650" y="586563"/>
              <a:ext cx="478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  <a:endParaRPr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31" name="Google Shape;231;p20">
              <a:extLst>
                <a:ext uri="{FF2B5EF4-FFF2-40B4-BE49-F238E27FC236}">
                  <a16:creationId xmlns:a16="http://schemas.microsoft.com/office/drawing/2014/main" id="{5EC2CF4F-D2F4-5F52-68DB-9DB306F2AE8B}"/>
                </a:ext>
              </a:extLst>
            </p:cNvPr>
            <p:cNvSpPr txBox="1"/>
            <p:nvPr/>
          </p:nvSpPr>
          <p:spPr>
            <a:xfrm>
              <a:off x="1161826" y="483897"/>
              <a:ext cx="1706066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000" dirty="0">
                  <a:solidFill>
                    <a:schemeClr val="dk1"/>
                  </a:solidFill>
                  <a:latin typeface="Alegreya"/>
                  <a:ea typeface="Alegreya"/>
                  <a:cs typeface="Alegreya"/>
                  <a:sym typeface="Alegreya"/>
                </a:rPr>
                <a:t>Recent work</a:t>
              </a: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96A56D13-C114-EC43-AA0F-5B787F1A53B8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9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21D289C-48FE-DB20-3BBF-AEC44A2B6A88}"/>
              </a:ext>
            </a:extLst>
          </p:cNvPr>
          <p:cNvSpPr txBox="1"/>
          <p:nvPr/>
        </p:nvSpPr>
        <p:spPr>
          <a:xfrm>
            <a:off x="2106386" y="-2171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4E858DA-6174-128A-182C-EB3CD5F822CF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BBBAEA3-32D5-8D70-33E8-594B8D52DD76}"/>
              </a:ext>
            </a:extLst>
          </p:cNvPr>
          <p:cNvSpPr txBox="1"/>
          <p:nvPr/>
        </p:nvSpPr>
        <p:spPr>
          <a:xfrm>
            <a:off x="433282" y="6453188"/>
            <a:ext cx="1120443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700" dirty="0">
                <a:solidFill>
                  <a:schemeClr val="tx2">
                    <a:lumMod val="75000"/>
                  </a:schemeClr>
                </a:solidFill>
              </a:rPr>
              <a:t>Ma, S., &amp; Zhang, Z. (2018). </a:t>
            </a:r>
            <a:r>
              <a:rPr lang="zh-TW" altLang="zh-TW" sz="700" i="1" dirty="0">
                <a:solidFill>
                  <a:schemeClr val="tx2">
                    <a:lumMod val="75000"/>
                  </a:schemeClr>
                </a:solidFill>
              </a:rPr>
              <a:t>OmicsMapNet: Transforming omics data to take advantage of deep convolutional neural network for discovery</a:t>
            </a:r>
            <a:r>
              <a:rPr lang="zh-TW" altLang="zh-TW" sz="700" dirty="0">
                <a:solidFill>
                  <a:schemeClr val="tx2">
                    <a:lumMod val="75000"/>
                  </a:schemeClr>
                </a:solidFill>
              </a:rPr>
              <a:t>. arXiv. </a:t>
            </a:r>
            <a:r>
              <a:rPr lang="zh-TW" altLang="zh-TW" sz="700" dirty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https://doi.org/10.48550/arXiv.1804.05283</a:t>
            </a:r>
            <a:endParaRPr lang="zh-TW" altLang="en-US" sz="7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Hasan, M. M., Poly, H. J., 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Rayhanuzzaman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, R., &amp; 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Srizon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, A. Y. (2025). Enhanced DNA sequence classification through hyperparameter optimized convolutional neural networks. In 2025 4th International Conference on Electrical, Computer and Communication Engineering (ECCE) (pp. 1–6). IEEE. https://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/10.1109/ECCE64574.2025.11013923</a:t>
            </a:r>
          </a:p>
          <a:p>
            <a:endParaRPr lang="en" altLang="zh-TW" sz="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54F2C3C-214E-D65C-4E93-1E8CC91CE80B}"/>
              </a:ext>
            </a:extLst>
          </p:cNvPr>
          <p:cNvSpPr txBox="1"/>
          <p:nvPr/>
        </p:nvSpPr>
        <p:spPr>
          <a:xfrm>
            <a:off x="468122" y="1659506"/>
            <a:ext cx="11419078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3. color-image-based CNN 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可能比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grayscale-image-based CNN 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更能捕捉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genotype data 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中和疾病相關的資訊</a:t>
            </a:r>
            <a:r>
              <a:rPr lang="en-US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(Ma &amp; Zhang, 2018) :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A78D633-4FC6-FE2A-B38A-152F18C9C92D}"/>
              </a:ext>
            </a:extLst>
          </p:cNvPr>
          <p:cNvSpPr txBox="1"/>
          <p:nvPr/>
        </p:nvSpPr>
        <p:spPr>
          <a:xfrm>
            <a:off x="468122" y="3890838"/>
            <a:ext cx="8390213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4. CNN model +DNA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的調超參數與最佳化</a:t>
            </a:r>
            <a:r>
              <a:rPr lang="en-US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(Hasan et al., 2025) :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C2CDC49-265D-1F2B-248D-DF216FCB7078}"/>
              </a:ext>
            </a:extLst>
          </p:cNvPr>
          <p:cNvSpPr txBox="1"/>
          <p:nvPr/>
        </p:nvSpPr>
        <p:spPr>
          <a:xfrm>
            <a:off x="616196" y="2088021"/>
            <a:ext cx="108386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資料型態：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DNA sequence(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有完整的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nucleotide identity-&gt;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才能做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multi-channel)</a:t>
            </a:r>
          </a:p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在彩色影像的架構中，染色體代碼（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Chromosome codes</a:t>
            </a:r>
            <a:r>
              <a:rPr lang="zh-TW" altLang="en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）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以端對端（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end to end</a:t>
            </a:r>
            <a:r>
              <a:rPr lang="zh-TW" altLang="en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）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的方式排，灰階採有序排列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(missing impute:0 )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14D53B4-F402-1C41-A65A-B270998E626A}"/>
              </a:ext>
            </a:extLst>
          </p:cNvPr>
          <p:cNvSpPr txBox="1"/>
          <p:nvPr/>
        </p:nvSpPr>
        <p:spPr>
          <a:xfrm>
            <a:off x="616195" y="3229785"/>
            <a:ext cx="10838609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en-US" altLang="zh-TW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-&gt; Microarray-&gt;</a:t>
            </a:r>
            <a:r>
              <a:rPr lang="zh-TW" altLang="en-US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應該只能利用</a:t>
            </a:r>
            <a:r>
              <a:rPr lang="en-US" altLang="zh-TW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genotype category </a:t>
            </a:r>
            <a:r>
              <a:rPr lang="zh-TW" altLang="en-US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用顏色區別</a:t>
            </a:r>
            <a:r>
              <a:rPr lang="en-US" altLang="zh-TW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AA/AB/BB </a:t>
            </a:r>
            <a:r>
              <a:rPr lang="zh-TW" altLang="en-US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但無法辨識</a:t>
            </a:r>
            <a:endParaRPr lang="en-US" altLang="zh-TW" sz="1600" dirty="0">
              <a:solidFill>
                <a:srgbClr val="C00000"/>
              </a:solidFill>
              <a:highlight>
                <a:srgbClr val="FFF7FD"/>
              </a:highlight>
              <a:latin typeface="Alegreya"/>
              <a:ea typeface="Alegreya"/>
              <a:cs typeface="Alegreya"/>
              <a:sym typeface="Wingdings" pitchFamily="2" charset="2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B1C0F0-C4A7-BA9B-229C-164EFCDAA522}"/>
              </a:ext>
            </a:extLst>
          </p:cNvPr>
          <p:cNvSpPr txBox="1"/>
          <p:nvPr/>
        </p:nvSpPr>
        <p:spPr>
          <a:xfrm>
            <a:off x="676695" y="4340799"/>
            <a:ext cx="10838609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hyperparameter tuning: convolution filters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、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kernel size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、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learning rate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、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batch size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、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optimizer</a:t>
            </a:r>
          </a:p>
        </p:txBody>
      </p:sp>
    </p:spTree>
    <p:extLst>
      <p:ext uri="{BB962C8B-B14F-4D97-AF65-F5344CB8AC3E}">
        <p14:creationId xmlns:p14="http://schemas.microsoft.com/office/powerpoint/2010/main" val="4004768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8D77D0D6-07D9-DDEB-21A0-812767DA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C58363BC-5D60-10AA-C618-9D95521BBCB9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296711D1-0E3F-0227-F3B6-76C8BD820055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E4ED2266-F3AC-F0EF-1ED8-6DCFB4D0CCED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90A23A4D-7FF6-DBD8-3CA8-1A992E1B6D25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10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5" name="Google Shape;230;p20">
            <a:extLst>
              <a:ext uri="{FF2B5EF4-FFF2-40B4-BE49-F238E27FC236}">
                <a16:creationId xmlns:a16="http://schemas.microsoft.com/office/drawing/2014/main" id="{928A23D9-6CCE-8B79-EC7D-0F137F98C866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" name="Google Shape;231;p20">
            <a:extLst>
              <a:ext uri="{FF2B5EF4-FFF2-40B4-BE49-F238E27FC236}">
                <a16:creationId xmlns:a16="http://schemas.microsoft.com/office/drawing/2014/main" id="{4632140B-05CD-79C9-5EB4-DA88307350F2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B1B2CE9-651E-8A41-91DF-FB41991F3947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Data preprocessing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C2E5A47-9EA0-4430-4108-ADBEB7FEE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45219"/>
              </p:ext>
            </p:extLst>
          </p:nvPr>
        </p:nvGraphicFramePr>
        <p:xfrm>
          <a:off x="4592105" y="1689941"/>
          <a:ext cx="2752843" cy="1977307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2752843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767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5796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F52BB72E-2600-5D2A-A070-7F8C6712A901}"/>
              </a:ext>
            </a:extLst>
          </p:cNvPr>
          <p:cNvSpPr txBox="1"/>
          <p:nvPr/>
        </p:nvSpPr>
        <p:spPr>
          <a:xfrm>
            <a:off x="5158244" y="1634200"/>
            <a:ext cx="1718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E462F4A-5EFC-514A-D1DB-C5E97D8A160F}"/>
              </a:ext>
            </a:extLst>
          </p:cNvPr>
          <p:cNvSpPr txBox="1"/>
          <p:nvPr/>
        </p:nvSpPr>
        <p:spPr>
          <a:xfrm>
            <a:off x="4776894" y="2543635"/>
            <a:ext cx="24291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call rate / missing rate, Heterozygosity, LD, MAF, HWE, PCA </a:t>
            </a:r>
            <a:endParaRPr lang="zh-TW" alt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164F192-D787-14D8-F4BF-5862CCA18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552821"/>
              </p:ext>
            </p:extLst>
          </p:nvPr>
        </p:nvGraphicFramePr>
        <p:xfrm>
          <a:off x="7707301" y="1698700"/>
          <a:ext cx="4041787" cy="1977307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4041787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767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5796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6A66E35F-0243-CD17-2FD2-C54219E14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517287"/>
              </p:ext>
            </p:extLst>
          </p:nvPr>
        </p:nvGraphicFramePr>
        <p:xfrm>
          <a:off x="444676" y="1689941"/>
          <a:ext cx="3686990" cy="2365176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3686990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300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97217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B4D189BF-591F-00FB-FDFD-410A1EAFB43E}"/>
              </a:ext>
            </a:extLst>
          </p:cNvPr>
          <p:cNvSpPr txBox="1"/>
          <p:nvPr/>
        </p:nvSpPr>
        <p:spPr>
          <a:xfrm>
            <a:off x="962120" y="1638591"/>
            <a:ext cx="27659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lnSpc>
                <a:spcPct val="150000"/>
              </a:lnSpc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Raw data- genotype calling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B0B5FF0-8BA4-DB12-EDC6-A219825DE9C6}"/>
              </a:ext>
            </a:extLst>
          </p:cNvPr>
          <p:cNvSpPr txBox="1"/>
          <p:nvPr/>
        </p:nvSpPr>
        <p:spPr>
          <a:xfrm>
            <a:off x="561897" y="3341969"/>
            <a:ext cx="2627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100000"/>
              <a:buFont typeface="+mj-lt"/>
              <a:buAutoNum type="arabicPeriod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SNP microarray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(.cel)</a:t>
            </a:r>
          </a:p>
          <a:p>
            <a:pPr marL="457200" indent="-342900">
              <a:buClr>
                <a:schemeClr val="accent5">
                  <a:lumMod val="50000"/>
                </a:schemeClr>
              </a:buClr>
              <a:buSzPct val="100000"/>
              <a:buFont typeface="+mj-lt"/>
              <a:buAutoNum type="arabicPeriod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Sample-level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(.lib)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4477F30-4110-A6E4-C556-6C3C77CE8B18}"/>
              </a:ext>
            </a:extLst>
          </p:cNvPr>
          <p:cNvSpPr txBox="1"/>
          <p:nvPr/>
        </p:nvSpPr>
        <p:spPr>
          <a:xfrm>
            <a:off x="8868702" y="1652533"/>
            <a:ext cx="1718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DNA-to-image</a:t>
            </a:r>
          </a:p>
        </p:txBody>
      </p:sp>
      <p:sp>
        <p:nvSpPr>
          <p:cNvPr id="31" name="向右箭號 30">
            <a:extLst>
              <a:ext uri="{FF2B5EF4-FFF2-40B4-BE49-F238E27FC236}">
                <a16:creationId xmlns:a16="http://schemas.microsoft.com/office/drawing/2014/main" id="{53EF8D40-842C-820D-4717-906C62B57A35}"/>
              </a:ext>
            </a:extLst>
          </p:cNvPr>
          <p:cNvSpPr/>
          <p:nvPr/>
        </p:nvSpPr>
        <p:spPr>
          <a:xfrm>
            <a:off x="4195750" y="1815917"/>
            <a:ext cx="563683" cy="38856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向右箭號 31">
            <a:extLst>
              <a:ext uri="{FF2B5EF4-FFF2-40B4-BE49-F238E27FC236}">
                <a16:creationId xmlns:a16="http://schemas.microsoft.com/office/drawing/2014/main" id="{A62A419F-9C4F-349A-0B50-68DD93DCDF05}"/>
              </a:ext>
            </a:extLst>
          </p:cNvPr>
          <p:cNvSpPr/>
          <p:nvPr/>
        </p:nvSpPr>
        <p:spPr>
          <a:xfrm>
            <a:off x="7272528" y="1815917"/>
            <a:ext cx="563683" cy="38856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BB9E76C-8689-6638-9B71-788484F5EF6A}"/>
              </a:ext>
            </a:extLst>
          </p:cNvPr>
          <p:cNvSpPr txBox="1"/>
          <p:nvPr/>
        </p:nvSpPr>
        <p:spPr>
          <a:xfrm>
            <a:off x="655299" y="4544174"/>
            <a:ext cx="121124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標準系統字體"/>
              <a:buChar char="✦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Axiom raw intensity file→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using 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Affymetrix Power Tools(APT) to generate  genotype calling and genotype matrix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8D77199-0DC3-77A0-71EC-A9A04EC1D48C}"/>
              </a:ext>
            </a:extLst>
          </p:cNvPr>
          <p:cNvSpPr txBox="1"/>
          <p:nvPr/>
        </p:nvSpPr>
        <p:spPr>
          <a:xfrm>
            <a:off x="544650" y="4098818"/>
            <a:ext cx="2627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1.   SNP microarray</a:t>
            </a: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(.cel)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7C4A286-5B30-8186-43BD-7C7ADA3B7D76}"/>
              </a:ext>
            </a:extLst>
          </p:cNvPr>
          <p:cNvSpPr txBox="1"/>
          <p:nvPr/>
        </p:nvSpPr>
        <p:spPr>
          <a:xfrm>
            <a:off x="4370056" y="4308132"/>
            <a:ext cx="1421276" cy="307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(Windows</a:t>
            </a:r>
            <a:r>
              <a:rPr lang="zh-TW" altLang="en-US" dirty="0">
                <a:solidFill>
                  <a:srgbClr val="C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系統</a:t>
            </a:r>
            <a:r>
              <a:rPr lang="en-US" altLang="zh-TW" dirty="0">
                <a:solidFill>
                  <a:srgbClr val="C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)</a:t>
            </a:r>
            <a:endParaRPr lang="zh-TW" altLang="en-US" dirty="0">
              <a:solidFill>
                <a:srgbClr val="C00000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E46E746B-1BED-7081-85B8-339642491544}"/>
              </a:ext>
            </a:extLst>
          </p:cNvPr>
          <p:cNvSpPr txBox="1"/>
          <p:nvPr/>
        </p:nvSpPr>
        <p:spPr>
          <a:xfrm>
            <a:off x="707571" y="5243911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b="1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15427D9-DD06-5E08-F552-92700459ADB8}"/>
              </a:ext>
            </a:extLst>
          </p:cNvPr>
          <p:cNvSpPr txBox="1"/>
          <p:nvPr/>
        </p:nvSpPr>
        <p:spPr>
          <a:xfrm>
            <a:off x="428353" y="2025573"/>
            <a:ext cx="3801400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1600" b="1" dirty="0">
                <a:solidFill>
                  <a:schemeClr val="tx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| Purpose : </a:t>
            </a:r>
          </a:p>
          <a:p>
            <a:pPr>
              <a:lnSpc>
                <a:spcPct val="150000"/>
              </a:lnSpc>
            </a:pPr>
            <a:r>
              <a:rPr kumimoji="1"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convert SNP array(intensity signals) into a genotype matrix.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A7605BA-EE11-3841-8342-98DFD9566611}"/>
              </a:ext>
            </a:extLst>
          </p:cNvPr>
          <p:cNvSpPr txBox="1"/>
          <p:nvPr/>
        </p:nvSpPr>
        <p:spPr>
          <a:xfrm>
            <a:off x="544650" y="5243185"/>
            <a:ext cx="6453792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2.  Sample-level:(</a:t>
            </a: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Axiom library(</a:t>
            </a: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.lib))</a:t>
            </a:r>
            <a:endParaRPr lang="en" altLang="zh-TW" sz="1600" b="1" dirty="0">
              <a:solidFill>
                <a:schemeClr val="tx1"/>
              </a:solidFill>
              <a:latin typeface="Alegreya"/>
              <a:ea typeface="Alegreya"/>
              <a:cs typeface="Alegreya"/>
              <a:sym typeface="Wingdings" pitchFamily="2" charset="2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10646B0-D8A6-9489-59E8-EB0330B5818B}"/>
              </a:ext>
            </a:extLst>
          </p:cNvPr>
          <p:cNvSpPr txBox="1"/>
          <p:nvPr/>
        </p:nvSpPr>
        <p:spPr>
          <a:xfrm>
            <a:off x="7734127" y="2290676"/>
            <a:ext cx="39881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Genotype encoding: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Missing value encoding:</a:t>
            </a:r>
          </a:p>
          <a:p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      impute missing = [0,0,0,0]</a:t>
            </a:r>
          </a:p>
          <a:p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      Add fifth channel for 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missing channel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4734CA-7C9D-5219-0C50-43803EDD2FC5}"/>
              </a:ext>
            </a:extLst>
          </p:cNvPr>
          <p:cNvSpPr txBox="1"/>
          <p:nvPr/>
        </p:nvSpPr>
        <p:spPr>
          <a:xfrm>
            <a:off x="655299" y="5633025"/>
            <a:ext cx="11868006" cy="264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50000"/>
              <a:buFont typeface="標準系統字體"/>
              <a:buChar char="✦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provide probe and SNP annotation information(e.g., probe–SNP mapping, SNP position, and chromosome location)</a:t>
            </a:r>
          </a:p>
          <a:p>
            <a:pPr marL="342900" indent="-342900">
              <a:lnSpc>
                <a:spcPct val="150000"/>
              </a:lnSpc>
              <a:buSzPct val="50000"/>
              <a:buFont typeface="標準系統字體"/>
              <a:buChar char="✦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TWBv2.0 :</a:t>
            </a:r>
          </a:p>
          <a:p>
            <a:pPr>
              <a:lnSpc>
                <a:spcPct val="150000"/>
              </a:lnSpc>
              <a:buSzPct val="50000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     The Axiom Genome-Wide TWB 2.0 array contains approximately 753,000 probes interrogating about 686,000 genetic variants.</a:t>
            </a:r>
          </a:p>
          <a:p>
            <a:pPr>
              <a:lnSpc>
                <a:spcPct val="150000"/>
              </a:lnSpc>
              <a:buSzPct val="50000"/>
            </a:pP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SzPct val="50000"/>
              <a:buFont typeface="標準系統字體"/>
              <a:buChar char="✦"/>
            </a:pP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SzPct val="50000"/>
              <a:buFont typeface="標準系統字體"/>
              <a:buChar char="✦"/>
            </a:pP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SzPct val="50000"/>
              <a:buFont typeface="標準系統字體"/>
              <a:buChar char="✦"/>
            </a:pP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20E1DF4-02AC-966E-AE69-0B2DD6303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824" y="4891572"/>
            <a:ext cx="3448076" cy="73260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06F1885F-672C-5C1E-47BB-1882E86EAC66}"/>
              </a:ext>
            </a:extLst>
          </p:cNvPr>
          <p:cNvSpPr txBox="1"/>
          <p:nvPr/>
        </p:nvSpPr>
        <p:spPr>
          <a:xfrm>
            <a:off x="9760391" y="5361556"/>
            <a:ext cx="12625754" cy="310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ts val="2100"/>
              </a:lnSpc>
              <a:buNone/>
            </a:pPr>
            <a:r>
              <a:rPr lang="en" altLang="zh-TW" sz="600" dirty="0">
                <a:solidFill>
                  <a:schemeClr val="tx2">
                    <a:lumMod val="90000"/>
                  </a:schemeClr>
                </a:solidFill>
                <a:latin typeface="Lato" panose="020F0502020204030203" pitchFamily="34" charset="0"/>
              </a:rPr>
              <a:t>https://</a:t>
            </a:r>
            <a:r>
              <a:rPr lang="en" altLang="zh-TW" sz="600" dirty="0" err="1">
                <a:solidFill>
                  <a:schemeClr val="tx2">
                    <a:lumMod val="90000"/>
                  </a:schemeClr>
                </a:solidFill>
                <a:latin typeface="Lato" panose="020F0502020204030203" pitchFamily="34" charset="0"/>
              </a:rPr>
              <a:t>www.biobank.org.tw</a:t>
            </a:r>
            <a:r>
              <a:rPr lang="en" altLang="zh-TW" sz="600" dirty="0">
                <a:solidFill>
                  <a:schemeClr val="tx2">
                    <a:lumMod val="90000"/>
                  </a:schemeClr>
                </a:solidFill>
                <a:latin typeface="Lato" panose="020F0502020204030203" pitchFamily="34" charset="0"/>
              </a:rPr>
              <a:t>/</a:t>
            </a:r>
            <a:r>
              <a:rPr lang="en" altLang="zh-TW" sz="600" dirty="0" err="1">
                <a:solidFill>
                  <a:schemeClr val="tx2">
                    <a:lumMod val="90000"/>
                  </a:schemeClr>
                </a:solidFill>
                <a:latin typeface="Lato" panose="020F0502020204030203" pitchFamily="34" charset="0"/>
              </a:rPr>
              <a:t>about_value.php</a:t>
            </a:r>
            <a:endParaRPr lang="zh-TW" altLang="zh-TW" sz="600" b="0" i="0" dirty="0">
              <a:solidFill>
                <a:schemeClr val="tx2">
                  <a:lumMod val="90000"/>
                </a:schemeClr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5E55B47-2729-8715-9BD2-9D2093A76200}"/>
              </a:ext>
            </a:extLst>
          </p:cNvPr>
          <p:cNvSpPr txBox="1"/>
          <p:nvPr/>
        </p:nvSpPr>
        <p:spPr>
          <a:xfrm>
            <a:off x="442912" y="3078286"/>
            <a:ext cx="2424980" cy="42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1600" b="1" dirty="0">
                <a:solidFill>
                  <a:schemeClr val="tx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| Data  : </a:t>
            </a:r>
          </a:p>
        </p:txBody>
      </p:sp>
    </p:spTree>
    <p:extLst>
      <p:ext uri="{BB962C8B-B14F-4D97-AF65-F5344CB8AC3E}">
        <p14:creationId xmlns:p14="http://schemas.microsoft.com/office/powerpoint/2010/main" val="112006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6ED3EF-CC63-AF9D-52E6-2796F12E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E141F13-5F80-5678-4999-54E556083A5E}"/>
              </a:ext>
            </a:extLst>
          </p:cNvPr>
          <p:cNvSpPr txBox="1"/>
          <p:nvPr/>
        </p:nvSpPr>
        <p:spPr>
          <a:xfrm>
            <a:off x="151967" y="605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Affymetrix Power Tools</a:t>
            </a:r>
            <a:r>
              <a:rPr lang="zh-TW" altLang="en-US" dirty="0"/>
              <a:t>（</a:t>
            </a:r>
            <a:r>
              <a:rPr lang="en-US" altLang="zh-TW" dirty="0"/>
              <a:t>APT</a:t>
            </a:r>
            <a:r>
              <a:rPr lang="zh-TW" altLang="en-US" dirty="0"/>
              <a:t>）完整處理流程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3EE9BFF-EFDD-128F-C73A-ACBD14F548D8}"/>
              </a:ext>
            </a:extLst>
          </p:cNvPr>
          <p:cNvSpPr txBox="1"/>
          <p:nvPr/>
        </p:nvSpPr>
        <p:spPr>
          <a:xfrm>
            <a:off x="3048000" y="313829"/>
            <a:ext cx="6096000" cy="683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dirty="0"/>
              <a:t>CEL files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  ↓</a:t>
            </a:r>
            <a:endParaRPr lang="en-US" altLang="zh-TW" dirty="0"/>
          </a:p>
          <a:p>
            <a:pPr algn="ctr">
              <a:lnSpc>
                <a:spcPct val="150000"/>
              </a:lnSpc>
            </a:pPr>
            <a:r>
              <a:rPr lang="en" altLang="zh-TW" dirty="0"/>
              <a:t>Dish QC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↓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Step 1：Sample QC／第一次 genotype calling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  ↓</a:t>
            </a:r>
            <a:endParaRPr lang="en-US" altLang="zh-TW" dirty="0"/>
          </a:p>
          <a:p>
            <a:pPr algn="ctr">
              <a:lnSpc>
                <a:spcPct val="150000"/>
              </a:lnSpc>
            </a:pPr>
            <a:r>
              <a:rPr lang="en-US" altLang="zh-TW" dirty="0"/>
              <a:t>sample call rate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↓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排除低品質 samples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  ↓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Step 2：使用通過 QC 的 samples 重新 genotype calling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  ↓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產生 calls、confidence、summary、posterior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  ↓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Step 3：SNP QC／probeset classification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  ↓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挑選高品質 SNP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  ↓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轉換 allele annotation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   ↓</a:t>
            </a:r>
          </a:p>
          <a:p>
            <a:pPr algn="ctr">
              <a:lnSpc>
                <a:spcPct val="150000"/>
              </a:lnSpc>
            </a:pPr>
            <a:r>
              <a:rPr lang="zh-TW" altLang="en-US" dirty="0"/>
              <a:t>PLINK／VCF／GWAS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3A55F6F-6DDC-925F-4556-74B1AD1CBD10}"/>
              </a:ext>
            </a:extLst>
          </p:cNvPr>
          <p:cNvSpPr txBox="1"/>
          <p:nvPr/>
        </p:nvSpPr>
        <p:spPr>
          <a:xfrm>
            <a:off x="442914" y="6636327"/>
            <a:ext cx="46018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官方流程手冊https://documents.thermofisher.com/TFS-Assets/LSG/manuals/MAN0017790_SNPolisher_UG.pdf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EF96986-E336-64BD-0FB2-BB71135ED1D0}"/>
              </a:ext>
            </a:extLst>
          </p:cNvPr>
          <p:cNvSpPr txBox="1"/>
          <p:nvPr/>
        </p:nvSpPr>
        <p:spPr>
          <a:xfrm>
            <a:off x="6736774" y="18949"/>
            <a:ext cx="8267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每一個 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.CEL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 代表一張 array，也就是一位受試者的 probe-level fluorescence intensities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且必須使用和 </a:t>
            </a:r>
            <a:r>
              <a:rPr lang="en" altLang="zh-TW" sz="1200" dirty="0">
                <a:solidFill>
                  <a:schemeClr val="accent5">
                    <a:lumMod val="50000"/>
                  </a:schemeClr>
                </a:solidFill>
              </a:rPr>
              <a:t>CEL array type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完全相符的 </a:t>
            </a:r>
            <a:r>
              <a:rPr lang="en" altLang="zh-TW" sz="1200" dirty="0">
                <a:solidFill>
                  <a:schemeClr val="accent5">
                    <a:lumMod val="50000"/>
                  </a:schemeClr>
                </a:solidFill>
              </a:rPr>
              <a:t>library package</a:t>
            </a:r>
          </a:p>
          <a:p>
            <a:pPr marL="228600" indent="-228600">
              <a:buFont typeface="+mj-lt"/>
              <a:buAutoNum type="arabicPeriod"/>
            </a:pPr>
            <a:r>
              <a:rPr lang="en" altLang="zh-TW" sz="1200" dirty="0">
                <a:solidFill>
                  <a:schemeClr val="accent5">
                    <a:lumMod val="50000"/>
                  </a:schemeClr>
                </a:solidFill>
              </a:rPr>
              <a:t>APT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會把 </a:t>
            </a:r>
            <a:r>
              <a:rPr lang="en" altLang="zh-TW" sz="1200" dirty="0">
                <a:solidFill>
                  <a:schemeClr val="accent5">
                    <a:lumMod val="50000"/>
                  </a:schemeClr>
                </a:solidFill>
              </a:rPr>
              <a:t>CEL intensity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和 </a:t>
            </a:r>
            <a:r>
              <a:rPr lang="en" altLang="zh-TW" sz="1200" dirty="0">
                <a:solidFill>
                  <a:schemeClr val="accent5">
                    <a:lumMod val="50000"/>
                  </a:schemeClr>
                </a:solidFill>
              </a:rPr>
              <a:t>library definitions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結合後才有辦法判定 </a:t>
            </a:r>
            <a:r>
              <a:rPr lang="en" altLang="zh-TW" sz="1200" dirty="0">
                <a:solidFill>
                  <a:schemeClr val="accent5">
                    <a:lumMod val="50000"/>
                  </a:schemeClr>
                </a:solidFill>
              </a:rPr>
              <a:t>genotype</a:t>
            </a:r>
            <a:endParaRPr lang="zh-TW" alt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753712D-FBCF-F28C-1265-83C4F3757371}"/>
              </a:ext>
            </a:extLst>
          </p:cNvPr>
          <p:cNvSpPr txBox="1"/>
          <p:nvPr/>
        </p:nvSpPr>
        <p:spPr>
          <a:xfrm>
            <a:off x="38253" y="559639"/>
            <a:ext cx="48486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Dish QC 利用 non-polymorphic probes，比較：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預期與 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DNA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高度匹配的 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target signal </a:t>
            </a:r>
          </a:p>
          <a:p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非匹配或背景 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signal </a:t>
            </a:r>
          </a:p>
          <a:p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目的是判斷：</a:t>
            </a:r>
          </a:p>
          <a:p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DNA amplification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是否成功 </a:t>
            </a:r>
          </a:p>
          <a:p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hybridization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是否正常 </a:t>
            </a:r>
          </a:p>
          <a:p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staining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和 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scanning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是否有問題 </a:t>
            </a:r>
          </a:p>
          <a:p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target signal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與 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background 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是否能清楚分離</a:t>
            </a:r>
          </a:p>
          <a:p>
            <a:pPr marL="228600" indent="-228600">
              <a:buFont typeface="+mj-lt"/>
              <a:buAutoNum type="arabicPeriod"/>
            </a:pP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DQC 低於 library package 建議門檻的樣本，通常不進入後續正式 calling。門檻不宜直接自行固定成一個數值，而應使用該 array analysis package 的官方設定</a:t>
            </a:r>
            <a:endParaRPr lang="zh-TW" alt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D5CFAE7-1202-92FC-0B2F-2A22FA141745}"/>
              </a:ext>
            </a:extLst>
          </p:cNvPr>
          <p:cNvSpPr txBox="1"/>
          <p:nvPr/>
        </p:nvSpPr>
        <p:spPr>
          <a:xfrm>
            <a:off x="8091056" y="1629676"/>
            <a:ext cx="8478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使用：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apt-genotype-axiom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對所有通過 DQC 的樣本執行第一次 genotype calling</a:t>
            </a:r>
            <a:endParaRPr lang="zh-TW" alt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D45391F-148E-D7E7-BBC2-22A5E70DCEF1}"/>
              </a:ext>
            </a:extLst>
          </p:cNvPr>
          <p:cNvSpPr txBox="1"/>
          <p:nvPr/>
        </p:nvSpPr>
        <p:spPr>
          <a:xfrm>
            <a:off x="6854972" y="2331887"/>
            <a:ext cx="92617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Sample call rate=成功判定 genotype 的 probeset 數​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被評估的 probeset 總數</a:t>
            </a:r>
            <a:endParaRPr lang="zh-TW" alt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33A55AF-C859-C20F-F627-97D981B1CE89}"/>
              </a:ext>
            </a:extLst>
          </p:cNvPr>
          <p:cNvSpPr txBox="1"/>
          <p:nvPr/>
        </p:nvSpPr>
        <p:spPr>
          <a:xfrm>
            <a:off x="7637752" y="2903766"/>
            <a:ext cx="8478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會重新執行：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apt-genotype-axiom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-&gt;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輸出</a:t>
            </a:r>
            <a:r>
              <a:rPr lang="zh-TW" altLang="zh-TW" sz="1200" dirty="0"/>
              <a:t>Step2 AxiomGT1</a:t>
            </a:r>
            <a:r>
              <a:rPr lang="zh-TW" altLang="en-US" sz="1200" dirty="0"/>
              <a:t> </a:t>
            </a:r>
            <a:r>
              <a:rPr lang="zh-TW" altLang="zh-TW" sz="1200" dirty="0"/>
              <a:t>才是正式的 genotype calling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39B8A40-0DE7-6301-8DA2-FBF366B5571B}"/>
              </a:ext>
            </a:extLst>
          </p:cNvPr>
          <p:cNvSpPr txBox="1"/>
          <p:nvPr/>
        </p:nvSpPr>
        <p:spPr>
          <a:xfrm>
            <a:off x="7999486" y="4858352"/>
            <a:ext cx="92617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判斷每個 probeset 的 cluster 品質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分類：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TW" sz="1200" b="1" dirty="0">
                <a:solidFill>
                  <a:schemeClr val="accent5">
                    <a:lumMod val="50000"/>
                  </a:schemeClr>
                </a:solidFill>
              </a:rPr>
              <a:t>1.</a:t>
            </a:r>
            <a:r>
              <a:rPr lang="zh-TW" altLang="zh-TW" sz="1200" b="1" dirty="0">
                <a:solidFill>
                  <a:schemeClr val="accent5">
                    <a:lumMod val="50000"/>
                  </a:schemeClr>
                </a:solidFill>
              </a:rPr>
              <a:t>PolyHighResolution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通常是最理想的 polymorphic SNP：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genotype clusters 清楚 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call rate 高 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cluster separation 良好 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適合後續 GWAS </a:t>
            </a:r>
          </a:p>
          <a:p>
            <a:r>
              <a:rPr lang="en-US" altLang="zh-TW" sz="1200" b="1" dirty="0">
                <a:solidFill>
                  <a:schemeClr val="accent5">
                    <a:lumMod val="50000"/>
                  </a:schemeClr>
                </a:solidFill>
              </a:rPr>
              <a:t>2.</a:t>
            </a:r>
            <a:r>
              <a:rPr lang="zh-TW" altLang="zh-TW" sz="1200" b="1" dirty="0">
                <a:solidFill>
                  <a:schemeClr val="accent5">
                    <a:lumMod val="50000"/>
                  </a:schemeClr>
                </a:solidFill>
              </a:rPr>
              <a:t>MonoHighResolution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所有或幾乎所有樣本為同一 genotype：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cluster 清楚 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但在目前資料中沒有多型性 </a:t>
            </a:r>
          </a:p>
          <a:p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3.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 NoMinorHom</a:t>
            </a:r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有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major homozygote heterozygote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</a:rPr>
              <a:t>但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沒有 minor homozygote</a:t>
            </a:r>
            <a:endParaRPr lang="en-US" altLang="zh-TW" sz="12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TW" sz="1200" dirty="0">
                <a:solidFill>
                  <a:schemeClr val="accent5">
                    <a:lumMod val="50000"/>
                  </a:schemeClr>
                </a:solidFill>
              </a:rPr>
              <a:t>4.</a:t>
            </a:r>
            <a:r>
              <a:rPr lang="zh-TW" altLang="zh-TW" sz="1200" b="1" dirty="0">
                <a:solidFill>
                  <a:schemeClr val="accent5">
                    <a:lumMod val="50000"/>
                  </a:schemeClr>
                </a:solidFill>
              </a:rPr>
              <a:t> CallRateBelowThreshold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該 SNP 有太多 NoCall。</a:t>
            </a:r>
          </a:p>
          <a:p>
            <a:r>
              <a:rPr lang="en-US" altLang="zh-TW" sz="1200" b="1" dirty="0">
                <a:solidFill>
                  <a:schemeClr val="accent5">
                    <a:lumMod val="50000"/>
                  </a:schemeClr>
                </a:solidFill>
              </a:rPr>
              <a:t>5.</a:t>
            </a:r>
            <a:r>
              <a:rPr lang="zh-TW" altLang="zh-TW" sz="1200" b="1" dirty="0">
                <a:solidFill>
                  <a:schemeClr val="accent5">
                    <a:lumMod val="50000"/>
                  </a:schemeClr>
                </a:solidFill>
              </a:rPr>
              <a:t>Off-Target Variant</a:t>
            </a:r>
          </a:p>
          <a:p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訊號中出現非預期的第四群或額外 cluster</a:t>
            </a:r>
          </a:p>
          <a:p>
            <a:endParaRPr lang="zh-TW" alt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DBD72F7-0383-6A8B-D260-D2ED1BF834FD}"/>
              </a:ext>
            </a:extLst>
          </p:cNvPr>
          <p:cNvSpPr txBox="1"/>
          <p:nvPr/>
        </p:nvSpPr>
        <p:spPr>
          <a:xfrm>
            <a:off x="-3089997" y="159940"/>
            <a:ext cx="2947493" cy="892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TWD2.0 CEL files</a:t>
            </a:r>
          </a:p>
          <a:p>
            <a:r>
              <a:rPr lang="zh-TW" altLang="en-US" dirty="0"/>
              <a:t>        +</a:t>
            </a:r>
          </a:p>
          <a:p>
            <a:r>
              <a:rPr lang="zh-TW" altLang="en-US" dirty="0"/>
              <a:t>TWD2.0 library package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1. CEL and array-type check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2. Dish QC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3. First-pass AxiomGT1 calling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4. Sample call-rate QC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5. Remove failed samples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6. Second-pass AxiomGT1 calling</a:t>
            </a:r>
          </a:p>
          <a:p>
            <a:r>
              <a:rPr lang="zh-TW" altLang="en-US" dirty="0"/>
              <a:t>   --summaries</a:t>
            </a:r>
          </a:p>
          <a:p>
            <a:r>
              <a:rPr lang="zh-TW" altLang="en-US" dirty="0"/>
              <a:t>   --write-models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7. APT output</a:t>
            </a:r>
          </a:p>
          <a:p>
            <a:r>
              <a:rPr lang="zh-TW" altLang="en-US" dirty="0"/>
              <a:t>   calls</a:t>
            </a:r>
          </a:p>
          <a:p>
            <a:r>
              <a:rPr lang="zh-TW" altLang="en-US" dirty="0"/>
              <a:t>   confidences</a:t>
            </a:r>
          </a:p>
          <a:p>
            <a:r>
              <a:rPr lang="zh-TW" altLang="en-US" dirty="0"/>
              <a:t>   summary</a:t>
            </a:r>
          </a:p>
          <a:p>
            <a:r>
              <a:rPr lang="zh-TW" altLang="en-US" dirty="0"/>
              <a:t>   posteriors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8. SNPolisher SNP classification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PolyHighResolution / MonoHighResolution /</a:t>
            </a:r>
          </a:p>
          <a:p>
            <a:r>
              <a:rPr lang="zh-TW" altLang="en-US" dirty="0"/>
              <a:t>NoMinorHom / OTV / Other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9. Select recommended probesets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10. Map A/B calls to nucleotide alleles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11. Export PLINK or VCF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12. PLINK sample/SNP QC</a:t>
            </a:r>
          </a:p>
          <a:p>
            <a:r>
              <a:rPr lang="zh-TW" altLang="en-US" dirty="0"/>
              <a:t>        ↓</a:t>
            </a:r>
          </a:p>
          <a:p>
            <a:r>
              <a:rPr lang="zh-TW" altLang="en-US" dirty="0"/>
              <a:t>GWAS / PRS / image-based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38076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CC46B067-CC3A-D8C7-3A90-A35655854B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883649"/>
                  </p:ext>
                </p:extLst>
              </p:nvPr>
            </p:nvGraphicFramePr>
            <p:xfrm>
              <a:off x="723704" y="1216246"/>
              <a:ext cx="10600788" cy="4248639"/>
            </p:xfrm>
            <a:graphic>
              <a:graphicData uri="http://schemas.openxmlformats.org/drawingml/2006/table">
                <a:tbl>
                  <a:tblPr firstRow="1" bandRow="1">
                    <a:tableStyleId>{A546EFF1-D363-4814-AD40-36413BC7005B}</a:tableStyleId>
                  </a:tblPr>
                  <a:tblGrid>
                    <a:gridCol w="1006622">
                      <a:extLst>
                        <a:ext uri="{9D8B030D-6E8A-4147-A177-3AD203B41FA5}">
                          <a16:colId xmlns:a16="http://schemas.microsoft.com/office/drawing/2014/main" val="2748013699"/>
                        </a:ext>
                      </a:extLst>
                    </a:gridCol>
                    <a:gridCol w="9594166">
                      <a:extLst>
                        <a:ext uri="{9D8B030D-6E8A-4147-A177-3AD203B41FA5}">
                          <a16:colId xmlns:a16="http://schemas.microsoft.com/office/drawing/2014/main" val="2353462506"/>
                        </a:ext>
                      </a:extLst>
                    </a:gridCol>
                  </a:tblGrid>
                  <a:tr h="1993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step1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SzPct val="50000"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Data:</a:t>
                          </a:r>
                        </a:p>
                        <a:p>
                          <a:pPr marL="342900" indent="-342900">
                            <a:lnSpc>
                              <a:spcPct val="150000"/>
                            </a:lnSpc>
                            <a:buClr>
                              <a:schemeClr val="tx1"/>
                            </a:buClr>
                            <a:buSzPct val="100000"/>
                            <a:buFont typeface="+mj-lt"/>
                            <a:buAutoNum type="arabicPeriod"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.cel*10(raw data)</a:t>
                          </a:r>
                        </a:p>
                        <a:p>
                          <a:pPr marL="342900" indent="-342900">
                            <a:lnSpc>
                              <a:spcPct val="150000"/>
                            </a:lnSpc>
                            <a:buClr>
                              <a:schemeClr val="tx1"/>
                            </a:buClr>
                            <a:buSzPct val="100000"/>
                            <a:buFont typeface="+mj-lt"/>
                            <a:buAutoNum type="arabicPeriod"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.lib(download from TWBv2.0) :</a:t>
                          </a:r>
                        </a:p>
                        <a:p>
                          <a:pPr marL="285750" lvl="3" indent="-285750" algn="l">
                            <a:buClr>
                              <a:schemeClr val="accent5">
                                <a:lumMod val="50000"/>
                              </a:schemeClr>
                            </a:buClr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altLang="zh-TW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TWBv2.0</a:t>
                          </a:r>
                          <a:r>
                            <a:rPr lang="zh-TW" altLang="en-US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分析軟體：</a:t>
                          </a:r>
                          <a:r>
                            <a:rPr lang="zh-TW" altLang="zh-TW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Axiom Analysis Suite 5.4 </a:t>
                          </a:r>
                          <a:endParaRPr lang="en-US" altLang="zh-TW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pPr marL="285750" lvl="3" indent="-285750" algn="l">
                            <a:buClr>
                              <a:schemeClr val="accent5">
                                <a:lumMod val="50000"/>
                              </a:schemeClr>
                            </a:buClr>
                            <a:buFont typeface="Arial" panose="020B0604020202020204" pitchFamily="34" charset="0"/>
                            <a:buChar char="•"/>
                          </a:pPr>
                          <a:r>
                            <a:rPr lang="zh-TW" altLang="zh-TW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TWBv2.0 library files </a:t>
                          </a:r>
                          <a:endParaRPr lang="en-US" altLang="zh-TW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pPr marL="285750" lvl="3" indent="-285750" algn="l">
                            <a:buClr>
                              <a:schemeClr val="accent5">
                                <a:lumMod val="50000"/>
                              </a:schemeClr>
                            </a:buClr>
                            <a:buFont typeface="Arial" panose="020B0604020202020204" pitchFamily="34" charset="0"/>
                            <a:buChar char="•"/>
                          </a:pPr>
                          <a:r>
                            <a:rPr lang="zh-TW" altLang="zh-TW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TWBv2.0 </a:t>
                          </a:r>
                          <a:r>
                            <a:rPr lang="zh-TW" altLang="en-US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位點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8766618"/>
                      </a:ext>
                    </a:extLst>
                  </a:tr>
                  <a:tr h="2039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step2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Create folder</a:t>
                          </a:r>
                          <a:r>
                            <a:rPr lang="en-US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  <a:sym typeface="Wingdings" pitchFamily="2" charset="2"/>
                            </a:rPr>
                            <a:t>:</a:t>
                          </a:r>
                        </a:p>
                        <a:p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C:\Users\Sh33na\Desktop\project\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↳</m:t>
                              </m:r>
                            </m:oMath>
                          </a14:m>
                          <a:r>
                            <a:rPr lang="en-US" altLang="zh-TW" sz="1400" i="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bin\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400" i="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↳</m:t>
                              </m:r>
                              <m:r>
                                <a:rPr lang="en-US" altLang="zh-TW" sz="1400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TW" sz="1400" i="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apt-genotype-</a:t>
                          </a:r>
                          <a:r>
                            <a:rPr lang="en-US" altLang="zh-TW" sz="1400" i="0" dirty="0" err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axiom.exe</a:t>
                          </a:r>
                          <a:endParaRPr lang="en-US" altLang="zh-TW" sz="14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↳</m:t>
                              </m:r>
                            </m:oMath>
                          </a14:m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library\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↳</m:t>
                              </m:r>
                            </m:oMath>
                          </a14:m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TWBv2.0_library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zh-TW" altLang="en-US" sz="1400" b="0" i="1" baseline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↳</m:t>
                              </m:r>
                            </m:oMath>
                          </a14:m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snparray\</a:t>
                          </a:r>
                        </a:p>
                        <a:p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</a:t>
                          </a:r>
                          <a:r>
                            <a:rPr lang="zh-TW" altLang="en-US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          </a:t>
                          </a:r>
                          <a14:m>
                            <m:oMath xmlns:m="http://schemas.openxmlformats.org/officeDocument/2006/math">
                              <m:r>
                                <a:rPr lang="zh-TW" altLang="en-US" sz="1400" b="0" i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↳</m:t>
                              </m:r>
                            </m:oMath>
                          </a14:m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.cel*10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↳</m:t>
                              </m:r>
                            </m:oMath>
                          </a14:m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</a:t>
                          </a:r>
                          <a:r>
                            <a:rPr lang="zh-TW" altLang="en-US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annotation\</a:t>
                          </a:r>
                          <a:endParaRPr lang="en-US" altLang="zh-TW" sz="140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↳</m:t>
                              </m:r>
                            </m:oMath>
                          </a14:m>
                          <a:r>
                            <a:rPr lang="en-US" altLang="zh-TW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</a:t>
                          </a:r>
                          <a:r>
                            <a:rPr lang="zh-TW" altLang="en-US" sz="140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TWBv2.0.csv</a:t>
                          </a:r>
                          <a:endParaRPr lang="en-US" altLang="zh-TW" sz="140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6101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CC46B067-CC3A-D8C7-3A90-A35655854B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883649"/>
                  </p:ext>
                </p:extLst>
              </p:nvPr>
            </p:nvGraphicFramePr>
            <p:xfrm>
              <a:off x="723704" y="1216246"/>
              <a:ext cx="10600788" cy="4248639"/>
            </p:xfrm>
            <a:graphic>
              <a:graphicData uri="http://schemas.openxmlformats.org/drawingml/2006/table">
                <a:tbl>
                  <a:tblPr firstRow="1" bandRow="1">
                    <a:tableStyleId>{A546EFF1-D363-4814-AD40-36413BC7005B}</a:tableStyleId>
                  </a:tblPr>
                  <a:tblGrid>
                    <a:gridCol w="1006622">
                      <a:extLst>
                        <a:ext uri="{9D8B030D-6E8A-4147-A177-3AD203B41FA5}">
                          <a16:colId xmlns:a16="http://schemas.microsoft.com/office/drawing/2014/main" val="2748013699"/>
                        </a:ext>
                      </a:extLst>
                    </a:gridCol>
                    <a:gridCol w="9594166">
                      <a:extLst>
                        <a:ext uri="{9D8B030D-6E8A-4147-A177-3AD203B41FA5}">
                          <a16:colId xmlns:a16="http://schemas.microsoft.com/office/drawing/2014/main" val="2353462506"/>
                        </a:ext>
                      </a:extLst>
                    </a:gridCol>
                  </a:tblGrid>
                  <a:tr h="1993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step1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SzPct val="50000"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Data:</a:t>
                          </a:r>
                        </a:p>
                        <a:p>
                          <a:pPr marL="342900" indent="-342900">
                            <a:lnSpc>
                              <a:spcPct val="150000"/>
                            </a:lnSpc>
                            <a:buClr>
                              <a:schemeClr val="tx1"/>
                            </a:buClr>
                            <a:buSzPct val="100000"/>
                            <a:buFont typeface="+mj-lt"/>
                            <a:buAutoNum type="arabicPeriod"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.cel*10(raw data)</a:t>
                          </a:r>
                        </a:p>
                        <a:p>
                          <a:pPr marL="342900" indent="-342900">
                            <a:lnSpc>
                              <a:spcPct val="150000"/>
                            </a:lnSpc>
                            <a:buClr>
                              <a:schemeClr val="tx1"/>
                            </a:buClr>
                            <a:buSzPct val="100000"/>
                            <a:buFont typeface="+mj-lt"/>
                            <a:buAutoNum type="arabicPeriod"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.lib(download from TWBv2.0) :</a:t>
                          </a:r>
                        </a:p>
                        <a:p>
                          <a:pPr marL="285750" lvl="3" indent="-285750" algn="l">
                            <a:buClr>
                              <a:schemeClr val="accent5">
                                <a:lumMod val="50000"/>
                              </a:schemeClr>
                            </a:buClr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altLang="zh-TW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TWBv2.0</a:t>
                          </a:r>
                          <a:r>
                            <a:rPr lang="zh-TW" altLang="en-US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分析軟體：</a:t>
                          </a:r>
                          <a:r>
                            <a:rPr lang="zh-TW" altLang="zh-TW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Axiom Analysis Suite 5.4 </a:t>
                          </a:r>
                          <a:endParaRPr lang="en-US" altLang="zh-TW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pPr marL="285750" lvl="3" indent="-285750" algn="l">
                            <a:buClr>
                              <a:schemeClr val="accent5">
                                <a:lumMod val="50000"/>
                              </a:schemeClr>
                            </a:buClr>
                            <a:buFont typeface="Arial" panose="020B0604020202020204" pitchFamily="34" charset="0"/>
                            <a:buChar char="•"/>
                          </a:pPr>
                          <a:r>
                            <a:rPr lang="zh-TW" altLang="zh-TW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TWBv2.0 library files </a:t>
                          </a:r>
                          <a:endParaRPr lang="en-US" altLang="zh-TW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pPr marL="285750" lvl="3" indent="-285750" algn="l">
                            <a:buClr>
                              <a:schemeClr val="accent5">
                                <a:lumMod val="50000"/>
                              </a:schemeClr>
                            </a:buClr>
                            <a:buFont typeface="Arial" panose="020B0604020202020204" pitchFamily="34" charset="0"/>
                            <a:buChar char="•"/>
                          </a:pPr>
                          <a:r>
                            <a:rPr lang="zh-TW" altLang="zh-TW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TWBv2.0 </a:t>
                          </a:r>
                          <a:r>
                            <a:rPr lang="zh-TW" altLang="en-US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位點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8766618"/>
                      </a:ext>
                    </a:extLst>
                  </a:tr>
                  <a:tr h="22555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step2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0436" t="-89326" r="-132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6101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9BD4E259-E73E-CFAA-992A-D99FE670D86B}"/>
              </a:ext>
            </a:extLst>
          </p:cNvPr>
          <p:cNvSpPr txBox="1"/>
          <p:nvPr/>
        </p:nvSpPr>
        <p:spPr>
          <a:xfrm>
            <a:off x="442912" y="539750"/>
            <a:ext cx="56530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Genotype calling workflow</a:t>
            </a:r>
          </a:p>
        </p:txBody>
      </p:sp>
    </p:spTree>
    <p:extLst>
      <p:ext uri="{BB962C8B-B14F-4D97-AF65-F5344CB8AC3E}">
        <p14:creationId xmlns:p14="http://schemas.microsoft.com/office/powerpoint/2010/main" val="144784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6617-24E9-7065-73B5-99400DA1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4ABEAD8-2BA8-5C15-DEA9-E6F7A86443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2994714"/>
                  </p:ext>
                </p:extLst>
              </p:nvPr>
            </p:nvGraphicFramePr>
            <p:xfrm>
              <a:off x="723704" y="1216246"/>
              <a:ext cx="11025384" cy="5466656"/>
            </p:xfrm>
            <a:graphic>
              <a:graphicData uri="http://schemas.openxmlformats.org/drawingml/2006/table">
                <a:tbl>
                  <a:tblPr firstRow="1" bandRow="1">
                    <a:tableStyleId>{A546EFF1-D363-4814-AD40-36413BC7005B}</a:tableStyleId>
                  </a:tblPr>
                  <a:tblGrid>
                    <a:gridCol w="1046940">
                      <a:extLst>
                        <a:ext uri="{9D8B030D-6E8A-4147-A177-3AD203B41FA5}">
                          <a16:colId xmlns:a16="http://schemas.microsoft.com/office/drawing/2014/main" val="2748013699"/>
                        </a:ext>
                      </a:extLst>
                    </a:gridCol>
                    <a:gridCol w="9978444">
                      <a:extLst>
                        <a:ext uri="{9D8B030D-6E8A-4147-A177-3AD203B41FA5}">
                          <a16:colId xmlns:a16="http://schemas.microsoft.com/office/drawing/2014/main" val="2353462506"/>
                        </a:ext>
                      </a:extLst>
                    </a:gridCol>
                  </a:tblGrid>
                  <a:tr h="3793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step3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ct val="50000"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Check library Data:</a:t>
                          </a:r>
                          <a:r>
                            <a:rPr lang="en-US" altLang="zh-TW" sz="1600" baseline="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</a:t>
                          </a: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Axiom_TWB_2_</a:t>
                          </a:r>
                          <a:r>
                            <a:rPr lang="en-US" altLang="zh-TW" sz="1600" dirty="0">
                              <a:solidFill>
                                <a:schemeClr val="accent2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96orMore</a:t>
                          </a: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_Step1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6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⟹</m:t>
                              </m:r>
                            </m:oMath>
                          </a14:m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 Designed for batches of ≥96 CEL files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8766618"/>
                      </a:ext>
                    </a:extLst>
                  </a:tr>
                  <a:tr h="2816440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step4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Check my .cel data:</a:t>
                          </a: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610144"/>
                      </a:ext>
                    </a:extLst>
                  </a:tr>
                  <a:tr h="2270914"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" altLang="zh-TW" sz="1600" dirty="0"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Try and error: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9607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4ABEAD8-2BA8-5C15-DEA9-E6F7A86443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2994714"/>
                  </p:ext>
                </p:extLst>
              </p:nvPr>
            </p:nvGraphicFramePr>
            <p:xfrm>
              <a:off x="723704" y="1216246"/>
              <a:ext cx="11025384" cy="5466656"/>
            </p:xfrm>
            <a:graphic>
              <a:graphicData uri="http://schemas.openxmlformats.org/drawingml/2006/table">
                <a:tbl>
                  <a:tblPr firstRow="1" bandRow="1">
                    <a:tableStyleId>{A546EFF1-D363-4814-AD40-36413BC7005B}</a:tableStyleId>
                  </a:tblPr>
                  <a:tblGrid>
                    <a:gridCol w="1046940">
                      <a:extLst>
                        <a:ext uri="{9D8B030D-6E8A-4147-A177-3AD203B41FA5}">
                          <a16:colId xmlns:a16="http://schemas.microsoft.com/office/drawing/2014/main" val="2748013699"/>
                        </a:ext>
                      </a:extLst>
                    </a:gridCol>
                    <a:gridCol w="9978444">
                      <a:extLst>
                        <a:ext uri="{9D8B030D-6E8A-4147-A177-3AD203B41FA5}">
                          <a16:colId xmlns:a16="http://schemas.microsoft.com/office/drawing/2014/main" val="2353462506"/>
                        </a:ext>
                      </a:extLst>
                    </a:gridCol>
                  </a:tblGrid>
                  <a:tr h="3793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step3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546" t="-3333" b="-13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8766618"/>
                      </a:ext>
                    </a:extLst>
                  </a:tr>
                  <a:tr h="2816440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" altLang="zh-TW" sz="1600" dirty="0"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step4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Check my .cel data:</a:t>
                          </a: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  <a:p>
                          <a:endParaRPr lang="en-US" altLang="zh-TW" sz="1600" dirty="0">
                            <a:solidFill>
                              <a:schemeClr val="tx1"/>
                            </a:solidFill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610144"/>
                      </a:ext>
                    </a:extLst>
                  </a:tr>
                  <a:tr h="2270914"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" altLang="zh-TW" sz="1600" dirty="0">
                            <a:latin typeface="Songti SC" panose="02010600040101010101" pitchFamily="2" charset="-122"/>
                            <a:ea typeface="Songti SC" panose="02010600040101010101" pitchFamily="2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Songti SC" panose="02010600040101010101" pitchFamily="2" charset="-122"/>
                              <a:ea typeface="Songti SC" panose="02010600040101010101" pitchFamily="2" charset="-122"/>
                            </a:rPr>
                            <a:t>Try and error: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96073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83EE5B64-0C27-BB03-F267-95038C4CD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034" y="1979622"/>
            <a:ext cx="2949626" cy="212195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17DCEBC-C3A0-3FA0-6C7C-F5B8D23FA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471" y="1960685"/>
            <a:ext cx="3051320" cy="2140890"/>
          </a:xfrm>
          <a:prstGeom prst="rect">
            <a:avLst/>
          </a:prstGeom>
        </p:spPr>
      </p:pic>
      <p:sp>
        <p:nvSpPr>
          <p:cNvPr id="4" name="向右箭號 3">
            <a:extLst>
              <a:ext uri="{FF2B5EF4-FFF2-40B4-BE49-F238E27FC236}">
                <a16:creationId xmlns:a16="http://schemas.microsoft.com/office/drawing/2014/main" id="{C9D52679-4D6E-3DB8-FB7C-B4313A1BFC27}"/>
              </a:ext>
            </a:extLst>
          </p:cNvPr>
          <p:cNvSpPr/>
          <p:nvPr/>
        </p:nvSpPr>
        <p:spPr>
          <a:xfrm>
            <a:off x="4844355" y="2884304"/>
            <a:ext cx="681422" cy="293652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0D07FD-6AEC-EF52-4129-206F827C9BAB}"/>
              </a:ext>
            </a:extLst>
          </p:cNvPr>
          <p:cNvSpPr/>
          <p:nvPr/>
        </p:nvSpPr>
        <p:spPr>
          <a:xfrm>
            <a:off x="6535504" y="2363180"/>
            <a:ext cx="1985555" cy="45284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C3693E-A2B2-5FC1-5468-033A9B06F761}"/>
              </a:ext>
            </a:extLst>
          </p:cNvPr>
          <p:cNvSpPr txBox="1"/>
          <p:nvPr/>
        </p:nvSpPr>
        <p:spPr>
          <a:xfrm>
            <a:off x="6666225" y="3166413"/>
            <a:ext cx="4445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2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This configuration requires at least 96 samples </a:t>
            </a:r>
          </a:p>
          <a:p>
            <a:pPr marL="342900" indent="-342900">
              <a:buClr>
                <a:schemeClr val="accent2"/>
              </a:buClr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2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Unavailable for 10 CEL files</a:t>
            </a:r>
            <a:endParaRPr lang="zh-TW" altLang="en-US" sz="1600" dirty="0">
              <a:solidFill>
                <a:schemeClr val="accent2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83890A6-653A-EF89-9ABB-2CD6DA93C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5034" y="4704807"/>
            <a:ext cx="2226409" cy="187389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2C9D62F-CDDE-ABC8-0C88-940C1418224D}"/>
              </a:ext>
            </a:extLst>
          </p:cNvPr>
          <p:cNvSpPr txBox="1"/>
          <p:nvPr/>
        </p:nvSpPr>
        <p:spPr>
          <a:xfrm>
            <a:off x="5365471" y="414095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少於 96 個樣本</a:t>
            </a:r>
            <a:r>
              <a:rPr lang="zh-TW" altLang="en-US" sz="12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做</a:t>
            </a: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genotype calling 需使用 </a:t>
            </a:r>
            <a:r>
              <a:rPr lang="zh-TW" altLang="zh-TW" sz="1200" b="1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SNP-specific priors（SSP）</a:t>
            </a:r>
            <a:endParaRPr lang="zh-TW" altLang="en-US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C7279D-B04F-867A-0C9F-3331A7155521}"/>
              </a:ext>
            </a:extLst>
          </p:cNvPr>
          <p:cNvSpPr txBox="1"/>
          <p:nvPr/>
        </p:nvSpPr>
        <p:spPr>
          <a:xfrm>
            <a:off x="4295399" y="4575917"/>
            <a:ext cx="7453689" cy="79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The software identified the CEL files and the selected library as different array types.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Future work: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9A25CB9-0C3F-857B-96AE-C48F81B66809}"/>
              </a:ext>
            </a:extLst>
          </p:cNvPr>
          <p:cNvSpPr txBox="1"/>
          <p:nvPr/>
        </p:nvSpPr>
        <p:spPr>
          <a:xfrm>
            <a:off x="442912" y="539750"/>
            <a:ext cx="56530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Genotype calling workflow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B2F14F9-CE63-2B2D-4926-60BD3DA88F7F}"/>
              </a:ext>
            </a:extLst>
          </p:cNvPr>
          <p:cNvSpPr txBox="1"/>
          <p:nvPr/>
        </p:nvSpPr>
        <p:spPr>
          <a:xfrm>
            <a:off x="4480281" y="5295293"/>
            <a:ext cx="6096000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+mj-lt"/>
              <a:buAutoNum type="arabicPeriod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Identify the appropriate SSP file for small-batch genotype calling 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228600" indent="-2286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+mj-lt"/>
              <a:buAutoNum type="arabicPeriod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Review the genotype-calling algorithm 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228600" indent="-2286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+mj-lt"/>
              <a:buAutoNum type="arabicPeriod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Investigate potential calling errors and quality-control issues</a:t>
            </a:r>
            <a:endParaRPr kumimoji="1"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6418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889D8B2E-A162-E56A-0C67-BAF4D488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2EBA2EE8-D0D8-EF3D-D956-B1E7D6909E19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5D53B6B7-4C46-444B-C55E-A36FB27F5415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479897AA-05B4-B0C6-86B0-BBCFA6855527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2A090BAC-2A4E-E966-3B77-978279099923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10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5" name="Google Shape;230;p20">
            <a:extLst>
              <a:ext uri="{FF2B5EF4-FFF2-40B4-BE49-F238E27FC236}">
                <a16:creationId xmlns:a16="http://schemas.microsoft.com/office/drawing/2014/main" id="{0115A986-DCCA-A112-917C-1F3DFB8692B2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" name="Google Shape;231;p20">
            <a:extLst>
              <a:ext uri="{FF2B5EF4-FFF2-40B4-BE49-F238E27FC236}">
                <a16:creationId xmlns:a16="http://schemas.microsoft.com/office/drawing/2014/main" id="{188D1CDE-2FAB-C61F-8BEF-932C8DA3B0EA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A05F1C9-E3F3-E2CF-73A8-96718A6787AD}"/>
              </a:ext>
            </a:extLst>
          </p:cNvPr>
          <p:cNvSpPr txBox="1"/>
          <p:nvPr/>
        </p:nvSpPr>
        <p:spPr>
          <a:xfrm>
            <a:off x="468122" y="1186300"/>
            <a:ext cx="5431233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" altLang="zh-TW" sz="1800" b="1" dirty="0">
              <a:solidFill>
                <a:schemeClr val="tx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2506388-C8BC-5FC6-54C1-E328FCC3344B}"/>
              </a:ext>
            </a:extLst>
          </p:cNvPr>
          <p:cNvGraphicFramePr>
            <a:graphicFrameLocks noGrp="1"/>
          </p:cNvGraphicFramePr>
          <p:nvPr/>
        </p:nvGraphicFramePr>
        <p:xfrm>
          <a:off x="4592105" y="1689941"/>
          <a:ext cx="2752843" cy="1977307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2752843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767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5796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01250B2A-CB52-BFD3-C485-31B779C77033}"/>
              </a:ext>
            </a:extLst>
          </p:cNvPr>
          <p:cNvSpPr txBox="1"/>
          <p:nvPr/>
        </p:nvSpPr>
        <p:spPr>
          <a:xfrm>
            <a:off x="5158244" y="1634200"/>
            <a:ext cx="1718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A83EA02-EA66-8F71-881E-5E0A3133EFD0}"/>
              </a:ext>
            </a:extLst>
          </p:cNvPr>
          <p:cNvSpPr txBox="1"/>
          <p:nvPr/>
        </p:nvSpPr>
        <p:spPr>
          <a:xfrm>
            <a:off x="4776894" y="2543635"/>
            <a:ext cx="24291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call rate / missing rate, Heterozygosity, LD, MAF, HWE, PCA </a:t>
            </a:r>
            <a:endParaRPr lang="zh-TW" alt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AE169229-6515-4B4E-AAAD-FEE2759E09BB}"/>
              </a:ext>
            </a:extLst>
          </p:cNvPr>
          <p:cNvGraphicFramePr>
            <a:graphicFrameLocks noGrp="1"/>
          </p:cNvGraphicFramePr>
          <p:nvPr/>
        </p:nvGraphicFramePr>
        <p:xfrm>
          <a:off x="7707301" y="1698700"/>
          <a:ext cx="4041787" cy="1977307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4041787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767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5796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4252E25-EF2B-01EC-78A6-F5FA4331710B}"/>
              </a:ext>
            </a:extLst>
          </p:cNvPr>
          <p:cNvGraphicFramePr>
            <a:graphicFrameLocks noGrp="1"/>
          </p:cNvGraphicFramePr>
          <p:nvPr/>
        </p:nvGraphicFramePr>
        <p:xfrm>
          <a:off x="444676" y="1689941"/>
          <a:ext cx="3686990" cy="2365176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3686990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300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97217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6F564CE3-7B70-C328-DF1A-2836ACD887CF}"/>
              </a:ext>
            </a:extLst>
          </p:cNvPr>
          <p:cNvSpPr txBox="1"/>
          <p:nvPr/>
        </p:nvSpPr>
        <p:spPr>
          <a:xfrm>
            <a:off x="962120" y="1638591"/>
            <a:ext cx="27659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lnSpc>
                <a:spcPct val="150000"/>
              </a:lnSpc>
              <a:buSzPts val="1800"/>
            </a:pPr>
            <a:r>
              <a:rPr lang="en" altLang="zh-TW" sz="1600" b="1" dirty="0">
                <a:solidFill>
                  <a:schemeClr val="tx1"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Raw data- genotype calling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B632E4A-3543-F275-D785-28022CDA4DD9}"/>
              </a:ext>
            </a:extLst>
          </p:cNvPr>
          <p:cNvSpPr txBox="1"/>
          <p:nvPr/>
        </p:nvSpPr>
        <p:spPr>
          <a:xfrm>
            <a:off x="561897" y="3341969"/>
            <a:ext cx="2627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100000"/>
              <a:buFont typeface="+mj-lt"/>
              <a:buAutoNum type="arabicPeriod"/>
            </a:pP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SNP microarray</a:t>
            </a: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(.cel)</a:t>
            </a:r>
          </a:p>
          <a:p>
            <a:pPr marL="457200" indent="-342900">
              <a:buClr>
                <a:schemeClr val="accent5">
                  <a:lumMod val="50000"/>
                </a:schemeClr>
              </a:buClr>
              <a:buSzPct val="100000"/>
              <a:buFont typeface="+mj-lt"/>
              <a:buAutoNum type="arabicPeriod"/>
            </a:pP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Sample-level</a:t>
            </a: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(.lib)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2D20806-2593-F08A-AE1F-266122498128}"/>
              </a:ext>
            </a:extLst>
          </p:cNvPr>
          <p:cNvSpPr txBox="1"/>
          <p:nvPr/>
        </p:nvSpPr>
        <p:spPr>
          <a:xfrm>
            <a:off x="8868702" y="1652533"/>
            <a:ext cx="1718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DNA-to-image</a:t>
            </a:r>
          </a:p>
        </p:txBody>
      </p:sp>
      <p:sp>
        <p:nvSpPr>
          <p:cNvPr id="31" name="向右箭號 30">
            <a:extLst>
              <a:ext uri="{FF2B5EF4-FFF2-40B4-BE49-F238E27FC236}">
                <a16:creationId xmlns:a16="http://schemas.microsoft.com/office/drawing/2014/main" id="{5D155264-7DB2-E701-D21C-879297229E0D}"/>
              </a:ext>
            </a:extLst>
          </p:cNvPr>
          <p:cNvSpPr/>
          <p:nvPr/>
        </p:nvSpPr>
        <p:spPr>
          <a:xfrm>
            <a:off x="4195750" y="1815917"/>
            <a:ext cx="563683" cy="38856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向右箭號 31">
            <a:extLst>
              <a:ext uri="{FF2B5EF4-FFF2-40B4-BE49-F238E27FC236}">
                <a16:creationId xmlns:a16="http://schemas.microsoft.com/office/drawing/2014/main" id="{CA6A975A-C696-0C6C-9D70-34EBF56D1996}"/>
              </a:ext>
            </a:extLst>
          </p:cNvPr>
          <p:cNvSpPr/>
          <p:nvPr/>
        </p:nvSpPr>
        <p:spPr>
          <a:xfrm>
            <a:off x="7272528" y="1815917"/>
            <a:ext cx="563683" cy="388568"/>
          </a:xfrm>
          <a:prstGeom prst="rightArrow">
            <a:avLst/>
          </a:prstGeom>
          <a:solidFill>
            <a:schemeClr val="bg2">
              <a:alpha val="3713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lt1">
                  <a:alpha val="28932"/>
                </a:schemeClr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7C5C432-B35C-D1B1-CBB0-CB8B721E2B33}"/>
              </a:ext>
            </a:extLst>
          </p:cNvPr>
          <p:cNvSpPr txBox="1"/>
          <p:nvPr/>
        </p:nvSpPr>
        <p:spPr>
          <a:xfrm>
            <a:off x="707571" y="5243911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b="1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1925125-F10F-D85B-63E4-52FAA312CDD1}"/>
              </a:ext>
            </a:extLst>
          </p:cNvPr>
          <p:cNvSpPr txBox="1"/>
          <p:nvPr/>
        </p:nvSpPr>
        <p:spPr>
          <a:xfrm>
            <a:off x="428353" y="2025573"/>
            <a:ext cx="3801400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1600" b="1" dirty="0">
                <a:solidFill>
                  <a:schemeClr val="tx1">
                    <a:alpha val="28932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| Purpose : </a:t>
            </a:r>
          </a:p>
          <a:p>
            <a:pPr>
              <a:lnSpc>
                <a:spcPct val="150000"/>
              </a:lnSpc>
            </a:pPr>
            <a:r>
              <a:rPr kumimoji="1"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convert SNP array(intensity signals) into a genotype matrix.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349EE899-8971-E71F-EE52-2557163A3DA1}"/>
              </a:ext>
            </a:extLst>
          </p:cNvPr>
          <p:cNvSpPr txBox="1"/>
          <p:nvPr/>
        </p:nvSpPr>
        <p:spPr>
          <a:xfrm>
            <a:off x="7734127" y="2290676"/>
            <a:ext cx="39881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Genotype encoding: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Missing value encoding:</a:t>
            </a:r>
          </a:p>
          <a:p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      impute missing = [0,0,0,0]</a:t>
            </a:r>
          </a:p>
          <a:p>
            <a:r>
              <a:rPr lang="en-US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      Add fifth channel for </a:t>
            </a: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missing channel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C2B0C30-F2B2-F246-5532-19F51E9D40BE}"/>
              </a:ext>
            </a:extLst>
          </p:cNvPr>
          <p:cNvSpPr txBox="1"/>
          <p:nvPr/>
        </p:nvSpPr>
        <p:spPr>
          <a:xfrm>
            <a:off x="442912" y="3078286"/>
            <a:ext cx="2424980" cy="42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1600" b="1" dirty="0">
                <a:solidFill>
                  <a:schemeClr val="tx1">
                    <a:alpha val="28932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| Data  : </a:t>
            </a:r>
          </a:p>
        </p:txBody>
      </p:sp>
    </p:spTree>
    <p:extLst>
      <p:ext uri="{BB962C8B-B14F-4D97-AF65-F5344CB8AC3E}">
        <p14:creationId xmlns:p14="http://schemas.microsoft.com/office/powerpoint/2010/main" val="1611106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669A2774-5C1F-56EA-9CA5-432DFDA0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63B59546-A12F-DF56-8019-6AA6A56411B3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03ADAC55-9A21-494A-F831-25D5371BC40B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6A4936FE-7DD3-FE24-5608-45B8236C3FC2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0424AF9F-7F19-E8C3-6BF2-CD6AE644C258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10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5" name="Google Shape;230;p20">
            <a:extLst>
              <a:ext uri="{FF2B5EF4-FFF2-40B4-BE49-F238E27FC236}">
                <a16:creationId xmlns:a16="http://schemas.microsoft.com/office/drawing/2014/main" id="{0061A285-2E8E-8BF6-7C89-1567B535786E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" name="Google Shape;231;p20">
            <a:extLst>
              <a:ext uri="{FF2B5EF4-FFF2-40B4-BE49-F238E27FC236}">
                <a16:creationId xmlns:a16="http://schemas.microsoft.com/office/drawing/2014/main" id="{6C4A7B6E-B603-48D6-B3AC-65F6115787D8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81B076-240F-FFC4-AD9B-585E9E70E7C7}"/>
              </a:ext>
            </a:extLst>
          </p:cNvPr>
          <p:cNvSpPr txBox="1"/>
          <p:nvPr/>
        </p:nvSpPr>
        <p:spPr>
          <a:xfrm>
            <a:off x="468123" y="1186300"/>
            <a:ext cx="4058830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" altLang="zh-TW" sz="1800" b="1" dirty="0">
              <a:solidFill>
                <a:schemeClr val="tx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2474DAB-D1EB-5AE0-E926-97EA0D449897}"/>
              </a:ext>
            </a:extLst>
          </p:cNvPr>
          <p:cNvSpPr txBox="1"/>
          <p:nvPr/>
        </p:nvSpPr>
        <p:spPr>
          <a:xfrm>
            <a:off x="707571" y="5243911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b="1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752F8FD-8A72-52BC-0424-94A4ACE27D40}"/>
              </a:ext>
            </a:extLst>
          </p:cNvPr>
          <p:cNvSpPr txBox="1"/>
          <p:nvPr/>
        </p:nvSpPr>
        <p:spPr>
          <a:xfrm>
            <a:off x="544650" y="1657299"/>
            <a:ext cx="35021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Data: 10-genotyping </a:t>
            </a:r>
            <a:r>
              <a:rPr lang="en-US" altLang="zh-TW" sz="1600" dirty="0" err="1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data.txt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Alegreya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   ##</a:t>
            </a:r>
            <a:r>
              <a:rPr lang="en-US" altLang="zh-TW" sz="1600" dirty="0" err="1">
                <a:solidFill>
                  <a:schemeClr val="accent5">
                    <a:lumMod val="75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snp</a:t>
            </a: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-count=680865 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   ##samples-per-</a:t>
            </a:r>
            <a:r>
              <a:rPr lang="en-US" altLang="zh-TW" sz="1600" dirty="0" err="1">
                <a:solidFill>
                  <a:schemeClr val="accent5">
                    <a:lumMod val="75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snp</a:t>
            </a: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=240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BA47662B-2064-2FF6-448C-A97BD1F076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779" b="32970"/>
          <a:stretch>
            <a:fillRect/>
          </a:stretch>
        </p:blipFill>
        <p:spPr>
          <a:xfrm>
            <a:off x="4046828" y="1840007"/>
            <a:ext cx="7567691" cy="4057849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E2441EF4-A680-DA25-CD46-951CC87EC344}"/>
              </a:ext>
            </a:extLst>
          </p:cNvPr>
          <p:cNvSpPr txBox="1"/>
          <p:nvPr/>
        </p:nvSpPr>
        <p:spPr>
          <a:xfrm>
            <a:off x="4046828" y="1335363"/>
            <a:ext cx="67742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Col: 77 =patient genotype*10 + annotation+67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F88C9DD-AC65-9DC8-58D3-4122D5611978}"/>
              </a:ext>
            </a:extLst>
          </p:cNvPr>
          <p:cNvSpPr txBox="1"/>
          <p:nvPr/>
        </p:nvSpPr>
        <p:spPr>
          <a:xfrm>
            <a:off x="2775864" y="5551688"/>
            <a:ext cx="3502178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Row : 680865</a:t>
            </a:r>
          </a:p>
        </p:txBody>
      </p:sp>
    </p:spTree>
    <p:extLst>
      <p:ext uri="{BB962C8B-B14F-4D97-AF65-F5344CB8AC3E}">
        <p14:creationId xmlns:p14="http://schemas.microsoft.com/office/powerpoint/2010/main" val="281320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7EA39-2C75-3173-E617-74D167CF5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81109E-48AD-219A-E8CD-FF243E809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567262"/>
              </p:ext>
            </p:extLst>
          </p:nvPr>
        </p:nvGraphicFramePr>
        <p:xfrm>
          <a:off x="723704" y="1216246"/>
          <a:ext cx="10600788" cy="4620674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1006622">
                  <a:extLst>
                    <a:ext uri="{9D8B030D-6E8A-4147-A177-3AD203B41FA5}">
                      <a16:colId xmlns:a16="http://schemas.microsoft.com/office/drawing/2014/main" val="2748013699"/>
                    </a:ext>
                  </a:extLst>
                </a:gridCol>
                <a:gridCol w="9594166">
                  <a:extLst>
                    <a:ext uri="{9D8B030D-6E8A-4147-A177-3AD203B41FA5}">
                      <a16:colId xmlns:a16="http://schemas.microsoft.com/office/drawing/2014/main" val="2353462506"/>
                    </a:ext>
                  </a:extLst>
                </a:gridCol>
              </a:tblGrid>
              <a:tr h="4620674">
                <a:tc>
                  <a:txBody>
                    <a:bodyPr/>
                    <a:lstStyle/>
                    <a:p>
                      <a:pPr algn="ctr"/>
                      <a:r>
                        <a:rPr lang="en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step1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SzPct val="50000"/>
                      </a:pPr>
                      <a:r>
                        <a:rPr lang="en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SNP annotation data: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6661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71E73CC-C379-9B97-4505-3DB3A8ECC01D}"/>
              </a:ext>
            </a:extLst>
          </p:cNvPr>
          <p:cNvSpPr txBox="1"/>
          <p:nvPr/>
        </p:nvSpPr>
        <p:spPr>
          <a:xfrm>
            <a:off x="442912" y="539750"/>
            <a:ext cx="6918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 workflow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A747907-1451-9C66-1E09-D41187152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194" y="1577112"/>
            <a:ext cx="7790562" cy="406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20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EF363C1-6B2E-A118-1407-CC273AB43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-2639" b="20479"/>
          <a:stretch>
            <a:fillRect/>
          </a:stretch>
        </p:blipFill>
        <p:spPr>
          <a:xfrm>
            <a:off x="170983" y="539750"/>
            <a:ext cx="5919458" cy="5670562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EA1A4D2E-AFA7-1A6F-3370-683D943CE4F8}"/>
              </a:ext>
            </a:extLst>
          </p:cNvPr>
          <p:cNvGrpSpPr/>
          <p:nvPr/>
        </p:nvGrpSpPr>
        <p:grpSpPr>
          <a:xfrm>
            <a:off x="6096000" y="539750"/>
            <a:ext cx="5925017" cy="4103502"/>
            <a:chOff x="6096000" y="539750"/>
            <a:chExt cx="5318301" cy="3640103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529F95C5-0030-F7E1-F40D-37A85AD7C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00756" y="1999602"/>
              <a:ext cx="5313545" cy="2180251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08DD49BA-69BC-7A97-1290-A7E09D39E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96767"/>
            <a:stretch>
              <a:fillRect/>
            </a:stretch>
          </p:blipFill>
          <p:spPr>
            <a:xfrm>
              <a:off x="6096000" y="539750"/>
              <a:ext cx="5313311" cy="212418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8BD08523-4BE5-A679-F59C-C3750A7CA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9340"/>
            <a:stretch>
              <a:fillRect/>
            </a:stretch>
          </p:blipFill>
          <p:spPr>
            <a:xfrm>
              <a:off x="6096000" y="667344"/>
              <a:ext cx="5313311" cy="13573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661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B2CF-982E-E3C9-F5F2-21A8A92B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835F7BB-C0E3-E467-8767-7FE470EA2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964058"/>
              </p:ext>
            </p:extLst>
          </p:nvPr>
        </p:nvGraphicFramePr>
        <p:xfrm>
          <a:off x="723704" y="1216246"/>
          <a:ext cx="11025384" cy="5413154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1046940">
                  <a:extLst>
                    <a:ext uri="{9D8B030D-6E8A-4147-A177-3AD203B41FA5}">
                      <a16:colId xmlns:a16="http://schemas.microsoft.com/office/drawing/2014/main" val="2748013699"/>
                    </a:ext>
                  </a:extLst>
                </a:gridCol>
                <a:gridCol w="9978444">
                  <a:extLst>
                    <a:ext uri="{9D8B030D-6E8A-4147-A177-3AD203B41FA5}">
                      <a16:colId xmlns:a16="http://schemas.microsoft.com/office/drawing/2014/main" val="2353462506"/>
                    </a:ext>
                  </a:extLst>
                </a:gridCol>
              </a:tblGrid>
              <a:tr h="5413154">
                <a:tc>
                  <a:txBody>
                    <a:bodyPr/>
                    <a:lstStyle/>
                    <a:p>
                      <a:pPr algn="ctr"/>
                      <a:r>
                        <a:rPr lang="en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step</a:t>
                      </a:r>
                      <a:r>
                        <a:rPr lang="en-US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2</a:t>
                      </a:r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Check genotype calls and sample-level quality control</a:t>
                      </a: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: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6661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529D2763-1940-A277-9C5A-FE11BA6B1116}"/>
              </a:ext>
            </a:extLst>
          </p:cNvPr>
          <p:cNvSpPr txBox="1"/>
          <p:nvPr/>
        </p:nvSpPr>
        <p:spPr>
          <a:xfrm>
            <a:off x="442912" y="539750"/>
            <a:ext cx="6918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 workflow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0669C7-18A7-DD9A-8B62-3AAB5956577C}"/>
              </a:ext>
            </a:extLst>
          </p:cNvPr>
          <p:cNvSpPr txBox="1"/>
          <p:nvPr/>
        </p:nvSpPr>
        <p:spPr>
          <a:xfrm>
            <a:off x="1813560" y="1484213"/>
            <a:ext cx="9357360" cy="153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latin typeface="Songti SC" panose="02010600040101010101" pitchFamily="2" charset="-122"/>
                <a:ea typeface="Songti SC" panose="02010600040101010101" pitchFamily="2" charset="-122"/>
              </a:rPr>
              <a:t>a. </a:t>
            </a:r>
            <a:r>
              <a:rPr lang="zh-TW" altLang="en-US" sz="1600" b="1" dirty="0"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lang="en-US" altLang="zh-TW" sz="1600" b="1" dirty="0">
                <a:latin typeface="Songti SC" panose="02010600040101010101" pitchFamily="2" charset="-122"/>
                <a:ea typeface="Songti SC" panose="02010600040101010101" pitchFamily="2" charset="-122"/>
              </a:rPr>
              <a:t>Genotype data (patients*10):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genotype calls contain only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AA／AB／BB／NoCall </a:t>
            </a:r>
            <a:endParaRPr lang="en-US" altLang="zh-TW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number of each genotype category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call rate</a:t>
            </a:r>
            <a:r>
              <a:rPr lang="zh-TW" altLang="en-US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：</a:t>
            </a:r>
            <a:endParaRPr lang="en-US" altLang="zh-TW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1640E5-00DB-957F-128F-D36F47427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11"/>
          <a:stretch>
            <a:fillRect/>
          </a:stretch>
        </p:blipFill>
        <p:spPr>
          <a:xfrm>
            <a:off x="1799046" y="4900784"/>
            <a:ext cx="3164453" cy="172861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65A19C6-B10F-8179-3CDA-3EEE7A111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046" y="3412702"/>
            <a:ext cx="9914765" cy="141268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FA461FC-5954-E0B2-61C1-6D47A25D3F76}"/>
              </a:ext>
            </a:extLst>
          </p:cNvPr>
          <p:cNvSpPr txBox="1"/>
          <p:nvPr/>
        </p:nvSpPr>
        <p:spPr>
          <a:xfrm>
            <a:off x="3060479" y="2700012"/>
            <a:ext cx="70667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call rate ≥ 98%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：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generally considered good </a:t>
            </a:r>
          </a:p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      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95%–98%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：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requires attention</a:t>
            </a:r>
            <a:endParaRPr lang="en-US" altLang="zh-TW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             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&lt;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95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% :  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require further investigation</a:t>
            </a:r>
            <a:endParaRPr lang="zh-TW" altLang="en-US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7CBB30-BF62-D0A1-F468-37D0CC3689D2}"/>
              </a:ext>
            </a:extLst>
          </p:cNvPr>
          <p:cNvSpPr/>
          <p:nvPr/>
        </p:nvSpPr>
        <p:spPr>
          <a:xfrm>
            <a:off x="3236297" y="4504030"/>
            <a:ext cx="442128" cy="120580"/>
          </a:xfrm>
          <a:prstGeom prst="rect">
            <a:avLst/>
          </a:prstGeom>
          <a:solidFill>
            <a:schemeClr val="accent4">
              <a:lumMod val="60000"/>
              <a:lumOff val="40000"/>
              <a:alpha val="550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E4BDC5-8748-7495-0DD3-B322BA6CAB70}"/>
              </a:ext>
            </a:extLst>
          </p:cNvPr>
          <p:cNvSpPr/>
          <p:nvPr/>
        </p:nvSpPr>
        <p:spPr>
          <a:xfrm>
            <a:off x="4132275" y="4504030"/>
            <a:ext cx="442128" cy="120580"/>
          </a:xfrm>
          <a:prstGeom prst="rect">
            <a:avLst/>
          </a:prstGeom>
          <a:solidFill>
            <a:schemeClr val="accent4">
              <a:lumMod val="60000"/>
              <a:lumOff val="40000"/>
              <a:alpha val="550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73EF1E-4919-2B18-9135-3B914B419FA6}"/>
              </a:ext>
            </a:extLst>
          </p:cNvPr>
          <p:cNvSpPr/>
          <p:nvPr/>
        </p:nvSpPr>
        <p:spPr>
          <a:xfrm>
            <a:off x="4978013" y="4504030"/>
            <a:ext cx="442128" cy="120580"/>
          </a:xfrm>
          <a:prstGeom prst="rect">
            <a:avLst/>
          </a:prstGeom>
          <a:solidFill>
            <a:schemeClr val="accent4">
              <a:lumMod val="60000"/>
              <a:lumOff val="40000"/>
              <a:alpha val="550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BD0A66-6DC8-C7C8-1E4E-279C35E905CB}"/>
              </a:ext>
            </a:extLst>
          </p:cNvPr>
          <p:cNvSpPr/>
          <p:nvPr/>
        </p:nvSpPr>
        <p:spPr>
          <a:xfrm>
            <a:off x="5875662" y="4504030"/>
            <a:ext cx="442128" cy="120580"/>
          </a:xfrm>
          <a:prstGeom prst="rect">
            <a:avLst/>
          </a:prstGeom>
          <a:solidFill>
            <a:schemeClr val="accent4">
              <a:lumMod val="60000"/>
              <a:lumOff val="40000"/>
              <a:alpha val="550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0111C6-9AF8-C8FB-D724-EE9417267270}"/>
              </a:ext>
            </a:extLst>
          </p:cNvPr>
          <p:cNvSpPr/>
          <p:nvPr/>
        </p:nvSpPr>
        <p:spPr>
          <a:xfrm>
            <a:off x="8494934" y="4504030"/>
            <a:ext cx="442128" cy="120580"/>
          </a:xfrm>
          <a:prstGeom prst="rect">
            <a:avLst/>
          </a:prstGeom>
          <a:solidFill>
            <a:schemeClr val="accent4">
              <a:lumMod val="60000"/>
              <a:lumOff val="40000"/>
              <a:alpha val="550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6F1BA2-BDD7-2B6F-0A98-0F08FFDDA824}"/>
              </a:ext>
            </a:extLst>
          </p:cNvPr>
          <p:cNvSpPr/>
          <p:nvPr/>
        </p:nvSpPr>
        <p:spPr>
          <a:xfrm>
            <a:off x="7619051" y="4504030"/>
            <a:ext cx="442128" cy="120580"/>
          </a:xfrm>
          <a:prstGeom prst="rect">
            <a:avLst/>
          </a:prstGeom>
          <a:solidFill>
            <a:schemeClr val="accent4">
              <a:lumMod val="60000"/>
              <a:lumOff val="40000"/>
              <a:alpha val="550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88458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DBC1-D3DB-CC4F-3999-70DA8D6A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43C3D0D-2742-3CA6-B3EA-995B73529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132130"/>
              </p:ext>
            </p:extLst>
          </p:nvPr>
        </p:nvGraphicFramePr>
        <p:xfrm>
          <a:off x="723704" y="1216246"/>
          <a:ext cx="11025384" cy="5133158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1046940">
                  <a:extLst>
                    <a:ext uri="{9D8B030D-6E8A-4147-A177-3AD203B41FA5}">
                      <a16:colId xmlns:a16="http://schemas.microsoft.com/office/drawing/2014/main" val="2748013699"/>
                    </a:ext>
                  </a:extLst>
                </a:gridCol>
                <a:gridCol w="9978444">
                  <a:extLst>
                    <a:ext uri="{9D8B030D-6E8A-4147-A177-3AD203B41FA5}">
                      <a16:colId xmlns:a16="http://schemas.microsoft.com/office/drawing/2014/main" val="2353462506"/>
                    </a:ext>
                  </a:extLst>
                </a:gridCol>
              </a:tblGrid>
              <a:tr h="5133158">
                <a:tc>
                  <a:txBody>
                    <a:bodyPr/>
                    <a:lstStyle/>
                    <a:p>
                      <a:pPr algn="ctr"/>
                      <a:r>
                        <a:rPr lang="en" altLang="zh-TW" sz="160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step</a:t>
                      </a:r>
                      <a:r>
                        <a:rPr lang="en-US" altLang="zh-TW" sz="160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2</a:t>
                      </a:r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b.  Assess SNP-level missingness: 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6661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5058597-3AC0-5DA0-790B-2E4FEECCA2B7}"/>
              </a:ext>
            </a:extLst>
          </p:cNvPr>
          <p:cNvSpPr txBox="1"/>
          <p:nvPr/>
        </p:nvSpPr>
        <p:spPr>
          <a:xfrm>
            <a:off x="442912" y="539750"/>
            <a:ext cx="6918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 workflow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074462D9-E902-E0A9-8AEB-BC08BA773777}"/>
                  </a:ext>
                </a:extLst>
              </p:cNvPr>
              <p:cNvSpPr txBox="1"/>
              <p:nvPr/>
            </p:nvSpPr>
            <p:spPr>
              <a:xfrm>
                <a:off x="5569056" y="1617689"/>
                <a:ext cx="7065168" cy="495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Songti SC" panose="02010600040101010101" pitchFamily="2" charset="-122"/>
                    <a:ea typeface="Songti SC" panose="02010600040101010101" pitchFamily="2" charset="-122"/>
                  </a:rPr>
                  <a:t>SNP missing 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800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Number</m:t>
                        </m:r>
                        <m: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of</m:t>
                        </m:r>
                        <m: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participants</m:t>
                        </m:r>
                        <m: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with</m:t>
                        </m:r>
                        <m: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" altLang="zh-TW" sz="1800" i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NoCall</m:t>
                        </m:r>
                      </m:num>
                      <m:den>
                        <m:r>
                          <a:rPr lang="en-US" altLang="zh-TW" sz="1800" b="0" i="0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10</m:t>
                        </m:r>
                      </m:den>
                    </m:f>
                  </m:oMath>
                </a14:m>
                <a:endParaRPr lang="zh-TW" altLang="en-US" sz="1800" dirty="0">
                  <a:solidFill>
                    <a:schemeClr val="accent5">
                      <a:lumMod val="50000"/>
                    </a:schemeClr>
                  </a:solidFill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074462D9-E902-E0A9-8AEB-BC08BA773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056" y="1617689"/>
                <a:ext cx="7065168" cy="495520"/>
              </a:xfrm>
              <a:prstGeom prst="rect">
                <a:avLst/>
              </a:prstGeom>
              <a:blipFill>
                <a:blip r:embed="rId3"/>
                <a:stretch>
                  <a:fillRect l="-358"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2ED3D565-B64F-92D8-A829-30DD71AF7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246" y="1757068"/>
            <a:ext cx="2467339" cy="2367312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DC5E7EFC-0667-FF62-2148-D845C68E6910}"/>
              </a:ext>
            </a:extLst>
          </p:cNvPr>
          <p:cNvSpPr txBox="1"/>
          <p:nvPr/>
        </p:nvSpPr>
        <p:spPr>
          <a:xfrm>
            <a:off x="5529071" y="2235054"/>
            <a:ext cx="6324522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97% of SNPs had no missing genotype calls across all 10 samples</a:t>
            </a:r>
          </a:p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1% of SNPs were missing in only one participant</a:t>
            </a:r>
          </a:p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DFFEB"/>
                </a:highlight>
                <a:latin typeface="Songti SC" panose="02010600040101010101" pitchFamily="2" charset="-122"/>
                <a:ea typeface="Songti SC" panose="02010600040101010101" pitchFamily="2" charset="-122"/>
              </a:rPr>
              <a:t>1.97% of SNPs were missing in 6 participants</a:t>
            </a:r>
            <a:endParaRPr lang="zh-TW" altLang="zh-TW" sz="1600" dirty="0">
              <a:solidFill>
                <a:schemeClr val="accent5">
                  <a:lumMod val="50000"/>
                </a:schemeClr>
              </a:solidFill>
              <a:highlight>
                <a:srgbClr val="FDFFEB"/>
              </a:highlight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938F2CA-0148-0486-5E96-394E09D5CA6C}"/>
              </a:ext>
            </a:extLst>
          </p:cNvPr>
          <p:cNvSpPr txBox="1"/>
          <p:nvPr/>
        </p:nvSpPr>
        <p:spPr>
          <a:xfrm>
            <a:off x="1915599" y="4386783"/>
            <a:ext cx="9383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Investigation of the 13,404 SNPs with 6 missing calls </a:t>
            </a:r>
            <a:r>
              <a:rPr kumimoji="1"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:</a:t>
            </a:r>
            <a:r>
              <a:rPr kumimoji="1"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endParaRPr kumimoji="1"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endParaRPr kumimoji="1"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r>
              <a:rPr kumimoji="1" lang="en-US" altLang="zh-TW" sz="1600" dirty="0">
                <a:solidFill>
                  <a:srgbClr val="C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    </a:t>
            </a:r>
            <a:r>
              <a:rPr kumimoji="1"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The missingness was systematic rather than random -&gt;</a:t>
            </a:r>
            <a:r>
              <a:rPr kumimoji="1"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assigned a separate </a:t>
            </a:r>
            <a:r>
              <a:rPr kumimoji="1" lang="en" altLang="zh-TW" sz="1600" dirty="0" err="1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colour</a:t>
            </a:r>
            <a:r>
              <a:rPr kumimoji="1"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(DNA-to-image)</a:t>
            </a:r>
            <a:endParaRPr kumimoji="1"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89A2502-9141-2DE1-2221-55E729280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7771" y="5240311"/>
            <a:ext cx="8594034" cy="619124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654A3EC2-E548-5BE6-2E62-AEF5F07EBA90}"/>
              </a:ext>
            </a:extLst>
          </p:cNvPr>
          <p:cNvSpPr txBox="1"/>
          <p:nvPr/>
        </p:nvSpPr>
        <p:spPr>
          <a:xfrm>
            <a:off x="2183265" y="5872767"/>
            <a:ext cx="407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* 1 = NoCall; 0 = successfully called</a:t>
            </a:r>
            <a:endParaRPr kumimoji="1" lang="zh-TW" altLang="en-US" dirty="0">
              <a:solidFill>
                <a:schemeClr val="bg1">
                  <a:lumMod val="65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58DBFD-3909-67EC-7172-E701FC64D369}"/>
              </a:ext>
            </a:extLst>
          </p:cNvPr>
          <p:cNvSpPr/>
          <p:nvPr/>
        </p:nvSpPr>
        <p:spPr>
          <a:xfrm>
            <a:off x="2668246" y="3417213"/>
            <a:ext cx="2467338" cy="222250"/>
          </a:xfrm>
          <a:prstGeom prst="rect">
            <a:avLst/>
          </a:prstGeom>
          <a:solidFill>
            <a:schemeClr val="accent4">
              <a:lumMod val="60000"/>
              <a:lumOff val="40000"/>
              <a:alpha val="550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98610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F3A3-A22A-7869-8187-C63A58D8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B8E02F4-B7AB-6969-A0A9-6D269DADF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396132"/>
              </p:ext>
            </p:extLst>
          </p:nvPr>
        </p:nvGraphicFramePr>
        <p:xfrm>
          <a:off x="723704" y="1216247"/>
          <a:ext cx="11025384" cy="4831856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1046940">
                  <a:extLst>
                    <a:ext uri="{9D8B030D-6E8A-4147-A177-3AD203B41FA5}">
                      <a16:colId xmlns:a16="http://schemas.microsoft.com/office/drawing/2014/main" val="2748013699"/>
                    </a:ext>
                  </a:extLst>
                </a:gridCol>
                <a:gridCol w="9978444">
                  <a:extLst>
                    <a:ext uri="{9D8B030D-6E8A-4147-A177-3AD203B41FA5}">
                      <a16:colId xmlns:a16="http://schemas.microsoft.com/office/drawing/2014/main" val="2353462506"/>
                    </a:ext>
                  </a:extLst>
                </a:gridCol>
              </a:tblGrid>
              <a:tr h="3304287">
                <a:tc rowSpan="2">
                  <a:txBody>
                    <a:bodyPr/>
                    <a:lstStyle/>
                    <a:p>
                      <a:pPr algn="ctr"/>
                      <a:r>
                        <a:rPr lang="en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step</a:t>
                      </a:r>
                      <a:r>
                        <a:rPr lang="en-US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2</a:t>
                      </a:r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c. </a:t>
                      </a:r>
                      <a:r>
                        <a:rPr lang="en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Check the completeness of chromosome and position information</a:t>
                      </a: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: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66618"/>
                  </a:ext>
                </a:extLst>
              </a:tr>
              <a:tr h="1527569">
                <a:tc vMerge="1">
                  <a:txBody>
                    <a:bodyPr/>
                    <a:lstStyle/>
                    <a:p>
                      <a:pPr algn="ctr"/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d.  </a:t>
                      </a:r>
                      <a:r>
                        <a:rPr lang="en" altLang="zh-TW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Check for duplicated SNP annotations</a:t>
                      </a: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: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70365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6A26D00-9AFA-A346-55D3-21B2BF0A6816}"/>
              </a:ext>
            </a:extLst>
          </p:cNvPr>
          <p:cNvSpPr txBox="1"/>
          <p:nvPr/>
        </p:nvSpPr>
        <p:spPr>
          <a:xfrm>
            <a:off x="442912" y="539750"/>
            <a:ext cx="6918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 workflow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849F62-009A-4415-124D-3160A8F416A8}"/>
              </a:ext>
            </a:extLst>
          </p:cNvPr>
          <p:cNvSpPr txBox="1"/>
          <p:nvPr/>
        </p:nvSpPr>
        <p:spPr>
          <a:xfrm>
            <a:off x="1790752" y="1600803"/>
            <a:ext cx="11281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85 SNPs had missing chromosome information in the hg19_chromosome field 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: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74AC777-F81D-E788-3D39-7AC5568092DA}"/>
              </a:ext>
            </a:extLst>
          </p:cNvPr>
          <p:cNvSpPr txBox="1"/>
          <p:nvPr/>
        </p:nvSpPr>
        <p:spPr>
          <a:xfrm>
            <a:off x="7814786" y="2061869"/>
            <a:ext cx="7562334" cy="227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Imputation:</a:t>
            </a:r>
          </a:p>
          <a:p>
            <a:pPr lvl="2"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    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#hg19_chromosome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-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&gt;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Chr_id</a:t>
            </a:r>
          </a:p>
          <a:p>
            <a:pPr lvl="2"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    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#hg19_position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-&gt;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Start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New col- </a:t>
            </a:r>
            <a:r>
              <a:rPr lang="en-US" altLang="zh-TW" sz="1600" dirty="0" err="1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position_source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      If impute by </a:t>
            </a:r>
            <a:r>
              <a:rPr lang="zh-TW" altLang="en-US" sz="1600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Chr_id</a:t>
            </a: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/</a:t>
            </a:r>
            <a:r>
              <a:rPr lang="zh-TW" altLang="en-US" sz="1600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Start</a:t>
            </a:r>
            <a:endParaRPr lang="en-US" altLang="zh-TW" sz="1600" dirty="0">
              <a:solidFill>
                <a:schemeClr val="accent5">
                  <a:lumMod val="75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                then </a:t>
            </a:r>
            <a:r>
              <a:rPr lang="en-US" altLang="zh-TW" sz="1600" dirty="0" err="1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Chr_id_Start</a:t>
            </a:r>
            <a:endParaRPr lang="zh-TW" altLang="en-US" sz="1600" dirty="0">
              <a:solidFill>
                <a:schemeClr val="accent5">
                  <a:lumMod val="75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9CDEA72-3705-D85C-CF9E-A050AF923707}"/>
              </a:ext>
            </a:extLst>
          </p:cNvPr>
          <p:cNvSpPr txBox="1"/>
          <p:nvPr/>
        </p:nvSpPr>
        <p:spPr>
          <a:xfrm>
            <a:off x="1991816" y="4819339"/>
            <a:ext cx="6098058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Duplicated probeset_id: 0 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Duplicated rsID: 0 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Duplicated chromosome-position pairs: 4,143</a:t>
            </a:r>
            <a:endParaRPr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3625848-EE52-0B80-DBAC-301DC784FC16}"/>
              </a:ext>
            </a:extLst>
          </p:cNvPr>
          <p:cNvSpPr txBox="1"/>
          <p:nvPr/>
        </p:nvSpPr>
        <p:spPr>
          <a:xfrm>
            <a:off x="12192000" y="4672421"/>
            <a:ext cx="609805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這一步之後可能會用：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BestProbeset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BestandRecommended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決定同一 SNP 多個 probeset 時保留哪一個。</a:t>
            </a:r>
          </a:p>
          <a:p>
            <a:pPr>
              <a:buNone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但現在先不刪。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B3807A1-3B8A-9D04-EEA7-4110EB17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346"/>
          <a:stretch>
            <a:fillRect/>
          </a:stretch>
        </p:blipFill>
        <p:spPr>
          <a:xfrm>
            <a:off x="1790752" y="2323913"/>
            <a:ext cx="5902723" cy="145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82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AC60D-0383-D611-A5BB-7460E667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9373730-B3D1-49D3-B205-291E044B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471608"/>
              </p:ext>
            </p:extLst>
          </p:nvPr>
        </p:nvGraphicFramePr>
        <p:xfrm>
          <a:off x="723704" y="1216247"/>
          <a:ext cx="10799477" cy="5226338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1025488">
                  <a:extLst>
                    <a:ext uri="{9D8B030D-6E8A-4147-A177-3AD203B41FA5}">
                      <a16:colId xmlns:a16="http://schemas.microsoft.com/office/drawing/2014/main" val="2748013699"/>
                    </a:ext>
                  </a:extLst>
                </a:gridCol>
                <a:gridCol w="9773989">
                  <a:extLst>
                    <a:ext uri="{9D8B030D-6E8A-4147-A177-3AD203B41FA5}">
                      <a16:colId xmlns:a16="http://schemas.microsoft.com/office/drawing/2014/main" val="2353462506"/>
                    </a:ext>
                  </a:extLst>
                </a:gridCol>
              </a:tblGrid>
              <a:tr h="2979235">
                <a:tc rowSpan="2">
                  <a:txBody>
                    <a:bodyPr/>
                    <a:lstStyle/>
                    <a:p>
                      <a:pPr algn="ctr"/>
                      <a:r>
                        <a:rPr lang="en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step</a:t>
                      </a:r>
                      <a:r>
                        <a:rPr lang="en-US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2</a:t>
                      </a:r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e. </a:t>
                      </a:r>
                      <a:r>
                        <a:rPr lang="zh-TW" altLang="en-US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 </a:t>
                      </a:r>
                      <a:r>
                        <a:rPr lang="en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Examine batch-level SNP quality-control metrics</a:t>
                      </a: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: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66618"/>
                  </a:ext>
                </a:extLst>
              </a:tr>
              <a:tr h="2247103">
                <a:tc vMerge="1">
                  <a:txBody>
                    <a:bodyPr/>
                    <a:lstStyle/>
                    <a:p>
                      <a:pPr algn="ctr"/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f. Examine the distribution of batch-level SNP call rates: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70365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8FF437C-1583-9978-C3E4-C03B391FE1C5}"/>
              </a:ext>
            </a:extLst>
          </p:cNvPr>
          <p:cNvSpPr txBox="1"/>
          <p:nvPr/>
        </p:nvSpPr>
        <p:spPr>
          <a:xfrm>
            <a:off x="442912" y="539750"/>
            <a:ext cx="6918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 workflow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9F1298F-3166-74DB-0B0C-48C205A2C916}"/>
              </a:ext>
            </a:extLst>
          </p:cNvPr>
          <p:cNvSpPr txBox="1"/>
          <p:nvPr/>
        </p:nvSpPr>
        <p:spPr>
          <a:xfrm>
            <a:off x="12245323" y="1398072"/>
            <a:ext cx="11667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看原本</a:t>
            </a:r>
            <a:r>
              <a:rPr lang="zh-TW" altLang="zh-TW" dirty="0"/>
              <a:t>240 個樣本所產生的 SNP 品質指標，整體分布好不好</a:t>
            </a:r>
            <a:r>
              <a:rPr lang="en-US" altLang="zh-TW" dirty="0"/>
              <a:t> </a:t>
            </a:r>
            <a:r>
              <a:rPr lang="zh-TW" altLang="en-US" dirty="0"/>
              <a:t>因為</a:t>
            </a:r>
            <a:r>
              <a:rPr lang="zh-TW" altLang="zh-TW" dirty="0"/>
              <a:t>如果只用這 10 人判斷某個 SNP 品質，資訊可能不穩定；但原始 240 人的 cluster 和 call rate 比較能反映這個 SNP 本身是否容易正確分型。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FDA0199-2EBE-CAA6-77E8-FABA41EA24E6}"/>
              </a:ext>
            </a:extLst>
          </p:cNvPr>
          <p:cNvSpPr txBox="1"/>
          <p:nvPr/>
        </p:nvSpPr>
        <p:spPr>
          <a:xfrm>
            <a:off x="1800729" y="1636186"/>
            <a:ext cx="102344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err="1">
                <a:latin typeface="Songti SC" panose="02010600040101010101" pitchFamily="2" charset="-122"/>
                <a:ea typeface="Songti SC" panose="02010600040101010101" pitchFamily="2" charset="-122"/>
              </a:rPr>
              <a:t>Examaine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- </a:t>
            </a:r>
            <a:r>
              <a:rPr lang="zh-TW" altLang="en-US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n_AA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/</a:t>
            </a:r>
            <a:r>
              <a:rPr lang="zh-TW" altLang="en-US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n_AB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/</a:t>
            </a:r>
            <a:r>
              <a:rPr lang="zh-TW" altLang="en-US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n_BB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/</a:t>
            </a:r>
            <a:r>
              <a:rPr lang="zh-TW" altLang="en-US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n_NC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: 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1D30EDF-3524-426A-8FEB-62F20B4AE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509" y="2541869"/>
            <a:ext cx="2149196" cy="132784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257222D-2218-B71A-8CEB-80E30FAD4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438" y="2554823"/>
            <a:ext cx="1570278" cy="146290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E896D7-7DC9-A5EB-D8F5-11F1D6EFCB3F}"/>
              </a:ext>
            </a:extLst>
          </p:cNvPr>
          <p:cNvSpPr txBox="1"/>
          <p:nvPr/>
        </p:nvSpPr>
        <p:spPr>
          <a:xfrm>
            <a:off x="12297747" y="2534712"/>
            <a:ext cx="54323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有進一步去看欄位順序 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表示</a:t>
            </a:r>
            <a:r>
              <a:rPr lang="zh-TW" altLang="zh-TW" b="1" dirty="0">
                <a:solidFill>
                  <a:schemeClr val="accent5">
                    <a:lumMod val="50000"/>
                  </a:schemeClr>
                </a:solidFill>
              </a:rPr>
              <a:t>問題不是欄名順序錯誤，而是部分資料列的內容向左位移</a:t>
            </a:r>
            <a:r>
              <a:rPr lang="zh-TW" altLang="en-US" b="1" dirty="0">
                <a:solidFill>
                  <a:schemeClr val="accent5">
                    <a:lumMod val="50000"/>
                  </a:schemeClr>
                </a:solidFill>
              </a:rPr>
              <a:t> 但因為這不影響後續上色步驟所以先擱置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6D33D67-0FB9-CF6F-E5A0-4152C5EEA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741" y="5511392"/>
            <a:ext cx="4465394" cy="70210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23A891F9-734E-DD2D-1E0D-84D74B78EABB}"/>
              </a:ext>
            </a:extLst>
          </p:cNvPr>
          <p:cNvSpPr txBox="1"/>
          <p:nvPr/>
        </p:nvSpPr>
        <p:spPr>
          <a:xfrm>
            <a:off x="12297747" y="4544707"/>
            <a:ext cx="61598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最低的 SNP call rate 是 95%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至少 75% 的 SNP，call rate 都是 100%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中位數是 100%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平均約 99.9%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整體 SNP calling 品質非常高 </a:t>
            </a:r>
          </a:p>
          <a:p>
            <a:pPr>
              <a:buNone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也就是說：</a:t>
            </a:r>
          </a:p>
          <a:p>
            <a:pPr>
              <a:buNone/>
            </a:pPr>
            <a:r>
              <a:rPr lang="zh-TW" altLang="zh-TW" sz="1200" dirty="0">
                <a:solidFill>
                  <a:schemeClr val="accent5">
                    <a:lumMod val="50000"/>
                  </a:schemeClr>
                </a:solidFill>
              </a:rPr>
              <a:t>大部分 SNP 在原始 batch 中幾乎所有樣本都成功被判定 genotype。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F105F54-AF8F-7BAB-8846-3E4D339E2BDD}"/>
              </a:ext>
            </a:extLst>
          </p:cNvPr>
          <p:cNvSpPr txBox="1"/>
          <p:nvPr/>
        </p:nvSpPr>
        <p:spPr>
          <a:xfrm>
            <a:off x="1940646" y="4544707"/>
            <a:ext cx="8591500" cy="79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Batch-level SNP call rate ranged from 95% to 100%, with a median of 100% and a mean of 99.9%, indicating generally high genotype calling completeness across SNPs.</a:t>
            </a:r>
            <a:endParaRPr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E2DC24D-4DE1-C420-8CCA-E03BF7FB1F72}"/>
              </a:ext>
            </a:extLst>
          </p:cNvPr>
          <p:cNvSpPr txBox="1"/>
          <p:nvPr/>
        </p:nvSpPr>
        <p:spPr>
          <a:xfrm>
            <a:off x="12245323" y="1974740"/>
            <a:ext cx="11988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時發現n_BB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/</a:t>
            </a:r>
            <a:r>
              <a:rPr lang="zh-TW" altLang="en-US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n_NC是文字型且有非純文字的註解 有可能是讀如文字檔案後格式跑掉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C83B43E-BAA2-35A6-C484-945955B59E3A}"/>
              </a:ext>
            </a:extLst>
          </p:cNvPr>
          <p:cNvSpPr txBox="1"/>
          <p:nvPr/>
        </p:nvSpPr>
        <p:spPr>
          <a:xfrm>
            <a:off x="2097608" y="1901506"/>
            <a:ext cx="9425573" cy="79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S</a:t>
            </a: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ome annotation values had shifted into the genotype-count columns, rather than indicating an error in the column names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.</a:t>
            </a:r>
            <a:endParaRPr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90B284E-1F5B-ABF5-2802-69B111FEDE98}"/>
              </a:ext>
            </a:extLst>
          </p:cNvPr>
          <p:cNvSpPr txBox="1"/>
          <p:nvPr/>
        </p:nvSpPr>
        <p:spPr>
          <a:xfrm>
            <a:off x="12297747" y="4025295"/>
            <a:ext cx="1211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tx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檢查</a:t>
            </a:r>
            <a:r>
              <a:rPr lang="zh-TW" altLang="zh-TW" sz="1600" dirty="0"/>
              <a:t> CR 分布</a:t>
            </a:r>
            <a:r>
              <a:rPr lang="en-US" altLang="zh-TW" sz="1600" dirty="0"/>
              <a:t>(</a:t>
            </a:r>
            <a:r>
              <a:rPr lang="zh-TW" altLang="zh-TW" sz="1600" dirty="0"/>
              <a:t>CR 是每個 SNP 在原始 calling batch 中的 call rate，這裡看起來是用百分比表示，不是 0–1</a:t>
            </a:r>
            <a:r>
              <a:rPr lang="en-US" altLang="zh-TW" sz="1600" dirty="0"/>
              <a:t>)</a:t>
            </a:r>
            <a:r>
              <a:rPr lang="en-US" altLang="zh-TW" sz="1600" dirty="0">
                <a:solidFill>
                  <a:schemeClr val="tx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: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3561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5175-5FBB-3270-A53E-94398CD0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0449A67-3E64-8CD8-00F0-FA57B826C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723392"/>
              </p:ext>
            </p:extLst>
          </p:nvPr>
        </p:nvGraphicFramePr>
        <p:xfrm>
          <a:off x="723704" y="1216248"/>
          <a:ext cx="11025384" cy="3036776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1046940">
                  <a:extLst>
                    <a:ext uri="{9D8B030D-6E8A-4147-A177-3AD203B41FA5}">
                      <a16:colId xmlns:a16="http://schemas.microsoft.com/office/drawing/2014/main" val="2748013699"/>
                    </a:ext>
                  </a:extLst>
                </a:gridCol>
                <a:gridCol w="9978444">
                  <a:extLst>
                    <a:ext uri="{9D8B030D-6E8A-4147-A177-3AD203B41FA5}">
                      <a16:colId xmlns:a16="http://schemas.microsoft.com/office/drawing/2014/main" val="2353462506"/>
                    </a:ext>
                  </a:extLst>
                </a:gridCol>
              </a:tblGrid>
              <a:tr h="1863128">
                <a:tc rowSpan="3">
                  <a:txBody>
                    <a:bodyPr/>
                    <a:lstStyle/>
                    <a:p>
                      <a:pPr algn="ctr"/>
                      <a:r>
                        <a:rPr lang="en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step</a:t>
                      </a:r>
                      <a:r>
                        <a:rPr lang="en-US" altLang="zh-TW" sz="1600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2</a:t>
                      </a:r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g. Examine </a:t>
                      </a:r>
                      <a:r>
                        <a:rPr lang="en" altLang="zh-TW" sz="1600" b="1" dirty="0" err="1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conversionType</a:t>
                      </a: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: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66618"/>
                  </a:ext>
                </a:extLst>
              </a:tr>
              <a:tr h="593407">
                <a:tc vMerge="1">
                  <a:txBody>
                    <a:bodyPr/>
                    <a:lstStyle/>
                    <a:p>
                      <a:pPr algn="ctr"/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h. Examine </a:t>
                      </a:r>
                      <a:r>
                        <a:rPr lang="zh-TW" altLang="en-US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 </a:t>
                      </a:r>
                      <a:r>
                        <a:rPr lang="en" altLang="zh-TW" sz="1600" b="1" dirty="0" err="1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BestProbeset</a:t>
                      </a:r>
                      <a:r>
                        <a:rPr lang="en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 </a:t>
                      </a:r>
                      <a:r>
                        <a:rPr lang="en-US" altLang="zh-TW" sz="1600" b="1" dirty="0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and </a:t>
                      </a:r>
                      <a:r>
                        <a:rPr lang="en" altLang="zh-TW" sz="1600" b="1" dirty="0" err="1"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BestandRecommended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703655"/>
                  </a:ext>
                </a:extLst>
              </a:tr>
              <a:tr h="580241">
                <a:tc vMerge="1">
                  <a:txBody>
                    <a:bodyPr/>
                    <a:lstStyle/>
                    <a:p>
                      <a:pPr algn="ctr"/>
                      <a:endParaRPr lang="en" altLang="zh-TW" sz="1600" dirty="0"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5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dirty="0" err="1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i</a:t>
                      </a: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.  Examine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 </a:t>
                      </a: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FLD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、</a:t>
                      </a:r>
                      <a:r>
                        <a:rPr lang="en-US" altLang="zh-TW" sz="1600" b="1" dirty="0" err="1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HomFLD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、</a:t>
                      </a:r>
                      <a:r>
                        <a:rPr lang="en-US" altLang="zh-TW" sz="1600" b="1" dirty="0" err="1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HetSO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、</a:t>
                      </a:r>
                      <a:r>
                        <a:rPr lang="en-US" altLang="zh-TW" sz="1600" b="1" dirty="0" err="1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HomRO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63703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34E2DF1-A759-2690-4A27-EAD355EB5B90}"/>
              </a:ext>
            </a:extLst>
          </p:cNvPr>
          <p:cNvSpPr txBox="1"/>
          <p:nvPr/>
        </p:nvSpPr>
        <p:spPr>
          <a:xfrm>
            <a:off x="442912" y="539750"/>
            <a:ext cx="6918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 workflow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68A1D9C-3FFA-13BD-0FB0-96F7C67A3E42}"/>
              </a:ext>
            </a:extLst>
          </p:cNvPr>
          <p:cNvSpPr txBox="1"/>
          <p:nvPr/>
        </p:nvSpPr>
        <p:spPr>
          <a:xfrm>
            <a:off x="4311891" y="1149012"/>
            <a:ext cx="6098058" cy="190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PolyHighResolution 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NoMinorHom 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MonoHighResolution 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CallRateBelowThreshold 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itchFamily="2" charset="2"/>
              <a:buAutoNum type="circleNumWdWhitePlain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Other</a:t>
            </a:r>
            <a:endParaRPr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53FBDCA-C7CC-5B30-9B2A-6B9F83910B16}"/>
              </a:ext>
            </a:extLst>
          </p:cNvPr>
          <p:cNvSpPr txBox="1"/>
          <p:nvPr/>
        </p:nvSpPr>
        <p:spPr>
          <a:xfrm>
            <a:off x="723704" y="4498635"/>
            <a:ext cx="9843415" cy="79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zh-TW" altLang="zh-TW" sz="1600" b="1" dirty="0">
                <a:solidFill>
                  <a:srgbClr val="C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Data-format issue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    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Some batch-level columns appear to be shifted during data import.</a:t>
            </a:r>
          </a:p>
        </p:txBody>
      </p:sp>
    </p:spTree>
    <p:extLst>
      <p:ext uri="{BB962C8B-B14F-4D97-AF65-F5344CB8AC3E}">
        <p14:creationId xmlns:p14="http://schemas.microsoft.com/office/powerpoint/2010/main" val="3700676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E15AA442-7748-F3FA-9285-8BE8925D5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2C8C92F2-64ED-E730-2C39-C377689665C5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CBFD9578-7EAE-A424-A723-DDCEC23A303A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88F190E0-31B6-AE50-E6FC-A4814E67207C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EACEADFC-4F9F-228F-15ED-19726B8ACE34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10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5" name="Google Shape;230;p20">
            <a:extLst>
              <a:ext uri="{FF2B5EF4-FFF2-40B4-BE49-F238E27FC236}">
                <a16:creationId xmlns:a16="http://schemas.microsoft.com/office/drawing/2014/main" id="{F6A88DCF-4995-4AAB-FB87-3455AC1110FF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" name="Google Shape;231;p20">
            <a:extLst>
              <a:ext uri="{FF2B5EF4-FFF2-40B4-BE49-F238E27FC236}">
                <a16:creationId xmlns:a16="http://schemas.microsoft.com/office/drawing/2014/main" id="{2E50CDCC-0BF1-65DD-739E-18ED99AF79FD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Future  work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8D6E128-B0D3-226C-5A2F-A892432F9267}"/>
              </a:ext>
            </a:extLst>
          </p:cNvPr>
          <p:cNvSpPr txBox="1"/>
          <p:nvPr/>
        </p:nvSpPr>
        <p:spPr>
          <a:xfrm>
            <a:off x="468122" y="1186300"/>
            <a:ext cx="5431233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Quality control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" altLang="zh-TW" sz="1800" b="1" dirty="0">
              <a:solidFill>
                <a:schemeClr val="tx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C182D675-6729-F3CC-EEA6-04EB41EE13DB}"/>
              </a:ext>
            </a:extLst>
          </p:cNvPr>
          <p:cNvGraphicFramePr>
            <a:graphicFrameLocks noGrp="1"/>
          </p:cNvGraphicFramePr>
          <p:nvPr/>
        </p:nvGraphicFramePr>
        <p:xfrm>
          <a:off x="4592105" y="1689941"/>
          <a:ext cx="2752843" cy="1977307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2752843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767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5796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698673F3-EA3E-6735-146B-5701D5BC6E21}"/>
              </a:ext>
            </a:extLst>
          </p:cNvPr>
          <p:cNvSpPr txBox="1"/>
          <p:nvPr/>
        </p:nvSpPr>
        <p:spPr>
          <a:xfrm>
            <a:off x="5158244" y="1634200"/>
            <a:ext cx="1718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>
                    <a:alpha val="28901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Quality control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D864807-8C9E-64C7-C4E8-EAEEB844FEE7}"/>
              </a:ext>
            </a:extLst>
          </p:cNvPr>
          <p:cNvSpPr txBox="1"/>
          <p:nvPr/>
        </p:nvSpPr>
        <p:spPr>
          <a:xfrm>
            <a:off x="4776894" y="2543635"/>
            <a:ext cx="24291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solidFill>
                  <a:schemeClr val="accent5">
                    <a:lumMod val="50000"/>
                    <a:alpha val="28901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call rate / missing rate, Heterozygosity, LD, MAF, HWE, PCA </a:t>
            </a:r>
            <a:endParaRPr lang="zh-TW" altLang="en-US" sz="1600" dirty="0">
              <a:solidFill>
                <a:schemeClr val="accent5">
                  <a:lumMod val="50000"/>
                  <a:alpha val="28901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CCE5377-1625-E3FC-B606-47248204AE42}"/>
              </a:ext>
            </a:extLst>
          </p:cNvPr>
          <p:cNvGraphicFramePr>
            <a:graphicFrameLocks noGrp="1"/>
          </p:cNvGraphicFramePr>
          <p:nvPr/>
        </p:nvGraphicFramePr>
        <p:xfrm>
          <a:off x="7707301" y="1698700"/>
          <a:ext cx="4041787" cy="1977307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4041787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767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5796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616BEDB3-887E-9519-9867-53B104F33F1E}"/>
              </a:ext>
            </a:extLst>
          </p:cNvPr>
          <p:cNvGraphicFramePr>
            <a:graphicFrameLocks noGrp="1"/>
          </p:cNvGraphicFramePr>
          <p:nvPr/>
        </p:nvGraphicFramePr>
        <p:xfrm>
          <a:off x="444676" y="1689941"/>
          <a:ext cx="3686990" cy="2365176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3686990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39300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197217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026B9A09-8767-2843-D6B6-39DED32FCCB5}"/>
              </a:ext>
            </a:extLst>
          </p:cNvPr>
          <p:cNvSpPr txBox="1"/>
          <p:nvPr/>
        </p:nvSpPr>
        <p:spPr>
          <a:xfrm>
            <a:off x="962120" y="1638591"/>
            <a:ext cx="27659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lnSpc>
                <a:spcPct val="150000"/>
              </a:lnSpc>
              <a:buSzPts val="1800"/>
            </a:pPr>
            <a:r>
              <a:rPr lang="en" altLang="zh-TW" sz="1600" b="1" dirty="0">
                <a:solidFill>
                  <a:schemeClr val="tx1"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Raw data- genotype calling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1CF80F2-F54E-6163-0882-504E891F5F5A}"/>
              </a:ext>
            </a:extLst>
          </p:cNvPr>
          <p:cNvSpPr txBox="1"/>
          <p:nvPr/>
        </p:nvSpPr>
        <p:spPr>
          <a:xfrm>
            <a:off x="561897" y="3341969"/>
            <a:ext cx="2627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100000"/>
              <a:buFont typeface="+mj-lt"/>
              <a:buAutoNum type="arabicPeriod"/>
            </a:pP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SNP microarray</a:t>
            </a: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(.cel)</a:t>
            </a:r>
          </a:p>
          <a:p>
            <a:pPr marL="457200" indent="-342900">
              <a:buClr>
                <a:schemeClr val="accent5">
                  <a:lumMod val="50000"/>
                </a:schemeClr>
              </a:buClr>
              <a:buSzPct val="100000"/>
              <a:buFont typeface="+mj-lt"/>
              <a:buAutoNum type="arabicPeriod"/>
            </a:pP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Sample-level</a:t>
            </a:r>
            <a:r>
              <a:rPr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(.lib)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D454C86-6CC9-A198-88FC-BFC0AEF85643}"/>
              </a:ext>
            </a:extLst>
          </p:cNvPr>
          <p:cNvSpPr txBox="1"/>
          <p:nvPr/>
        </p:nvSpPr>
        <p:spPr>
          <a:xfrm>
            <a:off x="8868702" y="1652533"/>
            <a:ext cx="1718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DNA-to-image</a:t>
            </a:r>
          </a:p>
        </p:txBody>
      </p:sp>
      <p:sp>
        <p:nvSpPr>
          <p:cNvPr id="31" name="向右箭號 30">
            <a:extLst>
              <a:ext uri="{FF2B5EF4-FFF2-40B4-BE49-F238E27FC236}">
                <a16:creationId xmlns:a16="http://schemas.microsoft.com/office/drawing/2014/main" id="{4549EC33-588C-4175-7F5F-1E8E38EB0D9F}"/>
              </a:ext>
            </a:extLst>
          </p:cNvPr>
          <p:cNvSpPr/>
          <p:nvPr/>
        </p:nvSpPr>
        <p:spPr>
          <a:xfrm>
            <a:off x="4195750" y="1815917"/>
            <a:ext cx="563683" cy="388568"/>
          </a:xfrm>
          <a:prstGeom prst="rightArrow">
            <a:avLst/>
          </a:prstGeom>
          <a:solidFill>
            <a:schemeClr val="bg2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向右箭號 31">
            <a:extLst>
              <a:ext uri="{FF2B5EF4-FFF2-40B4-BE49-F238E27FC236}">
                <a16:creationId xmlns:a16="http://schemas.microsoft.com/office/drawing/2014/main" id="{735DBFF9-B6BA-020A-74D2-A52D5B0AFCB7}"/>
              </a:ext>
            </a:extLst>
          </p:cNvPr>
          <p:cNvSpPr/>
          <p:nvPr/>
        </p:nvSpPr>
        <p:spPr>
          <a:xfrm>
            <a:off x="7272528" y="1815917"/>
            <a:ext cx="563683" cy="38856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lt1">
                  <a:alpha val="28932"/>
                </a:schemeClr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10069AA-B09D-C162-198D-7BE20C822EA1}"/>
              </a:ext>
            </a:extLst>
          </p:cNvPr>
          <p:cNvSpPr txBox="1"/>
          <p:nvPr/>
        </p:nvSpPr>
        <p:spPr>
          <a:xfrm>
            <a:off x="707571" y="5243911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b="1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C5EEF9B4-7240-8EA6-27EE-4328DE257FC5}"/>
              </a:ext>
            </a:extLst>
          </p:cNvPr>
          <p:cNvSpPr txBox="1"/>
          <p:nvPr/>
        </p:nvSpPr>
        <p:spPr>
          <a:xfrm>
            <a:off x="428353" y="2025573"/>
            <a:ext cx="3801400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1600" b="1" dirty="0">
                <a:solidFill>
                  <a:schemeClr val="tx1">
                    <a:alpha val="28932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| Purpose : </a:t>
            </a:r>
          </a:p>
          <a:p>
            <a:pPr>
              <a:lnSpc>
                <a:spcPct val="150000"/>
              </a:lnSpc>
            </a:pPr>
            <a:r>
              <a:rPr kumimoji="1" lang="en" altLang="zh-TW" sz="1600" dirty="0">
                <a:solidFill>
                  <a:schemeClr val="accent5">
                    <a:lumMod val="50000"/>
                    <a:alpha val="28932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convert SNP array(intensity signals) into a genotype matrix.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42BBF258-5718-E9EF-69A3-4C94E086B591}"/>
              </a:ext>
            </a:extLst>
          </p:cNvPr>
          <p:cNvSpPr txBox="1"/>
          <p:nvPr/>
        </p:nvSpPr>
        <p:spPr>
          <a:xfrm>
            <a:off x="7734127" y="2290676"/>
            <a:ext cx="39881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Genotype encoding: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Missing value encoding:</a:t>
            </a:r>
          </a:p>
          <a:p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      impute missing = [0,0,0,0]</a:t>
            </a:r>
          </a:p>
          <a:p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      Add fifth channel for 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missing channel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652FBC5-F00A-7FCE-EFDB-2AD195D7D691}"/>
              </a:ext>
            </a:extLst>
          </p:cNvPr>
          <p:cNvSpPr txBox="1"/>
          <p:nvPr/>
        </p:nvSpPr>
        <p:spPr>
          <a:xfrm>
            <a:off x="442912" y="3078286"/>
            <a:ext cx="2424980" cy="42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1600" b="1" dirty="0">
                <a:solidFill>
                  <a:schemeClr val="tx1">
                    <a:alpha val="28932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| Data  : </a:t>
            </a:r>
          </a:p>
        </p:txBody>
      </p:sp>
    </p:spTree>
    <p:extLst>
      <p:ext uri="{BB962C8B-B14F-4D97-AF65-F5344CB8AC3E}">
        <p14:creationId xmlns:p14="http://schemas.microsoft.com/office/powerpoint/2010/main" val="2905002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71BCA9-DEB3-410E-2C85-101C5FE0A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A3EE9828-106D-DA93-4FF9-DB280ADAC4A5}"/>
              </a:ext>
            </a:extLst>
          </p:cNvPr>
          <p:cNvSpPr txBox="1"/>
          <p:nvPr/>
        </p:nvSpPr>
        <p:spPr>
          <a:xfrm>
            <a:off x="261783" y="3203309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Step 4：依基因組位置排序 SNP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A5DB654-B57D-424B-A8F6-80FCD99EE5AB}"/>
              </a:ext>
            </a:extLst>
          </p:cNvPr>
          <p:cNvSpPr txBox="1"/>
          <p:nvPr/>
        </p:nvSpPr>
        <p:spPr>
          <a:xfrm>
            <a:off x="1072945" y="3511086"/>
            <a:ext cx="60984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讓相鄰 pixel 對應相鄰的基因組位置</a:t>
            </a:r>
            <a:endParaRPr lang="en-US" altLang="zh-TW" dirty="0"/>
          </a:p>
          <a:p>
            <a:r>
              <a:rPr lang="zh-TW" altLang="en-US" dirty="0"/>
              <a:t>考慮</a:t>
            </a:r>
            <a:r>
              <a:rPr lang="en-US" altLang="zh-TW" dirty="0" err="1"/>
              <a:t>centimogan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18B721-90E1-BF6C-78DA-127951C9DE59}"/>
              </a:ext>
            </a:extLst>
          </p:cNvPr>
          <p:cNvSpPr txBox="1"/>
          <p:nvPr/>
        </p:nvSpPr>
        <p:spPr>
          <a:xfrm>
            <a:off x="261783" y="4557527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Step 5：選擇保留的 SNP</a:t>
            </a:r>
            <a:r>
              <a:rPr lang="en-US" altLang="zh-TW" dirty="0"/>
              <a:t>(</a:t>
            </a:r>
            <a:r>
              <a:rPr lang="zh-TW" altLang="en-US" dirty="0"/>
              <a:t>影像大小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C4E8968-2E6A-A4CB-08A1-D90267A011EB}"/>
              </a:ext>
            </a:extLst>
          </p:cNvPr>
          <p:cNvSpPr txBox="1"/>
          <p:nvPr/>
        </p:nvSpPr>
        <p:spPr>
          <a:xfrm>
            <a:off x="261783" y="5639701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Step 6：把一維 SNP 序列排列成二維矩陣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2FFD869-23D5-F94C-5714-3C99A5659C96}"/>
              </a:ext>
            </a:extLst>
          </p:cNvPr>
          <p:cNvSpPr txBox="1"/>
          <p:nvPr/>
        </p:nvSpPr>
        <p:spPr>
          <a:xfrm>
            <a:off x="261783" y="2218423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Step 3：決定 genotype </a:t>
            </a:r>
            <a:r>
              <a:rPr lang="zh-TW" altLang="en-US" dirty="0"/>
              <a:t> </a:t>
            </a:r>
            <a:r>
              <a:rPr lang="en-US" altLang="zh-TW" dirty="0"/>
              <a:t>encoding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43639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F252A32-BB73-646C-23CE-FEF9CEF85BC2}"/>
              </a:ext>
            </a:extLst>
          </p:cNvPr>
          <p:cNvSpPr txBox="1"/>
          <p:nvPr/>
        </p:nvSpPr>
        <p:spPr>
          <a:xfrm>
            <a:off x="247035" y="539750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Step 7：將 genotype matrix 轉成 RGB colour image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549537F-2CBD-C07A-C103-F75F1DCC5E3C}"/>
              </a:ext>
            </a:extLst>
          </p:cNvPr>
          <p:cNvSpPr txBox="1"/>
          <p:nvPr/>
        </p:nvSpPr>
        <p:spPr>
          <a:xfrm>
            <a:off x="247035" y="2493447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Step 8：驗證影像是否正確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8142BF-8DD6-358F-F058-F87DDC722CF9}"/>
              </a:ext>
            </a:extLst>
          </p:cNvPr>
          <p:cNvSpPr txBox="1"/>
          <p:nvPr/>
        </p:nvSpPr>
        <p:spPr>
          <a:xfrm>
            <a:off x="247035" y="4447144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Step 10：切分 training、validation、testing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4993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E5879E2-DA14-6B90-E49B-C67A0D03862F}"/>
              </a:ext>
            </a:extLst>
          </p:cNvPr>
          <p:cNvSpPr txBox="1"/>
          <p:nvPr/>
        </p:nvSpPr>
        <p:spPr>
          <a:xfrm>
            <a:off x="6096000" y="961257"/>
            <a:ext cx="713208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TW" altLang="en-US" dirty="0"/>
              <a:t>先桌面新增資料夾把</a:t>
            </a:r>
            <a:r>
              <a:rPr kumimoji="1" lang="en-US" altLang="zh-TW" dirty="0"/>
              <a:t>.cel .lib </a:t>
            </a:r>
            <a:r>
              <a:rPr kumimoji="1" lang="zh-TW" altLang="en-US" dirty="0"/>
              <a:t>等會使用且後續</a:t>
            </a:r>
            <a:r>
              <a:rPr kumimoji="1" lang="en-US" altLang="zh-TW" dirty="0"/>
              <a:t>output</a:t>
            </a:r>
            <a:r>
              <a:rPr kumimoji="1" lang="zh-TW" altLang="en-US" dirty="0"/>
              <a:t>的檔案都放在這</a:t>
            </a: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TW" dirty="0"/>
              <a:t>Install :APT(Affymetrix Power Tools/analysis power tools)</a:t>
            </a:r>
            <a:r>
              <a:rPr kumimoji="1" lang="zh-TW" altLang="en-US" dirty="0"/>
              <a:t>用來分析</a:t>
            </a:r>
            <a:r>
              <a:rPr kumimoji="1" lang="en-US" altLang="zh-TW" dirty="0"/>
              <a:t>Affymetrix arrays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TW" altLang="en-US" dirty="0"/>
              <a:t>在</a:t>
            </a:r>
            <a:r>
              <a:rPr kumimoji="1" lang="en-US" altLang="zh-TW" dirty="0" err="1"/>
              <a:t>cmd</a:t>
            </a:r>
            <a:r>
              <a:rPr kumimoji="1" lang="zh-TW" altLang="en-US" dirty="0"/>
              <a:t>中進行</a:t>
            </a:r>
            <a:r>
              <a:rPr kumimoji="1" lang="en-US" altLang="zh-TW" dirty="0"/>
              <a:t>genotype calling(AA/AB/BB</a:t>
            </a:r>
            <a:r>
              <a:rPr kumimoji="1" lang="zh-TW" altLang="en-US" dirty="0"/>
              <a:t>的形式</a:t>
            </a:r>
            <a:r>
              <a:rPr kumimoji="1" lang="en-US" altLang="zh-TW" dirty="0"/>
              <a:t>):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r>
              <a:rPr kumimoji="1" lang="zh-TW" altLang="en-US" dirty="0"/>
              <a:t>轉換成</a:t>
            </a:r>
            <a:r>
              <a:rPr kumimoji="1" lang="en-US" altLang="zh-TW" dirty="0"/>
              <a:t>genotype matrix(0/1/2</a:t>
            </a:r>
            <a:r>
              <a:rPr kumimoji="1" lang="zh-TW" altLang="en-US" dirty="0"/>
              <a:t>的形式</a:t>
            </a:r>
            <a:r>
              <a:rPr kumimoji="1" lang="en-US" altLang="zh-TW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r>
              <a:rPr kumimoji="1" lang="zh-TW" altLang="en-US" dirty="0"/>
              <a:t>在轉換成</a:t>
            </a:r>
            <a:r>
              <a:rPr kumimoji="1" lang="en-US" altLang="zh-TW" dirty="0"/>
              <a:t>image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DB714D-F2D1-9456-9B64-87CCB175747E}"/>
              </a:ext>
            </a:extLst>
          </p:cNvPr>
          <p:cNvSpPr txBox="1"/>
          <p:nvPr/>
        </p:nvSpPr>
        <p:spPr>
          <a:xfrm>
            <a:off x="6444967" y="1715309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需要</a:t>
            </a:r>
            <a:r>
              <a:rPr kumimoji="1" lang="en-US" altLang="zh-TW" dirty="0"/>
              <a:t>.cel .lib</a:t>
            </a:r>
            <a:r>
              <a:rPr kumimoji="1" lang="zh-TW" altLang="en-US" dirty="0"/>
              <a:t>檔案才能完成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9D9FE0E-7752-FCF7-5FEA-D6DE987A56EF}"/>
              </a:ext>
            </a:extLst>
          </p:cNvPr>
          <p:cNvSpPr txBox="1"/>
          <p:nvPr/>
        </p:nvSpPr>
        <p:spPr>
          <a:xfrm>
            <a:off x="669663" y="1385926"/>
            <a:ext cx="352532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目的：把晶片上的螢光強度轉成基因型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需要檔案</a:t>
            </a: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TW" dirty="0" err="1"/>
              <a:t>snp</a:t>
            </a:r>
            <a:r>
              <a:rPr kumimoji="1" lang="en-US" altLang="zh-TW" dirty="0"/>
              <a:t> array(.cel</a:t>
            </a:r>
            <a:r>
              <a:rPr kumimoji="1" lang="zh-TW" altLang="en-US" dirty="0"/>
              <a:t>檔</a:t>
            </a:r>
            <a:r>
              <a:rPr kumimoji="1" lang="en-US" altLang="zh-TW" dirty="0"/>
              <a:t>)</a:t>
            </a:r>
            <a:r>
              <a:rPr kumimoji="1" lang="zh-TW" altLang="en-US" dirty="0"/>
              <a:t>：</a:t>
            </a: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TW" dirty="0">
                <a:solidFill>
                  <a:schemeClr val="accent2">
                    <a:lumMod val="75000"/>
                  </a:schemeClr>
                </a:solidFill>
              </a:rPr>
              <a:t>Axiom library(.lib</a:t>
            </a:r>
            <a:r>
              <a:rPr kumimoji="1" lang="zh-TW" altLang="en-US" dirty="0">
                <a:solidFill>
                  <a:schemeClr val="accent2">
                    <a:lumMod val="75000"/>
                  </a:schemeClr>
                </a:solidFill>
              </a:rPr>
              <a:t>檔</a:t>
            </a:r>
            <a:r>
              <a:rPr kumimoji="1" lang="en-US" altLang="zh-TW" dirty="0">
                <a:solidFill>
                  <a:schemeClr val="accent2">
                    <a:lumMod val="75000"/>
                  </a:schemeClr>
                </a:solidFill>
              </a:rPr>
              <a:t>)-&gt;</a:t>
            </a:r>
            <a:r>
              <a:rPr kumimoji="1" lang="zh-TW" altLang="en-US" dirty="0">
                <a:solidFill>
                  <a:schemeClr val="accent2">
                    <a:lumMod val="75000"/>
                  </a:schemeClr>
                </a:solidFill>
              </a:rPr>
              <a:t>缺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0270D6B-6E75-7C3F-563B-29866207E9C9}"/>
              </a:ext>
            </a:extLst>
          </p:cNvPr>
          <p:cNvSpPr txBox="1"/>
          <p:nvPr/>
        </p:nvSpPr>
        <p:spPr>
          <a:xfrm>
            <a:off x="479425" y="450848"/>
            <a:ext cx="42899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dirty="0">
                <a:highlight>
                  <a:srgbClr val="E4FFEE"/>
                </a:highlight>
              </a:rPr>
              <a:t>Genotype calling</a:t>
            </a:r>
          </a:p>
          <a:p>
            <a:pPr algn="ctr"/>
            <a:r>
              <a:rPr kumimoji="1" lang="zh-TW" altLang="en-US" dirty="0">
                <a:highlight>
                  <a:srgbClr val="E4FFEE"/>
                </a:highlight>
              </a:rPr>
              <a:t>（生成</a:t>
            </a:r>
            <a:r>
              <a:rPr kumimoji="1" lang="en-US" altLang="zh-TW" dirty="0">
                <a:highlight>
                  <a:srgbClr val="E4FFEE"/>
                </a:highlight>
              </a:rPr>
              <a:t>genotype matrix</a:t>
            </a:r>
            <a:r>
              <a:rPr kumimoji="1" lang="zh-TW" altLang="en-US" dirty="0">
                <a:highlight>
                  <a:srgbClr val="E4FFEE"/>
                </a:highlight>
              </a:rPr>
              <a:t>）</a:t>
            </a:r>
            <a:endParaRPr kumimoji="1" lang="en-US" altLang="zh-TW" dirty="0">
              <a:highlight>
                <a:srgbClr val="E4FFEE"/>
              </a:highlight>
            </a:endParaRPr>
          </a:p>
          <a:p>
            <a:r>
              <a:rPr kumimoji="1" lang="en-US" altLang="zh-TW" sz="1200" dirty="0" err="1">
                <a:highlight>
                  <a:srgbClr val="E4FFEE"/>
                </a:highlight>
              </a:rPr>
              <a:t>Tool:axiom</a:t>
            </a:r>
            <a:r>
              <a:rPr kumimoji="1" lang="en-US" altLang="zh-TW" sz="1200" dirty="0">
                <a:highlight>
                  <a:srgbClr val="E4FFEE"/>
                </a:highlight>
              </a:rPr>
              <a:t> </a:t>
            </a:r>
            <a:r>
              <a:rPr kumimoji="1" lang="en-US" altLang="zh-TW" sz="1200" dirty="0" err="1">
                <a:highlight>
                  <a:srgbClr val="E4FFEE"/>
                </a:highlight>
              </a:rPr>
              <a:t>analyisi</a:t>
            </a:r>
            <a:r>
              <a:rPr kumimoji="1" lang="en-US" altLang="zh-TW" sz="1200" dirty="0">
                <a:highlight>
                  <a:srgbClr val="E4FFEE"/>
                </a:highlight>
              </a:rPr>
              <a:t> suite/ Affymetrix Power Tools (Windows)</a:t>
            </a:r>
            <a:endParaRPr kumimoji="1" lang="zh-TW" altLang="en-US" sz="1200" dirty="0">
              <a:highlight>
                <a:srgbClr val="E4FFEE"/>
              </a:highlight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9234B7-C016-0647-75A2-172EFDF0D288}"/>
              </a:ext>
            </a:extLst>
          </p:cNvPr>
          <p:cNvSpPr txBox="1"/>
          <p:nvPr/>
        </p:nvSpPr>
        <p:spPr>
          <a:xfrm>
            <a:off x="1013590" y="2263608"/>
            <a:ext cx="4188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solidFill>
                  <a:schemeClr val="bg2"/>
                </a:solidFill>
              </a:rPr>
              <a:t>Probe intensity:</a:t>
            </a:r>
            <a:r>
              <a:rPr kumimoji="1" lang="zh-TW" altLang="en-US" sz="1200" dirty="0">
                <a:solidFill>
                  <a:schemeClr val="bg2"/>
                </a:solidFill>
              </a:rPr>
              <a:t>代表某個</a:t>
            </a:r>
            <a:r>
              <a:rPr kumimoji="1" lang="en-US" altLang="zh-TW" sz="1200" dirty="0" err="1">
                <a:solidFill>
                  <a:schemeClr val="bg2"/>
                </a:solidFill>
              </a:rPr>
              <a:t>snp</a:t>
            </a:r>
            <a:r>
              <a:rPr kumimoji="1" lang="zh-TW" altLang="en-US" sz="1200" dirty="0">
                <a:solidFill>
                  <a:schemeClr val="bg2"/>
                </a:solidFill>
              </a:rPr>
              <a:t>的不同</a:t>
            </a:r>
            <a:r>
              <a:rPr kumimoji="1" lang="en-US" altLang="zh-TW" sz="1200" dirty="0">
                <a:solidFill>
                  <a:schemeClr val="bg2"/>
                </a:solidFill>
              </a:rPr>
              <a:t>allele</a:t>
            </a:r>
            <a:r>
              <a:rPr kumimoji="1" lang="zh-TW" altLang="en-US" sz="1200" dirty="0">
                <a:solidFill>
                  <a:schemeClr val="bg2"/>
                </a:solidFill>
              </a:rPr>
              <a:t>的強弱</a:t>
            </a:r>
            <a:endParaRPr kumimoji="1" lang="en-US" altLang="zh-TW" sz="1200" dirty="0">
              <a:solidFill>
                <a:schemeClr val="bg2"/>
              </a:solidFill>
            </a:endParaRPr>
          </a:p>
          <a:p>
            <a:r>
              <a:rPr kumimoji="1" lang="zh-TW" altLang="en-US" sz="1200" dirty="0">
                <a:solidFill>
                  <a:schemeClr val="bg2"/>
                </a:solidFill>
              </a:rPr>
              <a:t>（如果</a:t>
            </a:r>
            <a:r>
              <a:rPr kumimoji="1" lang="en-US" altLang="zh-TW" sz="1200" dirty="0">
                <a:solidFill>
                  <a:schemeClr val="bg2"/>
                </a:solidFill>
              </a:rPr>
              <a:t>signal </a:t>
            </a:r>
            <a:r>
              <a:rPr kumimoji="1" lang="en-US" altLang="zh-TW" sz="1200" dirty="0" err="1">
                <a:solidFill>
                  <a:schemeClr val="bg2"/>
                </a:solidFill>
              </a:rPr>
              <a:t>pattern:a</a:t>
            </a:r>
            <a:r>
              <a:rPr kumimoji="1" lang="en-US" altLang="zh-TW" sz="1200" dirty="0">
                <a:solidFill>
                  <a:schemeClr val="bg2"/>
                </a:solidFill>
              </a:rPr>
              <a:t> </a:t>
            </a:r>
            <a:r>
              <a:rPr kumimoji="1" lang="en-US" altLang="zh-TW" sz="1200" dirty="0" err="1">
                <a:solidFill>
                  <a:schemeClr val="bg2"/>
                </a:solidFill>
              </a:rPr>
              <a:t>llele</a:t>
            </a:r>
            <a:r>
              <a:rPr kumimoji="1" lang="zh-TW" altLang="en-US" sz="1200" dirty="0">
                <a:solidFill>
                  <a:schemeClr val="bg2"/>
                </a:solidFill>
              </a:rPr>
              <a:t>訊號強 </a:t>
            </a:r>
            <a:r>
              <a:rPr kumimoji="1" lang="en-US" altLang="zh-TW" sz="1200" dirty="0">
                <a:solidFill>
                  <a:schemeClr val="bg2"/>
                </a:solidFill>
              </a:rPr>
              <a:t>-&gt; genotype </a:t>
            </a:r>
            <a:r>
              <a:rPr kumimoji="1" lang="en-US" altLang="zh-TW" sz="1200" dirty="0" err="1">
                <a:solidFill>
                  <a:schemeClr val="bg2"/>
                </a:solidFill>
              </a:rPr>
              <a:t>call:AA</a:t>
            </a:r>
            <a:r>
              <a:rPr kumimoji="1" lang="en-US" altLang="zh-TW" sz="1200" dirty="0">
                <a:solidFill>
                  <a:schemeClr val="bg2"/>
                </a:solidFill>
              </a:rPr>
              <a:t> </a:t>
            </a:r>
            <a:r>
              <a:rPr kumimoji="1" lang="zh-TW" altLang="en-US" sz="1200" dirty="0">
                <a:solidFill>
                  <a:schemeClr val="bg2"/>
                </a:solidFill>
              </a:rPr>
              <a:t>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DF0913D-7C27-20DE-61A5-04B3E0B9C99B}"/>
              </a:ext>
            </a:extLst>
          </p:cNvPr>
          <p:cNvSpPr txBox="1"/>
          <p:nvPr/>
        </p:nvSpPr>
        <p:spPr>
          <a:xfrm>
            <a:off x="1013590" y="3201808"/>
            <a:ext cx="3437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200" dirty="0">
                <a:solidFill>
                  <a:schemeClr val="bg2"/>
                </a:solidFill>
              </a:rPr>
              <a:t>晶片中有哪些</a:t>
            </a:r>
            <a:r>
              <a:rPr kumimoji="1" lang="en-US" altLang="zh-TW" sz="1200" dirty="0" err="1">
                <a:solidFill>
                  <a:schemeClr val="bg2"/>
                </a:solidFill>
              </a:rPr>
              <a:t>snp</a:t>
            </a:r>
            <a:endParaRPr kumimoji="1" lang="en-US" altLang="zh-TW" sz="1200" dirty="0">
              <a:solidFill>
                <a:schemeClr val="bg2"/>
              </a:solidFill>
            </a:endParaRPr>
          </a:p>
          <a:p>
            <a:r>
              <a:rPr kumimoji="1" lang="zh-TW" altLang="en-US" sz="1200" dirty="0">
                <a:solidFill>
                  <a:schemeClr val="bg2"/>
                </a:solidFill>
              </a:rPr>
              <a:t>每個</a:t>
            </a:r>
            <a:r>
              <a:rPr kumimoji="1" lang="en-US" altLang="zh-TW" sz="1200" dirty="0">
                <a:solidFill>
                  <a:schemeClr val="bg2"/>
                </a:solidFill>
              </a:rPr>
              <a:t>probe</a:t>
            </a:r>
            <a:r>
              <a:rPr kumimoji="1" lang="zh-TW" altLang="en-US" sz="1200" dirty="0">
                <a:solidFill>
                  <a:schemeClr val="bg2"/>
                </a:solidFill>
              </a:rPr>
              <a:t>對應</a:t>
            </a:r>
            <a:r>
              <a:rPr kumimoji="1" lang="en-US" altLang="zh-TW" sz="1200" dirty="0" err="1">
                <a:solidFill>
                  <a:schemeClr val="bg2"/>
                </a:solidFill>
              </a:rPr>
              <a:t>snp</a:t>
            </a:r>
            <a:endParaRPr kumimoji="1" lang="en-US" altLang="zh-TW" sz="1200" dirty="0">
              <a:solidFill>
                <a:schemeClr val="bg2"/>
              </a:solidFill>
            </a:endParaRPr>
          </a:p>
          <a:p>
            <a:r>
              <a:rPr kumimoji="1" lang="en-US" altLang="zh-TW" sz="1200" dirty="0" err="1">
                <a:solidFill>
                  <a:schemeClr val="bg2"/>
                </a:solidFill>
              </a:rPr>
              <a:t>Snp</a:t>
            </a:r>
            <a:r>
              <a:rPr kumimoji="1" lang="en-US" altLang="zh-TW" sz="1200" dirty="0">
                <a:solidFill>
                  <a:schemeClr val="bg2"/>
                </a:solidFill>
              </a:rPr>
              <a:t> </a:t>
            </a:r>
            <a:r>
              <a:rPr kumimoji="1" lang="zh-TW" altLang="en-US" sz="1200" dirty="0">
                <a:solidFill>
                  <a:schemeClr val="bg2"/>
                </a:solidFill>
              </a:rPr>
              <a:t>的</a:t>
            </a:r>
            <a:r>
              <a:rPr kumimoji="1" lang="en-US" altLang="zh-TW" sz="1200" dirty="0">
                <a:solidFill>
                  <a:schemeClr val="bg2"/>
                </a:solidFill>
              </a:rPr>
              <a:t>position ,chromosome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CD5C6-D0B0-F301-DF4C-35333154BCB6}"/>
              </a:ext>
            </a:extLst>
          </p:cNvPr>
          <p:cNvSpPr txBox="1"/>
          <p:nvPr/>
        </p:nvSpPr>
        <p:spPr>
          <a:xfrm>
            <a:off x="6096000" y="53975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記錄詳細步驟</a:t>
            </a:r>
          </a:p>
        </p:txBody>
      </p:sp>
    </p:spTree>
    <p:extLst>
      <p:ext uri="{BB962C8B-B14F-4D97-AF65-F5344CB8AC3E}">
        <p14:creationId xmlns:p14="http://schemas.microsoft.com/office/powerpoint/2010/main" val="111352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E8430AE-43D3-678B-4540-8EB6C6AA4F70}"/>
              </a:ext>
            </a:extLst>
          </p:cNvPr>
          <p:cNvSpPr txBox="1"/>
          <p:nvPr/>
        </p:nvSpPr>
        <p:spPr>
          <a:xfrm>
            <a:off x="989116" y="219210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標準系統字體"/>
              <a:buChar char="✦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SNP array產生的raw file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buSzPct val="50000"/>
              <a:buFont typeface="標準系統字體"/>
              <a:buChar char="✦"/>
            </a:pPr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原始晶片訊號資料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9646AD6-6F22-0B56-B7E4-726DBBDFCDAA}"/>
              </a:ext>
            </a:extLst>
          </p:cNvPr>
          <p:cNvSpPr txBox="1"/>
          <p:nvPr/>
        </p:nvSpPr>
        <p:spPr>
          <a:xfrm>
            <a:off x="784050" y="4274913"/>
            <a:ext cx="90838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拿到的</a:t>
            </a:r>
            <a:r>
              <a:rPr kumimoji="1" lang="en-US" altLang="zh-TW" dirty="0"/>
              <a:t>data</a:t>
            </a:r>
            <a:r>
              <a:rPr kumimoji="1" lang="zh-TW" altLang="en-US" dirty="0"/>
              <a:t>是利用</a:t>
            </a:r>
            <a:r>
              <a:rPr lang="zh-TW" altLang="zh-TW" b="1" dirty="0"/>
              <a:t>oligo</a:t>
            </a:r>
            <a:r>
              <a:rPr lang="zh-TW" altLang="en-US" b="1" dirty="0"/>
              <a:t>語法讀入</a:t>
            </a:r>
            <a:endParaRPr lang="zh-TW" altLang="zh-TW" b="1" dirty="0"/>
          </a:p>
          <a:p>
            <a:r>
              <a:rPr lang="zh-TW" altLang="zh-TW" dirty="0"/>
              <a:t>比較常用在 </a:t>
            </a:r>
            <a:r>
              <a:rPr lang="zh-TW" altLang="zh-TW" b="1" dirty="0"/>
              <a:t>較新的 Affymetrix arrays</a:t>
            </a:r>
            <a:r>
              <a:rPr lang="zh-TW" altLang="zh-TW" dirty="0"/>
              <a:t>，尤其是：</a:t>
            </a:r>
          </a:p>
          <a:p>
            <a:r>
              <a:rPr lang="zh-TW" altLang="zh-TW" dirty="0"/>
              <a:t>Gene ST arrays </a:t>
            </a:r>
          </a:p>
          <a:p>
            <a:r>
              <a:rPr lang="zh-TW" altLang="zh-TW" dirty="0"/>
              <a:t>Exon ST arrays </a:t>
            </a:r>
          </a:p>
          <a:p>
            <a:r>
              <a:rPr lang="zh-TW" altLang="zh-TW" dirty="0"/>
              <a:t>SNP arrays</a:t>
            </a:r>
          </a:p>
          <a:p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496CDE-2B21-4F11-AC08-24C89AE68792}"/>
              </a:ext>
            </a:extLst>
          </p:cNvPr>
          <p:cNvSpPr txBox="1"/>
          <p:nvPr/>
        </p:nvSpPr>
        <p:spPr>
          <a:xfrm>
            <a:off x="7410065" y="3071214"/>
            <a:ext cx="6098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你的 CEL 檔已確認是 Axiom raw intensity file；R 直接讀失敗是合理的，下一步應該用 Axiom Analysis Suite 或 APT 做 genotype calling，產生 AA / AB / BB genotype matrix 後再做 GWAS、PRS 或 CNN 影像轉換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7DE2A6-81A9-B60B-F6A8-0ABABEB52F84}"/>
              </a:ext>
            </a:extLst>
          </p:cNvPr>
          <p:cNvSpPr txBox="1"/>
          <p:nvPr/>
        </p:nvSpPr>
        <p:spPr>
          <a:xfrm>
            <a:off x="7410065" y="4036045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CEL 是原始螢光訊號；你要先用 Axiom Analysis Suite 或 APT 把它轉成 genotype calls，才會得到後續分析真正需要的 SNP matrix。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B3992BE-4C75-CAA6-BAC0-9402619CFA12}"/>
              </a:ext>
            </a:extLst>
          </p:cNvPr>
          <p:cNvSpPr txBox="1"/>
          <p:nvPr/>
        </p:nvSpPr>
        <p:spPr>
          <a:xfrm>
            <a:off x="7412785" y="4937928"/>
            <a:ext cx="108354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Windows</a:t>
            </a:r>
            <a:r>
              <a:rPr lang="zh-TW" altLang="en-US" dirty="0"/>
              <a:t>系統才能處理 </a:t>
            </a:r>
            <a:r>
              <a:rPr lang="zh-TW" altLang="zh-TW" dirty="0"/>
              <a:t>Axiom .CEL raw files</a:t>
            </a:r>
            <a:r>
              <a:rPr lang="zh-TW" altLang="en-US" dirty="0"/>
              <a:t>：步驟：</a:t>
            </a:r>
            <a:endParaRPr lang="en-US" altLang="zh-TW" dirty="0"/>
          </a:p>
          <a:p>
            <a:r>
              <a:rPr lang="zh-TW" altLang="zh-TW" dirty="0"/>
              <a:t> Affymetrix Power Tools / APT genotype calling → calls.txt / confidences.txt / report.txt → 後續轉成 genotype matrix / PLINK / CNN input</a:t>
            </a:r>
            <a:endParaRPr lang="zh-TW" altLang="en-US" dirty="0"/>
          </a:p>
        </p:txBody>
      </p:sp>
      <p:grpSp>
        <p:nvGrpSpPr>
          <p:cNvPr id="15" name="Google Shape;227;p20">
            <a:extLst>
              <a:ext uri="{FF2B5EF4-FFF2-40B4-BE49-F238E27FC236}">
                <a16:creationId xmlns:a16="http://schemas.microsoft.com/office/drawing/2014/main" id="{FC7652EE-7273-FEA0-C803-CD160A74058B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16" name="Google Shape;228;p20">
              <a:extLst>
                <a:ext uri="{FF2B5EF4-FFF2-40B4-BE49-F238E27FC236}">
                  <a16:creationId xmlns:a16="http://schemas.microsoft.com/office/drawing/2014/main" id="{95C04315-63F0-0159-8BEE-EA4FCAD4BF75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9;p20">
              <a:extLst>
                <a:ext uri="{FF2B5EF4-FFF2-40B4-BE49-F238E27FC236}">
                  <a16:creationId xmlns:a16="http://schemas.microsoft.com/office/drawing/2014/main" id="{E0C08CD9-A6C9-0BC1-A5E4-019B28EEFDC6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230;p20">
            <a:extLst>
              <a:ext uri="{FF2B5EF4-FFF2-40B4-BE49-F238E27FC236}">
                <a16:creationId xmlns:a16="http://schemas.microsoft.com/office/drawing/2014/main" id="{070FD2E5-6584-BD0A-99C9-EF10F1A4ECC4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" name="Google Shape;231;p20">
            <a:extLst>
              <a:ext uri="{FF2B5EF4-FFF2-40B4-BE49-F238E27FC236}">
                <a16:creationId xmlns:a16="http://schemas.microsoft.com/office/drawing/2014/main" id="{54D63364-3674-02DC-7C1A-EB92F4D98087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72FE740-85EA-3007-D872-4171C2290F1A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Data preprocessing - Raw data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519E855-D208-D235-8E0E-59280B7BA045}"/>
              </a:ext>
            </a:extLst>
          </p:cNvPr>
          <p:cNvSpPr txBox="1"/>
          <p:nvPr/>
        </p:nvSpPr>
        <p:spPr>
          <a:xfrm>
            <a:off x="479425" y="1747721"/>
            <a:ext cx="2627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50000"/>
              </a:lnSpc>
              <a:buSzPts val="1800"/>
              <a:buFont typeface="+mj-lt"/>
              <a:buAutoNum type="arabicPeriod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SNP microarray</a:t>
            </a: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(.cel)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CD773B7-D836-EBBE-B491-0BDEC3034371}"/>
              </a:ext>
            </a:extLst>
          </p:cNvPr>
          <p:cNvSpPr txBox="1"/>
          <p:nvPr/>
        </p:nvSpPr>
        <p:spPr>
          <a:xfrm>
            <a:off x="784050" y="2922363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TW" dirty="0"/>
          </a:p>
          <a:p>
            <a:r>
              <a:rPr lang="zh-TW" altLang="zh-TW" dirty="0"/>
              <a:t>用 Affymetrix / APT / Genotyping Console 做 </a:t>
            </a:r>
            <a:r>
              <a:rPr lang="zh-TW" altLang="zh-TW" b="1" dirty="0"/>
              <a:t>genotype calling</a:t>
            </a:r>
            <a:br>
              <a:rPr lang="zh-TW" altLang="zh-TW" dirty="0"/>
            </a:br>
            <a:r>
              <a:rPr lang="zh-TW" altLang="zh-TW" dirty="0"/>
              <a:t>→ 產生 genotype calls，例如 AA / AB / BB</a:t>
            </a:r>
            <a:br>
              <a:rPr lang="zh-TW" altLang="zh-TW" dirty="0"/>
            </a:br>
            <a:r>
              <a:rPr lang="zh-TW" altLang="zh-TW" dirty="0"/>
              <a:t>→ 轉成 PLINK 格式 .ped/.map 或 .bed/.bim/.fam</a:t>
            </a:r>
            <a:br>
              <a:rPr lang="zh-TW" altLang="zh-TW" dirty="0"/>
            </a:br>
            <a:r>
              <a:rPr lang="zh-TW" altLang="zh-TW" dirty="0"/>
              <a:t>→ 進行 QC、GWAS、PRS、image encoding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4544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B5469A-76A2-B0DC-83CE-1FC877E0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227;p20">
            <a:extLst>
              <a:ext uri="{FF2B5EF4-FFF2-40B4-BE49-F238E27FC236}">
                <a16:creationId xmlns:a16="http://schemas.microsoft.com/office/drawing/2014/main" id="{B0DE8697-E55A-0ED2-0269-E735739C8E7A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16" name="Google Shape;228;p20">
              <a:extLst>
                <a:ext uri="{FF2B5EF4-FFF2-40B4-BE49-F238E27FC236}">
                  <a16:creationId xmlns:a16="http://schemas.microsoft.com/office/drawing/2014/main" id="{9807598D-DC5E-220E-7F71-7DBCFE5D2119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9;p20">
              <a:extLst>
                <a:ext uri="{FF2B5EF4-FFF2-40B4-BE49-F238E27FC236}">
                  <a16:creationId xmlns:a16="http://schemas.microsoft.com/office/drawing/2014/main" id="{5FF056C3-4D1F-D7E3-6D9D-D8550D722E33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230;p20">
            <a:extLst>
              <a:ext uri="{FF2B5EF4-FFF2-40B4-BE49-F238E27FC236}">
                <a16:creationId xmlns:a16="http://schemas.microsoft.com/office/drawing/2014/main" id="{43854D79-7E77-CE96-192A-BA0E38857574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" name="Google Shape;231;p20">
            <a:extLst>
              <a:ext uri="{FF2B5EF4-FFF2-40B4-BE49-F238E27FC236}">
                <a16:creationId xmlns:a16="http://schemas.microsoft.com/office/drawing/2014/main" id="{3373D7FE-E2BB-0FAB-C04A-0A6109A79DE2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Future work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2FC1CD4-95EA-BCCD-7E02-7EC6F38FF246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03EAA47-38A6-4814-EC9B-6BB2418FA236}"/>
              </a:ext>
            </a:extLst>
          </p:cNvPr>
          <p:cNvSpPr txBox="1"/>
          <p:nvPr/>
        </p:nvSpPr>
        <p:spPr>
          <a:xfrm>
            <a:off x="784048" y="1778498"/>
            <a:ext cx="10965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900" dirty="0"/>
              <a:t>Sharma, A., Vans, E., Shigemizu, D., Boroevich, K. A., &amp; Tsunoda, T. (2019). DeepInsight: A methodology to transform a non-image data to an image for convolution neural network architecture. </a:t>
            </a:r>
            <a:r>
              <a:rPr lang="zh-TW" altLang="zh-TW" sz="900" i="1" dirty="0"/>
              <a:t>Scientific Reports, 9</a:t>
            </a:r>
            <a:r>
              <a:rPr lang="zh-TW" altLang="zh-TW" sz="900" dirty="0"/>
              <a:t>, 11399. https://doi.org/10.1038/s41598-019-47765-6</a:t>
            </a:r>
            <a:endParaRPr lang="zh-TW" altLang="en-US" sz="9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F33F861-67EA-2357-F4D4-7FE5486C2FFE}"/>
              </a:ext>
            </a:extLst>
          </p:cNvPr>
          <p:cNvSpPr txBox="1"/>
          <p:nvPr/>
        </p:nvSpPr>
        <p:spPr>
          <a:xfrm>
            <a:off x="784047" y="2147830"/>
            <a:ext cx="107720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這篇很適合當作你的理論基礎，因為它不是 DNA sequence，而是把 </a:t>
            </a:r>
            <a:r>
              <a:rPr lang="zh-TW" altLang="zh-TW" b="1" dirty="0"/>
              <a:t>non-image high-dimensional data</a:t>
            </a:r>
            <a:r>
              <a:rPr lang="zh-TW" altLang="zh-TW" dirty="0"/>
              <a:t> 轉成 image，再丟進 CNN。文章指出，DeepInsight 會把 non-image samples 轉成 organized image-form，使 CNN 可以用在非影像資料上；它也提到 gene expression / RNA-seq 這類 genomic data feature 原本分散在高維空間，若能把相似 features 安排在接近位置，CNN 比較有機會學到有意義的 pattern。</a:t>
            </a:r>
            <a:endParaRPr lang="en-US" altLang="zh-TW" dirty="0"/>
          </a:p>
          <a:p>
            <a:r>
              <a:rPr lang="zh-TW" altLang="zh-TW" dirty="0"/>
              <a:t>DeepInsight 用的是 gene expression / RNA-seq 等 high-dimensional features，不是 SNP genotype；所以你不能直接把 gene expression value 換成 SNP raw CEL，而是要先做 genotype calling，得到 SNP genotype matrix 後再轉 image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6A1B63-9365-0B98-943F-CF3603C772CE}"/>
              </a:ext>
            </a:extLst>
          </p:cNvPr>
          <p:cNvSpPr txBox="1"/>
          <p:nvPr/>
        </p:nvSpPr>
        <p:spPr>
          <a:xfrm>
            <a:off x="784047" y="4232827"/>
            <a:ext cx="11064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800" dirty="0"/>
              <a:t>Gokhale, M., Mohanty, S. K., &amp; Ojha, A. (2023). GeneViT: Gene Vision Transformer with Improved DeepInsight for cancer classification. </a:t>
            </a:r>
            <a:r>
              <a:rPr lang="zh-TW" altLang="zh-TW" sz="800" i="1" dirty="0"/>
              <a:t>Computers in Biology and Medicine, 155</a:t>
            </a:r>
            <a:r>
              <a:rPr lang="zh-TW" altLang="zh-TW" sz="800" dirty="0"/>
              <a:t>, 106643. https://doi.org/10.1016/j.compbiomed.2023.106643</a:t>
            </a:r>
            <a:endParaRPr kumimoji="1" lang="zh-TW" altLang="en-US" sz="8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1A220D5-CD09-F08D-4ACB-FEB0F78DE7D5}"/>
              </a:ext>
            </a:extLst>
          </p:cNvPr>
          <p:cNvSpPr txBox="1"/>
          <p:nvPr/>
        </p:nvSpPr>
        <p:spPr>
          <a:xfrm>
            <a:off x="784047" y="4421910"/>
            <a:ext cx="109650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這篇很適合你當「microarray gene expression data 轉 image」的例子。文章摘要提到，它先用 stacked autoencoder 做 dimensionality reduction，再用 Improved DeepInsight 把資料轉成 image format，接著用 vision transformer 做 cancer classification；它也明確提到 microarray gene expression data 具有高維度、噪音、missing value、class imbalance 等問題</a:t>
            </a:r>
            <a:endParaRPr lang="en-US" altLang="zh-TW" dirty="0"/>
          </a:p>
          <a:p>
            <a:r>
              <a:rPr lang="zh-TW" altLang="zh-TW" dirty="0"/>
              <a:t>它是 gene expression microarray，不是 SNP genotype microarray。expression value 是連續值；你的 genotype 是 0/1/2 或 AA/AB/BB 的離散 genotype，所以 encoding 要另外設計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5559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970336-E0D7-8CD1-F681-9274BE833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227;p20">
            <a:extLst>
              <a:ext uri="{FF2B5EF4-FFF2-40B4-BE49-F238E27FC236}">
                <a16:creationId xmlns:a16="http://schemas.microsoft.com/office/drawing/2014/main" id="{A8EF6F25-3AF8-50CF-C206-85A53CC01177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16" name="Google Shape;228;p20">
              <a:extLst>
                <a:ext uri="{FF2B5EF4-FFF2-40B4-BE49-F238E27FC236}">
                  <a16:creationId xmlns:a16="http://schemas.microsoft.com/office/drawing/2014/main" id="{50FAF181-3771-802E-83D4-9842BC0CD452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9;p20">
              <a:extLst>
                <a:ext uri="{FF2B5EF4-FFF2-40B4-BE49-F238E27FC236}">
                  <a16:creationId xmlns:a16="http://schemas.microsoft.com/office/drawing/2014/main" id="{6289B169-D813-BEDF-1063-59C1A0B8CE72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230;p20">
            <a:extLst>
              <a:ext uri="{FF2B5EF4-FFF2-40B4-BE49-F238E27FC236}">
                <a16:creationId xmlns:a16="http://schemas.microsoft.com/office/drawing/2014/main" id="{242C5BC6-5203-4F14-15D5-6F570D55FCF4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" name="Google Shape;231;p20">
            <a:extLst>
              <a:ext uri="{FF2B5EF4-FFF2-40B4-BE49-F238E27FC236}">
                <a16:creationId xmlns:a16="http://schemas.microsoft.com/office/drawing/2014/main" id="{8C5B2CF9-22FD-736B-BA78-2C092892EDE6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4CBD48C-A48E-19DE-4A5F-C7C1EA377F21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Data preprocessing - Raw data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E7A2C31-9395-B448-6925-DDBDAD63E9BE}"/>
              </a:ext>
            </a:extLst>
          </p:cNvPr>
          <p:cNvSpPr txBox="1"/>
          <p:nvPr/>
        </p:nvSpPr>
        <p:spPr>
          <a:xfrm>
            <a:off x="479425" y="1747721"/>
            <a:ext cx="2627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50000"/>
              </a:lnSpc>
              <a:buSzPts val="1800"/>
              <a:buFont typeface="+mj-lt"/>
              <a:buAutoNum type="arabicPeriod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SNP microarray</a:t>
            </a: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: (.cel)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FC72198-4AEC-5DFF-3805-5C09FC6B0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588" y="483897"/>
            <a:ext cx="4956308" cy="29816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690250D-20FC-89B7-931F-5C6830A7CABC}"/>
              </a:ext>
            </a:extLst>
          </p:cNvPr>
          <p:cNvSpPr txBox="1"/>
          <p:nvPr/>
        </p:nvSpPr>
        <p:spPr>
          <a:xfrm>
            <a:off x="3106555" y="58656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400" dirty="0">
                <a:solidFill>
                  <a:srgbClr val="FF0000"/>
                </a:solidFill>
              </a:rPr>
              <a:t>新想法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AECF0C-650D-8E5F-9E25-8127C300510A}"/>
              </a:ext>
            </a:extLst>
          </p:cNvPr>
          <p:cNvSpPr txBox="1"/>
          <p:nvPr/>
        </p:nvSpPr>
        <p:spPr>
          <a:xfrm>
            <a:off x="756713" y="4014027"/>
            <a:ext cx="7144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還是要先確認我的</a:t>
            </a:r>
            <a:r>
              <a:rPr kumimoji="1" lang="en-US" altLang="zh-TW" dirty="0"/>
              <a:t>data</a:t>
            </a:r>
            <a:r>
              <a:rPr kumimoji="1" lang="zh-TW" altLang="en-US" dirty="0"/>
              <a:t>他</a:t>
            </a:r>
            <a:r>
              <a:rPr kumimoji="1" lang="en-US" altLang="zh-TW" dirty="0"/>
              <a:t>genotype calling</a:t>
            </a:r>
            <a:r>
              <a:rPr kumimoji="1" lang="zh-TW" altLang="en-US" dirty="0"/>
              <a:t>結果是單純只有</a:t>
            </a:r>
            <a:r>
              <a:rPr kumimoji="1" lang="en-US" altLang="zh-TW" dirty="0"/>
              <a:t>AA/AB/BB</a:t>
            </a:r>
            <a:r>
              <a:rPr kumimoji="1" lang="zh-TW" altLang="en-US" dirty="0"/>
              <a:t>還是</a:t>
            </a:r>
            <a:r>
              <a:rPr kumimoji="1" lang="en-US" altLang="zh-TW" dirty="0"/>
              <a:t>ATCG</a:t>
            </a:r>
            <a:r>
              <a:rPr kumimoji="1" lang="zh-TW" altLang="en-US" dirty="0"/>
              <a:t>組合可得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5DCEBF-65D1-BDB9-2A78-5E5A1AF9D9BB}"/>
              </a:ext>
            </a:extLst>
          </p:cNvPr>
          <p:cNvSpPr txBox="1"/>
          <p:nvPr/>
        </p:nvSpPr>
        <p:spPr>
          <a:xfrm>
            <a:off x="705584" y="4533129"/>
            <a:ext cx="114864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如果沒有每個</a:t>
            </a:r>
            <a:r>
              <a:rPr kumimoji="1" lang="en-US" altLang="zh-TW" dirty="0"/>
              <a:t>position, </a:t>
            </a:r>
            <a:r>
              <a:rPr kumimoji="1" lang="zh-TW" altLang="en-US" dirty="0"/>
              <a:t>則考慮的距離定義：</a:t>
            </a: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zh-TW" dirty="0"/>
              <a:t>如果知道每個 SNP 的 chromosome 和 position</a:t>
            </a:r>
            <a:r>
              <a:rPr lang="zh-TW" altLang="en-US" dirty="0"/>
              <a:t>（限制：</a:t>
            </a:r>
            <a:r>
              <a:rPr lang="zh-TW" altLang="zh-TW" dirty="0"/>
              <a:t>在 SNP microarray 影像中，相鄰 pixel 不代表相鄰鹼基，而是代表在晶片上被測到、且依照基因組位置排序後相鄰的 SNP markers</a:t>
            </a:r>
            <a:r>
              <a:rPr lang="zh-TW" altLang="en-US" dirty="0"/>
              <a:t>）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zh-TW" dirty="0"/>
              <a:t>LD-based distance</a:t>
            </a:r>
            <a:r>
              <a:rPr lang="zh-TW" altLang="en-US" dirty="0"/>
              <a:t>：</a:t>
            </a:r>
            <a:r>
              <a:rPr lang="zh-TW" altLang="zh-TW" dirty="0"/>
              <a:t>LD matrix 需要從 genotype data 或 reference population 計算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zh-TW" dirty="0"/>
              <a:t>Feature similarity distance</a:t>
            </a:r>
            <a:r>
              <a:rPr lang="zh-TW" altLang="en-US" dirty="0"/>
              <a:t>（本身資料的相似程度）直接計算目前資料</a:t>
            </a:r>
            <a:r>
              <a:rPr lang="zh-TW" altLang="zh-TW" dirty="0"/>
              <a:t>SNP 之間的 correlation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86717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40"/>
          <p:cNvPicPr preferRelativeResize="0"/>
          <p:nvPr/>
        </p:nvPicPr>
        <p:blipFill rotWithShape="1">
          <a:blip r:embed="rId3">
            <a:alphaModFix/>
          </a:blip>
          <a:srcRect r="80745"/>
          <a:stretch/>
        </p:blipFill>
        <p:spPr>
          <a:xfrm>
            <a:off x="8014002" y="540000"/>
            <a:ext cx="842099" cy="8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/>
          <p:cNvPicPr preferRelativeResize="0"/>
          <p:nvPr/>
        </p:nvPicPr>
        <p:blipFill rotWithShape="1">
          <a:blip r:embed="rId4">
            <a:alphaModFix/>
          </a:blip>
          <a:srcRect l="18467"/>
          <a:stretch/>
        </p:blipFill>
        <p:spPr>
          <a:xfrm>
            <a:off x="8856100" y="622900"/>
            <a:ext cx="2843900" cy="6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0"/>
          <p:cNvSpPr/>
          <p:nvPr/>
        </p:nvSpPr>
        <p:spPr>
          <a:xfrm>
            <a:off x="-3322025" y="0"/>
            <a:ext cx="6249300" cy="68580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0"/>
          <p:cNvSpPr txBox="1">
            <a:spLocks noGrp="1"/>
          </p:cNvSpPr>
          <p:nvPr>
            <p:ph type="ctrTitle"/>
          </p:nvPr>
        </p:nvSpPr>
        <p:spPr>
          <a:xfrm>
            <a:off x="3279650" y="2967825"/>
            <a:ext cx="79059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800">
                <a:latin typeface="Pinyon Script"/>
                <a:ea typeface="Pinyon Script"/>
                <a:cs typeface="Pinyon Script"/>
                <a:sym typeface="Pinyon Script"/>
              </a:rPr>
              <a:t>Thanks  for  listening</a:t>
            </a:r>
            <a:endParaRPr sz="6800">
              <a:latin typeface="Pinyon Script"/>
              <a:ea typeface="Pinyon Script"/>
              <a:cs typeface="Pinyon Script"/>
              <a:sym typeface="Pinyon Scrip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11144</TotalTime>
  <Words>4466</Words>
  <Application>Microsoft Macintosh PowerPoint</Application>
  <PresentationFormat>寬螢幕</PresentationFormat>
  <Paragraphs>535</Paragraphs>
  <Slides>28</Slides>
  <Notes>23</Notes>
  <HiddenSlides>11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41" baseType="lpstr">
      <vt:lpstr>Lato</vt:lpstr>
      <vt:lpstr>Playfair Display SemiBold</vt:lpstr>
      <vt:lpstr>Alegreya</vt:lpstr>
      <vt:lpstr>Pinyon Script</vt:lpstr>
      <vt:lpstr>Playfair Display</vt:lpstr>
      <vt:lpstr>Calibri</vt:lpstr>
      <vt:lpstr>Wingdings</vt:lpstr>
      <vt:lpstr>Arial</vt:lpstr>
      <vt:lpstr>Courier New</vt:lpstr>
      <vt:lpstr>Cambria Math</vt:lpstr>
      <vt:lpstr>Songti SC</vt:lpstr>
      <vt:lpstr>標準系統字體</vt:lpstr>
      <vt:lpstr>Office 佈景主題</vt:lpstr>
      <vt:lpstr>SUMMER INTERN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Thanks  for 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采宣 林</cp:lastModifiedBy>
  <cp:revision>62</cp:revision>
  <dcterms:modified xsi:type="dcterms:W3CDTF">2026-07-15T03:25:23Z</dcterms:modified>
</cp:coreProperties>
</file>