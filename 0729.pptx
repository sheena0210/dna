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85" r:id="rId2"/>
    <p:sldId id="258" r:id="rId3"/>
    <p:sldId id="298" r:id="rId4"/>
    <p:sldId id="304" r:id="rId5"/>
    <p:sldId id="305" r:id="rId6"/>
    <p:sldId id="311" r:id="rId7"/>
    <p:sldId id="310" r:id="rId8"/>
    <p:sldId id="420" r:id="rId9"/>
    <p:sldId id="419" r:id="rId10"/>
    <p:sldId id="422" r:id="rId11"/>
    <p:sldId id="423" r:id="rId12"/>
    <p:sldId id="425" r:id="rId13"/>
    <p:sldId id="426" r:id="rId14"/>
    <p:sldId id="427" r:id="rId15"/>
    <p:sldId id="421" r:id="rId16"/>
    <p:sldId id="429" r:id="rId17"/>
    <p:sldId id="428" r:id="rId18"/>
    <p:sldId id="283" r:id="rId19"/>
    <p:sldId id="404" r:id="rId20"/>
    <p:sldId id="413" r:id="rId21"/>
    <p:sldId id="412" r:id="rId22"/>
    <p:sldId id="416" r:id="rId23"/>
  </p:sldIdLst>
  <p:sldSz cx="12192000" cy="6858000"/>
  <p:notesSz cx="6858000" cy="9144000"/>
  <p:embeddedFontLst>
    <p:embeddedFont>
      <p:font typeface="Alegreya" pitchFamily="2" charset="0"/>
      <p:regular r:id=""/>
      <p:bold r:id=""/>
      <p:italic r:id=""/>
      <p:boldItalic r:id=""/>
    </p:embeddedFont>
    <p:embeddedFont>
      <p:font typeface="Cambria Math" panose="02040503050406030204" pitchFamily="18" charset="0"/>
      <p:regular r:id="rId25"/>
    </p:embeddedFont>
    <p:embeddedFont>
      <p:font typeface="Pinyon Script" pitchFamily="2" charset="0"/>
      <p:regular r:id=""/>
    </p:embeddedFont>
    <p:embeddedFont>
      <p:font typeface="Playfair Display" pitchFamily="2" charset="0"/>
      <p:regular r:id="rId26"/>
      <p:bold r:id="rId27"/>
      <p:italic r:id="rId28"/>
      <p:boldItalic r:id="rId29"/>
    </p:embeddedFont>
    <p:embeddedFont>
      <p:font typeface="Playfair Display SemiBold" pitchFamily="2" charset="0"/>
      <p:regular r:id=""/>
      <p:bold r:id=""/>
      <p:italic r:id="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  <p15:guide id="3" orient="horz" pos="3974" userDrawn="1">
          <p15:clr>
            <a:srgbClr val="747775"/>
          </p15:clr>
        </p15:guide>
        <p15:guide id="4" orient="horz" pos="346" userDrawn="1">
          <p15:clr>
            <a:srgbClr val="747775"/>
          </p15:clr>
        </p15:guide>
        <p15:guide id="5" pos="7378" userDrawn="1">
          <p15:clr>
            <a:srgbClr val="747775"/>
          </p15:clr>
        </p15:guide>
        <p15:guide id="6" pos="30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2FE"/>
    <a:srgbClr val="FFF7FD"/>
    <a:srgbClr val="F5F9FE"/>
    <a:srgbClr val="BDD7EE"/>
    <a:srgbClr val="FDFFEB"/>
    <a:srgbClr val="FBFFD4"/>
    <a:srgbClr val="E4FFEE"/>
    <a:srgbClr val="E1ECFE"/>
    <a:srgbClr val="E0EFFF"/>
    <a:srgbClr val="E1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46EFF1-D363-4814-AD40-36413BC7005B}">
  <a:tblStyle styleId="{A546EFF1-D363-4814-AD40-36413BC700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/>
    <p:restoredTop sz="72598"/>
  </p:normalViewPr>
  <p:slideViewPr>
    <p:cSldViewPr snapToGrid="0">
      <p:cViewPr>
        <p:scale>
          <a:sx n="83" d="100"/>
          <a:sy n="83" d="100"/>
        </p:scale>
        <p:origin x="1472" y="144"/>
      </p:cViewPr>
      <p:guideLst>
        <p:guide orient="horz" pos="2160"/>
        <p:guide pos="3840"/>
        <p:guide orient="horz" pos="3974"/>
        <p:guide orient="horz" pos="346"/>
        <p:guide pos="7378"/>
        <p:guide pos="302"/>
      </p:guideLst>
    </p:cSldViewPr>
  </p:slideViewPr>
  <p:notesTextViewPr>
    <p:cViewPr>
      <p:scale>
        <a:sx n="110" d="100"/>
        <a:sy n="11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9B078A2C-D744-D530-9730-8B0A93B7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90a16415b2ac980_202:notes">
            <a:extLst>
              <a:ext uri="{FF2B5EF4-FFF2-40B4-BE49-F238E27FC236}">
                <a16:creationId xmlns:a16="http://schemas.microsoft.com/office/drawing/2014/main" id="{AA2A413C-E79A-EFE5-CFA4-27B3B7A40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490a16415b2ac980_202:notes">
            <a:extLst>
              <a:ext uri="{FF2B5EF4-FFF2-40B4-BE49-F238E27FC236}">
                <a16:creationId xmlns:a16="http://schemas.microsoft.com/office/drawing/2014/main" id="{DC5DE41A-661C-8D20-3D51-8F93CE494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490a16415b2ac980_202:notes">
            <a:extLst>
              <a:ext uri="{FF2B5EF4-FFF2-40B4-BE49-F238E27FC236}">
                <a16:creationId xmlns:a16="http://schemas.microsoft.com/office/drawing/2014/main" id="{74BEC6E3-14D6-538A-02AE-82B9F0FDEF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1113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c48e4df94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c48e4df94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3ec48e4df94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4C93611-E8CE-F436-1364-E57A46E7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D41F1D08-F3DC-8361-7553-8F2C9F646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7F9922A1-172D-5B90-F766-4E141385B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回顧上週的進度是在資料前處理 </a:t>
            </a:r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FBC4B1A7-DA75-CECC-321F-F66579CD0F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6917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EFC1438-7338-0C90-8AD8-507C0146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8BD73FF1-E52C-0506-4CDB-DBDFD7B79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D0BC27C6-6C8E-B64B-F761-796EC5ADF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42B0081E-F54F-213C-25C2-C891F91BB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4223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412570F-CA31-5FB0-1339-60F0E5CC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4D2DC72E-1830-3BE0-5C3B-19FA5D8DE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9BFC50CD-1651-259F-82EB-758597809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62F41BC1-4A86-7DBB-35D2-0520C3963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396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C8DC75D4-ADDF-872E-9348-2B66ADEA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01E3CA2E-2B16-825A-F6CB-79457D578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1B035F81-C8FB-E9CB-4295-A4D4F9919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44AF0AC1-F5D7-CA23-19A1-7BA169E143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3456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75F1E776-2697-5B41-E2F0-66A472A9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5a4c90c9_0_662:notes">
            <a:extLst>
              <a:ext uri="{FF2B5EF4-FFF2-40B4-BE49-F238E27FC236}">
                <a16:creationId xmlns:a16="http://schemas.microsoft.com/office/drawing/2014/main" id="{2A574597-7286-2535-1E0A-605C94C610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5a4c90c9_0_662:notes">
            <a:extLst>
              <a:ext uri="{FF2B5EF4-FFF2-40B4-BE49-F238E27FC236}">
                <a16:creationId xmlns:a16="http://schemas.microsoft.com/office/drawing/2014/main" id="{909D55AF-305F-D660-2080-2B590FB8A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altLang="zh-TW" dirty="0"/>
          </a:p>
        </p:txBody>
      </p:sp>
      <p:sp>
        <p:nvSpPr>
          <p:cNvPr id="225" name="Google Shape;225;g3f15a4c90c9_0_662:notes">
            <a:extLst>
              <a:ext uri="{FF2B5EF4-FFF2-40B4-BE49-F238E27FC236}">
                <a16:creationId xmlns:a16="http://schemas.microsoft.com/office/drawing/2014/main" id="{821BFFB9-5361-167F-D7CC-4B2CF3A8CB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5220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9E9D-B9E6-1BA2-D11C-9C79C5FC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087BC4-854E-5A72-99E6-C75D4D079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44D745-E83E-275E-5612-623A5A0C6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再來是</a:t>
            </a:r>
            <a:r>
              <a:rPr kumimoji="1" lang="en-US" altLang="zh-TW" dirty="0" err="1"/>
              <a:t>nucleotude</a:t>
            </a:r>
            <a:r>
              <a:rPr kumimoji="1" lang="zh-TW" altLang="en-US" dirty="0"/>
              <a:t>有</a:t>
            </a:r>
            <a:r>
              <a:rPr lang="en" altLang="zh-TW" dirty="0"/>
              <a:t>homozygous </a:t>
            </a:r>
            <a:r>
              <a:rPr lang="en-US" altLang="zh-TW" dirty="0"/>
              <a:t> </a:t>
            </a:r>
            <a:r>
              <a:rPr lang="zh-TW" altLang="zh-TW" dirty="0"/>
              <a:t>heterozygous</a:t>
            </a:r>
            <a:r>
              <a:rPr lang="en-US" altLang="zh-TW" dirty="0"/>
              <a:t> </a:t>
            </a:r>
            <a:r>
              <a:rPr lang="zh-TW" altLang="en-US" dirty="0"/>
              <a:t>的問題會有 種排列組合 </a:t>
            </a:r>
            <a:endParaRPr lang="en-US" altLang="zh-TW" dirty="0"/>
          </a:p>
          <a:p>
            <a:r>
              <a:rPr kumimoji="1" lang="zh-TW" altLang="en-US" dirty="0"/>
              <a:t>但在同一個人的</a:t>
            </a:r>
            <a:r>
              <a:rPr lang="zh-TW" altLang="zh-TW" dirty="0"/>
              <a:t>heterozygous</a:t>
            </a:r>
            <a:r>
              <a:rPr lang="zh-TW" altLang="en-US" dirty="0"/>
              <a:t>中 </a:t>
            </a:r>
            <a:r>
              <a:rPr lang="en-US" altLang="zh-TW" dirty="0"/>
              <a:t>A/G G/A</a:t>
            </a:r>
            <a:r>
              <a:rPr lang="zh-TW" altLang="en-US" dirty="0"/>
              <a:t> 其實代表的生物意義是相同的 所以避免重複上色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64E05-5CC0-D61D-F794-C8174603CD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7554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E90F-C5AE-8094-4947-B19D1734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FBD4FC-52D8-0953-92CE-52A2849A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9CA90D-6CD4-9676-DB5E-DEACED97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第二個方向是 cytoband-aware layout。</a:t>
            </a:r>
            <a:endParaRPr lang="en-US" altLang="zh-TW" dirty="0"/>
          </a:p>
          <a:p>
            <a:r>
              <a:rPr lang="zh-TW" altLang="zh-TW" dirty="0"/>
              <a:t>除了維持 chromosome 和 position 的順序外，</a:t>
            </a:r>
            <a:r>
              <a:rPr lang="zh-TW" altLang="en-US" dirty="0"/>
              <a:t>先利用</a:t>
            </a:r>
            <a:r>
              <a:rPr lang="zh-TW" altLang="zh-TW" dirty="0"/>
              <a:t>SNP 依照 cytoband 分區排列，</a:t>
            </a:r>
            <a:endParaRPr lang="en-US" altLang="zh-TW" dirty="0"/>
          </a:p>
          <a:p>
            <a:r>
              <a:rPr lang="zh-TW" altLang="zh-TW" dirty="0"/>
              <a:t>讓影像的空間結構更符合染色體本身的區域特徵，而不只是單純地把線性序列折成正方形。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因此要先了解</a:t>
            </a:r>
            <a:r>
              <a:rPr lang="en-US" altLang="zh-TW" dirty="0"/>
              <a:t>cytoband</a:t>
            </a:r>
            <a:r>
              <a:rPr lang="zh-TW" altLang="en-US" dirty="0"/>
              <a:t>是什麼</a:t>
            </a:r>
            <a:endParaRPr lang="en-US" altLang="zh-TW" dirty="0"/>
          </a:p>
          <a:p>
            <a:r>
              <a:rPr lang="zh-TW" altLang="en-US" dirty="0"/>
              <a:t>這個欄位的來源是</a:t>
            </a:r>
            <a:r>
              <a:rPr lang="zh-TW" altLang="zh-TW" dirty="0"/>
              <a:t>細胞分裂到中期時，染色體</a:t>
            </a:r>
            <a:r>
              <a:rPr lang="zh-TW" altLang="en-US" dirty="0"/>
              <a:t>上色後有深淺的間隔 也就是條帶</a:t>
            </a:r>
            <a:r>
              <a:rPr lang="zh-TW" altLang="zh-TW" dirty="0"/>
              <a:t>cytogenetic bands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因為他們可透過顏色深淺被變</a:t>
            </a:r>
            <a:r>
              <a:rPr lang="zh-TW" altLang="zh-TW" dirty="0"/>
              <a:t>辨認的條帶</a:t>
            </a:r>
            <a:endParaRPr lang="en-US" altLang="zh-TW" dirty="0"/>
          </a:p>
          <a:p>
            <a:r>
              <a:rPr lang="zh-TW" altLang="en-US" dirty="0"/>
              <a:t>所以也能</a:t>
            </a:r>
            <a:r>
              <a:rPr lang="zh-TW" altLang="zh-TW" dirty="0"/>
              <a:t>用它來描述基因或染色體異常的大概位置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而從這張示意圖可以知道整條染色體的組成可以由</a:t>
            </a:r>
            <a:r>
              <a:rPr lang="en-US" altLang="zh-TW" dirty="0"/>
              <a:t>centromere</a:t>
            </a:r>
            <a:r>
              <a:rPr lang="zh-TW" altLang="en-US" dirty="0"/>
              <a:t>區分</a:t>
            </a:r>
            <a:r>
              <a:rPr lang="zh-TW" altLang="zh-TW" dirty="0"/>
              <a:t>染色體臂p arm：短臂</a:t>
            </a:r>
            <a:r>
              <a:rPr lang="en-US" altLang="zh-TW" dirty="0"/>
              <a:t>/</a:t>
            </a:r>
            <a:r>
              <a:rPr lang="zh-TW" altLang="zh-TW" dirty="0"/>
              <a:t> q arm：長臂</a:t>
            </a:r>
            <a:endParaRPr lang="en-US" altLang="zh-TW" dirty="0"/>
          </a:p>
          <a:p>
            <a:r>
              <a:rPr lang="zh-TW" altLang="en-US" dirty="0"/>
              <a:t>每隔染色體臂又能再分成多個</a:t>
            </a:r>
            <a:r>
              <a:rPr lang="zh-TW" altLang="zh-TW" dirty="0"/>
              <a:t>region</a:t>
            </a:r>
            <a:r>
              <a:rPr lang="zh-TW" altLang="en-US" dirty="0"/>
              <a:t> </a:t>
            </a:r>
            <a:r>
              <a:rPr lang="en-US" altLang="zh-TW" dirty="0"/>
              <a:t>region</a:t>
            </a:r>
            <a:r>
              <a:rPr lang="zh-TW" altLang="en-US" dirty="0"/>
              <a:t>中又可分成</a:t>
            </a:r>
            <a:r>
              <a:rPr lang="en-US" altLang="zh-TW" dirty="0"/>
              <a:t>band </a:t>
            </a:r>
            <a:r>
              <a:rPr lang="zh-TW" altLang="en-US" dirty="0"/>
              <a:t>跟</a:t>
            </a:r>
            <a:r>
              <a:rPr lang="en-US" altLang="zh-TW" dirty="0"/>
              <a:t>sub band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Cytoband 的編號是由著絲粒向染色體末端增加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像是</a:t>
            </a:r>
            <a:r>
              <a:rPr lang="en-US" altLang="zh-TW" dirty="0"/>
              <a:t>3</a:t>
            </a:r>
            <a:r>
              <a:rPr lang="zh-TW" altLang="zh-TW" dirty="0"/>
              <a:t>p</a:t>
            </a:r>
            <a:r>
              <a:rPr lang="en-US" altLang="zh-TW" dirty="0"/>
              <a:t>22</a:t>
            </a:r>
            <a:r>
              <a:rPr lang="zh-TW" altLang="zh-TW" dirty="0"/>
              <a:t>.1</a:t>
            </a:r>
            <a:r>
              <a:rPr lang="en-US" altLang="zh-TW" dirty="0"/>
              <a:t>:</a:t>
            </a:r>
            <a:r>
              <a:rPr lang="zh-TW" altLang="zh-TW" dirty="0"/>
              <a:t>第 </a:t>
            </a:r>
            <a:r>
              <a:rPr lang="en-US" altLang="zh-TW" dirty="0"/>
              <a:t>3</a:t>
            </a:r>
            <a:r>
              <a:rPr lang="zh-TW" altLang="zh-TW" dirty="0"/>
              <a:t>號染色體短臂，第 </a:t>
            </a:r>
            <a:r>
              <a:rPr lang="en-US" altLang="zh-TW" dirty="0"/>
              <a:t>2</a:t>
            </a:r>
            <a:r>
              <a:rPr lang="zh-TW" altLang="zh-TW" dirty="0"/>
              <a:t> 區域、第 </a:t>
            </a:r>
            <a:r>
              <a:rPr lang="en-US" altLang="zh-TW" dirty="0"/>
              <a:t>2</a:t>
            </a:r>
            <a:r>
              <a:rPr lang="zh-TW" altLang="zh-TW" dirty="0"/>
              <a:t>條帶、第 1 條</a:t>
            </a:r>
            <a:r>
              <a:rPr lang="zh-TW" altLang="en-US" dirty="0"/>
              <a:t>次</a:t>
            </a:r>
            <a:r>
              <a:rPr lang="zh-TW" altLang="zh-TW" dirty="0"/>
              <a:t>帶</a:t>
            </a:r>
            <a:endParaRPr lang="zh-TW" altLang="en-US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但編號不代表它的實際距離只是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cytoband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的編號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en-US" dirty="0"/>
              <a:t>因此下一頁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zh-TW" dirty="0"/>
              <a:t>染色體 → 染色體臂 → 區域 → 條帶 → 次條帶</a:t>
            </a:r>
            <a:r>
              <a:rPr lang="en-US" altLang="zh-TW" dirty="0"/>
              <a:t>:</a:t>
            </a:r>
          </a:p>
          <a:p>
            <a:r>
              <a:rPr lang="zh-TW" altLang="zh-TW" dirty="0"/>
              <a:t>整條染色體 → 分成 p arm 與 q arm → 每個 arm 分成數個 region → 每個 region 再分成 band → band 還可以再分成 sub-band</a:t>
            </a:r>
            <a:endParaRPr lang="en-US" altLang="zh-TW" dirty="0"/>
          </a:p>
          <a:p>
            <a:r>
              <a:rPr lang="en-US" altLang="zh-TW" b="1" dirty="0"/>
              <a:t>=&gt;</a:t>
            </a:r>
            <a:r>
              <a:rPr lang="zh-TW" altLang="en-US" b="1" dirty="0"/>
              <a:t>順序：</a:t>
            </a:r>
            <a:r>
              <a:rPr lang="zh-TW" altLang="zh-TW" b="1" dirty="0"/>
              <a:t> pter → p arm → centromere → q arm → qter</a:t>
            </a:r>
            <a:endParaRPr lang="en-US" altLang="zh-TW" b="1" dirty="0"/>
          </a:p>
          <a:p>
            <a:endParaRPr lang="en-US" altLang="zh-TW" dirty="0"/>
          </a:p>
          <a:p>
            <a:r>
              <a:rPr lang="zh-TW" altLang="zh-TW" b="1" dirty="0"/>
              <a:t>centromere，著絲粒</a:t>
            </a:r>
            <a:endParaRPr lang="en-US" altLang="zh-TW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染色體中間有一個較窄的區域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它把染色體分成p arm：短臂</a:t>
            </a:r>
            <a:r>
              <a:rPr lang="en-US" altLang="zh-TW" dirty="0"/>
              <a:t>/</a:t>
            </a:r>
            <a:r>
              <a:rPr lang="zh-TW" altLang="zh-TW" dirty="0"/>
              <a:t> q arm：長臂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編號從裡面到外，小到大（不</a:t>
            </a:r>
            <a:r>
              <a:rPr lang="zh-TW" altLang="zh-TW" dirty="0"/>
              <a:t>是實際距離</a:t>
            </a:r>
            <a:r>
              <a:rPr lang="zh-TW" altLang="en-US" dirty="0"/>
              <a:t>）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17p13.1</a:t>
            </a:r>
            <a:r>
              <a:rPr lang="en-US" altLang="zh-TW" dirty="0"/>
              <a:t>:</a:t>
            </a:r>
            <a:r>
              <a:rPr lang="zh-TW" altLang="zh-TW" dirty="0"/>
              <a:t>第 17 號染色體短臂，第 1 區域、第 3 條帶、第 1 次條帶。</a:t>
            </a:r>
            <a:endParaRPr lang="zh-TW" altLang="en-US" dirty="0"/>
          </a:p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2F6CE9-0C27-57CF-81D3-4E9A64D51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0822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9124-1CEA-C8E0-2FC1-1CD2FCB1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2758A0-3B18-4735-2444-4CC7D0B15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B559A9-883E-E7CA-EBA9-6D4F6BA29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為了把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同一 cytoband 的 SNP 視為同一區塊，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所以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在不同 cytoband 之間加入 separator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 也就是空白片段 避免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CNN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把兩個不同區域誤認為連續相鄰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步驟的話一樣要先看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cytoband missing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的情況</a:t>
            </a:r>
            <a:endParaRPr lang="en-US" altLang="zh-TW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總共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755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missing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其中因為粒線體是環狀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dNA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 結構不同 因此不適用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cytoband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的編號導致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754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個粒線體是沒有編號的 以及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17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號染色體有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cytoband missing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最終就是把這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755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snp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刪除 剩下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630941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個</a:t>
            </a:r>
            <a:r>
              <a:rPr lang="en-US" altLang="zh-TW" dirty="0" err="1">
                <a:solidFill>
                  <a:schemeClr val="accent5">
                    <a:lumMod val="50000"/>
                  </a:schemeClr>
                </a:solidFill>
              </a:rPr>
              <a:t>snp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進入第三版的上色</a:t>
            </a:r>
            <a:endParaRPr lang="zh-TW" altLang="zh-TW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5E7DE0-BC2B-157E-1C79-96F1E2CE92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2700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D9C4-A214-33FA-F8C7-80BDBD94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CA36C97-BECB-7133-ECC6-4F9A98823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9264EB-2821-ED96-2C4E-A27C3576F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接著是利用</a:t>
            </a:r>
            <a:r>
              <a:rPr lang="en-US" altLang="zh-TW" dirty="0"/>
              <a:t>cytoband</a:t>
            </a:r>
            <a:r>
              <a:rPr lang="zh-TW" altLang="en-US" dirty="0"/>
              <a:t>的編號作為依據 去排順序</a:t>
            </a:r>
            <a:endParaRPr lang="en-US" altLang="zh-TW" dirty="0"/>
          </a:p>
          <a:p>
            <a:r>
              <a:rPr lang="zh-TW" altLang="en-US" dirty="0"/>
              <a:t>因為是面有題到他的編號順序是從中間著斯利 從內到外 從小到大編號 </a:t>
            </a:r>
            <a:r>
              <a:rPr lang="en-US" altLang="zh-TW" dirty="0"/>
              <a:t>p</a:t>
            </a:r>
            <a:r>
              <a:rPr lang="zh-TW" altLang="en-US" dirty="0"/>
              <a:t>端的編號會隨著</a:t>
            </a:r>
            <a:r>
              <a:rPr lang="en-US" altLang="zh-TW" dirty="0"/>
              <a:t> position</a:t>
            </a:r>
            <a:r>
              <a:rPr lang="zh-TW" altLang="en-US" dirty="0"/>
              <a:t>增加 而變小</a:t>
            </a:r>
            <a:endParaRPr lang="en-US" altLang="zh-TW" dirty="0"/>
          </a:p>
          <a:p>
            <a:r>
              <a:rPr lang="en-US" altLang="zh-TW" dirty="0"/>
              <a:t>Q</a:t>
            </a:r>
            <a:r>
              <a:rPr lang="zh-TW" altLang="en-US" dirty="0"/>
              <a:t>端則是隨著位置的增加而增加</a:t>
            </a:r>
            <a:endParaRPr lang="en-US" altLang="zh-TW" dirty="0"/>
          </a:p>
          <a:p>
            <a:r>
              <a:rPr lang="zh-TW" altLang="en-US" dirty="0"/>
              <a:t>因此排序玩</a:t>
            </a:r>
            <a:r>
              <a:rPr lang="en-US" altLang="zh-TW" dirty="0"/>
              <a:t>cytoband </a:t>
            </a:r>
            <a:r>
              <a:rPr lang="zh-TW" altLang="en-US" dirty="0"/>
              <a:t>以及</a:t>
            </a:r>
            <a:r>
              <a:rPr lang="en-US" altLang="zh-TW" dirty="0"/>
              <a:t>Start</a:t>
            </a:r>
            <a:r>
              <a:rPr lang="zh-TW" altLang="en-US" dirty="0"/>
              <a:t>欄位進行排序 這兩個排出來的結果順序是一樣的 但</a:t>
            </a:r>
            <a:r>
              <a:rPr lang="en-US" altLang="zh-TW" dirty="0"/>
              <a:t>cytoband</a:t>
            </a:r>
            <a:r>
              <a:rPr lang="zh-TW" altLang="en-US" dirty="0"/>
              <a:t>可以辨識同一條</a:t>
            </a:r>
            <a:r>
              <a:rPr lang="zh-TW" altLang="zh-TW" dirty="0"/>
              <a:t>染色體</a:t>
            </a:r>
            <a:r>
              <a:rPr lang="zh-TW" altLang="en-US" dirty="0"/>
              <a:t>的</a:t>
            </a:r>
            <a:r>
              <a:rPr lang="zh-TW" altLang="zh-TW" dirty="0"/>
              <a:t>邊界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C329D8-7730-4BCE-22CF-AC5BE8189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545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88A14-3B15-5A7F-C2EF-A5F42B84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9F33214-F56E-A67C-FC5C-ED2CD7DA6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29866B-9B11-FD7C-D886-DEABA7DFE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再來</a:t>
            </a:r>
            <a:r>
              <a:rPr lang="zh-TW" altLang="zh-TW" dirty="0"/>
              <a:t>每個 </a:t>
            </a:r>
            <a:r>
              <a:rPr lang="zh-TW" altLang="zh-TW" dirty="0">
                <a:latin typeface="Courier New" panose="02070309020205020404" pitchFamily="49" charset="0"/>
              </a:rPr>
              <a:t>cytoband</a:t>
            </a:r>
            <a:r>
              <a:rPr lang="zh-TW" altLang="zh-TW" dirty="0"/>
              <a:t> 的最後一個 SNP 後面，加入一列 </a:t>
            </a:r>
            <a:r>
              <a:rPr lang="zh-TW" altLang="zh-TW" dirty="0">
                <a:latin typeface="Courier New" panose="02070309020205020404" pitchFamily="49" charset="0"/>
              </a:rPr>
              <a:t>separator</a:t>
            </a:r>
            <a:r>
              <a:rPr lang="zh-TW" altLang="zh-TW" dirty="0"/>
              <a:t>。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並給上白色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按一下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然後其他步驟都是跟</a:t>
            </a:r>
            <a:r>
              <a:rPr lang="en-US" altLang="zh-TW" dirty="0"/>
              <a:t>version2</a:t>
            </a:r>
            <a:r>
              <a:rPr lang="zh-TW" altLang="en-US" dirty="0"/>
              <a:t>上色一樣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548B58-2383-5184-6552-C66EF6BCA0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924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38F5-A499-AAC3-89E0-128D1E27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46A9B9-35C8-D627-65D6-B8FD04532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DB0656-1BCF-39E9-2BD9-9CA202D18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圖的結果是跟</a:t>
            </a:r>
            <a:r>
              <a:rPr kumimoji="1" lang="en-US" altLang="zh-TW" dirty="0"/>
              <a:t>version2</a:t>
            </a:r>
            <a:r>
              <a:rPr kumimoji="1" lang="zh-TW" altLang="en-US" dirty="0"/>
              <a:t>沒有什麼差別 下一夜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DC53B2-87FC-FBF1-CF74-9B9E3E2E8E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618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C325-1FDC-53A2-A093-C0833CA2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AD5384-DF48-AD4B-D29B-92020CF7F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9E6CDA-CAC3-860E-DF38-D9D7D2A5E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1" lang="zh-TW" altLang="en-US" dirty="0"/>
              <a:t>不過細微來看可以知道哪些地方被區分出來 想試在</a:t>
            </a:r>
            <a:r>
              <a:rPr lang="zh-TW" altLang="zh-TW" dirty="0"/>
              <a:t>第</a:t>
            </a:r>
            <a:r>
              <a:rPr lang="en-US" altLang="zh-TW" dirty="0"/>
              <a:t>1</a:t>
            </a:r>
            <a:r>
              <a:rPr lang="zh-TW" altLang="zh-TW" dirty="0"/>
              <a:t>號染色體短臂，第 </a:t>
            </a:r>
            <a:r>
              <a:rPr lang="en-US" altLang="zh-TW" dirty="0"/>
              <a:t>3</a:t>
            </a:r>
            <a:r>
              <a:rPr lang="zh-TW" altLang="zh-TW" dirty="0"/>
              <a:t> 區域、第 </a:t>
            </a:r>
            <a:r>
              <a:rPr lang="en-US" altLang="zh-TW" dirty="0"/>
              <a:t>6</a:t>
            </a:r>
            <a:r>
              <a:rPr lang="zh-TW" altLang="zh-TW" dirty="0"/>
              <a:t>條帶、第 </a:t>
            </a:r>
            <a:r>
              <a:rPr lang="en-US" altLang="zh-TW" dirty="0"/>
              <a:t>3</a:t>
            </a:r>
            <a:r>
              <a:rPr lang="zh-TW" altLang="zh-TW" dirty="0"/>
              <a:t>條</a:t>
            </a:r>
            <a:r>
              <a:rPr lang="zh-TW" altLang="en-US" dirty="0"/>
              <a:t>次</a:t>
            </a:r>
            <a:r>
              <a:rPr lang="zh-TW" altLang="zh-TW" dirty="0"/>
              <a:t>帶</a:t>
            </a:r>
            <a:endParaRPr lang="zh-TW" altLang="en-US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5FC83A-090E-38D7-9D62-C8D01BA45B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2695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0452-70DD-FB3F-A69A-757C2DAB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2996DC-2129-6F71-F59F-DAEB81FF5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C9838E-E439-7885-2E5E-3D715D189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利用</a:t>
            </a:r>
            <a:r>
              <a:rPr kumimoji="1" lang="en-US" altLang="zh-TW" dirty="0"/>
              <a:t>10</a:t>
            </a:r>
            <a:r>
              <a:rPr kumimoji="1" lang="zh-TW" altLang="en-US" dirty="0"/>
              <a:t>個人的</a:t>
            </a:r>
            <a:r>
              <a:rPr kumimoji="1" lang="en-US" altLang="zh-TW" dirty="0"/>
              <a:t>raw data</a:t>
            </a:r>
            <a:r>
              <a:rPr kumimoji="1" lang="zh-TW" altLang="en-US" dirty="0"/>
              <a:t>欄位跟我人工校正的資料進行比對</a:t>
            </a:r>
            <a:endParaRPr kumimoji="1" lang="en-US" altLang="zh-TW" dirty="0"/>
          </a:p>
          <a:p>
            <a:r>
              <a:rPr kumimoji="1" lang="zh-TW" altLang="en-US" dirty="0"/>
              <a:t>發現</a:t>
            </a:r>
            <a:r>
              <a:rPr kumimoji="1" lang="en-US" altLang="zh-TW" dirty="0"/>
              <a:t>FLD </a:t>
            </a:r>
            <a:r>
              <a:rPr kumimoji="1" lang="zh-TW" altLang="en-US" dirty="0"/>
              <a:t>到</a:t>
            </a:r>
            <a:r>
              <a:rPr kumimoji="1" lang="en-US" altLang="zh-TW" dirty="0"/>
              <a:t>HOMRO</a:t>
            </a:r>
            <a:r>
              <a:rPr kumimoji="1" lang="zh-TW" altLang="en-US" dirty="0"/>
              <a:t>四個欄位還是有沒對上的</a:t>
            </a:r>
            <a:endParaRPr kumimoji="1" lang="en-US" altLang="zh-TW" dirty="0"/>
          </a:p>
          <a:p>
            <a:r>
              <a:rPr kumimoji="1" lang="zh-TW" altLang="en-US" dirty="0"/>
              <a:t>且原始的檔案中出現非數值的結果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0F3B03-B6D2-78CE-E7BC-8035C0795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312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1095-1B49-2992-642D-EEA1CBB9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B6ABCE1-23F0-348C-1446-2059BB28F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B66DC5-07C8-8F4C-8EB1-056D8EFC2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所以用</a:t>
            </a:r>
            <a:r>
              <a:rPr kumimoji="1" lang="en-US" altLang="zh-TW" dirty="0"/>
              <a:t>python</a:t>
            </a:r>
            <a:r>
              <a:rPr kumimoji="1" lang="zh-TW" altLang="en-US" dirty="0"/>
              <a:t>針對其中一個人的欄位去看</a:t>
            </a:r>
            <a:endParaRPr kumimoji="1" lang="en-US" altLang="zh-TW" dirty="0"/>
          </a:p>
          <a:p>
            <a:r>
              <a:rPr kumimoji="1" lang="zh-TW" altLang="en-US" dirty="0"/>
              <a:t>就有發現</a:t>
            </a:r>
            <a:r>
              <a:rPr lang="zh-TW" altLang="zh-TW" dirty="0"/>
              <a:t>FLD</a:t>
            </a:r>
            <a:r>
              <a:rPr lang="zh-TW" altLang="en-US" dirty="0"/>
              <a:t> </a:t>
            </a:r>
            <a:r>
              <a:rPr lang="zh-TW" altLang="zh-TW" dirty="0"/>
              <a:t>HomFLD HomRO </a:t>
            </a:r>
            <a:r>
              <a:rPr lang="zh-TW" altLang="en-US" dirty="0"/>
              <a:t> 跟</a:t>
            </a:r>
            <a:r>
              <a:rPr lang="zh-TW" altLang="zh-TW" dirty="0">
                <a:highlight>
                  <a:srgbClr val="FFFF00"/>
                </a:highlight>
              </a:rPr>
              <a:t>ConversionType</a:t>
            </a:r>
            <a:r>
              <a:rPr lang="zh-TW" altLang="en-US" dirty="0">
                <a:highlight>
                  <a:srgbClr val="FFFF00"/>
                </a:highlight>
              </a:rPr>
              <a:t>有關 </a:t>
            </a:r>
            <a:endParaRPr lang="en-US" altLang="zh-TW" dirty="0">
              <a:highlight>
                <a:srgbClr val="FFFF00"/>
              </a:highlight>
            </a:endParaRPr>
          </a:p>
          <a:p>
            <a:r>
              <a:rPr kumimoji="1" lang="zh-TW" altLang="en-US" dirty="0"/>
              <a:t>會受到他</a:t>
            </a:r>
            <a:r>
              <a:rPr kumimoji="1" lang="en-US" altLang="zh-TW" dirty="0"/>
              <a:t>heterozygous homozygous</a:t>
            </a:r>
            <a:r>
              <a:rPr kumimoji="1" lang="zh-TW" altLang="en-US" dirty="0"/>
              <a:t>影響</a:t>
            </a:r>
            <a:r>
              <a:rPr kumimoji="1" lang="zh-TW" altLang="en-US" dirty="0">
                <a:highlight>
                  <a:srgbClr val="FFFF00"/>
                </a:highlight>
              </a:rPr>
              <a:t>像</a:t>
            </a:r>
            <a:endParaRPr kumimoji="1" lang="en-US" altLang="zh-TW" dirty="0">
              <a:highlight>
                <a:srgbClr val="FFFF00"/>
              </a:highlight>
            </a:endParaRPr>
          </a:p>
          <a:p>
            <a:r>
              <a:rPr kumimoji="1" lang="zh-TW" altLang="en-US" dirty="0">
                <a:highlight>
                  <a:srgbClr val="FFFF00"/>
                </a:highlight>
              </a:rPr>
              <a:t>是</a:t>
            </a:r>
            <a:r>
              <a:rPr lang="zh-TW" altLang="zh-TW" dirty="0">
                <a:highlight>
                  <a:srgbClr val="FFFF00"/>
                </a:highlight>
              </a:rPr>
              <a:t>HomFLD</a:t>
            </a:r>
            <a:r>
              <a:rPr lang="zh-TW" altLang="en-US" dirty="0">
                <a:highlight>
                  <a:srgbClr val="FFFF00"/>
                </a:highlight>
              </a:rPr>
              <a:t>無法比較</a:t>
            </a:r>
            <a:r>
              <a:rPr lang="zh-TW" altLang="zh-TW" dirty="0">
                <a:highlight>
                  <a:srgbClr val="FFFF00"/>
                </a:highlight>
              </a:rPr>
              <a:t>比較兩個 homozygous clusters</a:t>
            </a:r>
            <a:r>
              <a:rPr lang="zh-TW" altLang="en-US" dirty="0">
                <a:highlight>
                  <a:srgbClr val="FFFF00"/>
                </a:highlight>
              </a:rPr>
              <a:t> 就會呈現空值 非數值的情況 我一開始都把他視為</a:t>
            </a:r>
            <a:r>
              <a:rPr lang="en-US" altLang="zh-TW" dirty="0">
                <a:highlight>
                  <a:srgbClr val="FFFF00"/>
                </a:highlight>
              </a:rPr>
              <a:t>missing</a:t>
            </a:r>
            <a:r>
              <a:rPr lang="zh-TW" altLang="en-US" dirty="0">
                <a:highlight>
                  <a:srgbClr val="FFFF00"/>
                </a:highlight>
              </a:rPr>
              <a:t>或位移</a:t>
            </a:r>
            <a:endParaRPr lang="en-US" altLang="zh-TW" dirty="0">
              <a:highlight>
                <a:srgbClr val="FFFF00"/>
              </a:highlight>
            </a:endParaRPr>
          </a:p>
          <a:p>
            <a:endParaRPr kumimoji="1" lang="en-US" altLang="zh-TW" dirty="0">
              <a:highlight>
                <a:srgbClr val="FFFF00"/>
              </a:highlight>
            </a:endParaRPr>
          </a:p>
          <a:p>
            <a:r>
              <a:rPr kumimoji="1" lang="zh-TW" altLang="en-US" dirty="0">
                <a:highlight>
                  <a:srgbClr val="FFFF00"/>
                </a:highlight>
              </a:rPr>
              <a:t>但這個部分我先保留 想說用其他欄位像是</a:t>
            </a:r>
            <a:r>
              <a:rPr kumimoji="1" lang="en-US" altLang="zh-TW" dirty="0">
                <a:highlight>
                  <a:srgbClr val="FFFF00"/>
                </a:highlight>
              </a:rPr>
              <a:t>allele a allele b</a:t>
            </a:r>
            <a:r>
              <a:rPr kumimoji="1" lang="zh-TW" altLang="en-US" dirty="0">
                <a:highlight>
                  <a:srgbClr val="FFFF00"/>
                </a:highlight>
              </a:rPr>
              <a:t>這些根我上色比較有關的欄位去檢查</a:t>
            </a:r>
            <a:endParaRPr kumimoji="1" lang="en-US" altLang="zh-TW" dirty="0">
              <a:highlight>
                <a:srgbClr val="FFFF00"/>
              </a:highlight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發現其實在原本的</a:t>
            </a:r>
            <a:r>
              <a:rPr lang="zh-TW" altLang="zh-TW" dirty="0"/>
              <a:t> 680,865 個共同 SNP annotation 中，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dirty="0"/>
              <a:t>最後只</a:t>
            </a:r>
            <a:r>
              <a:rPr lang="zh-TW" altLang="zh-TW" dirty="0"/>
              <a:t>有 3 個</a:t>
            </a:r>
            <a:r>
              <a:rPr lang="en-US" altLang="zh-TW" dirty="0" err="1"/>
              <a:t>snp</a:t>
            </a:r>
            <a:r>
              <a:rPr lang="zh-TW" altLang="en-US" dirty="0"/>
              <a:t>的</a:t>
            </a:r>
            <a:r>
              <a:rPr lang="zh-TW" altLang="zh-TW" dirty="0">
                <a:latin typeface="Courier New" panose="02070309020205020404" pitchFamily="49" charset="0"/>
              </a:rPr>
              <a:t>Chr_id</a:t>
            </a:r>
            <a:r>
              <a:rPr lang="zh-TW" altLang="zh-TW" dirty="0"/>
              <a:t> 和 </a:t>
            </a:r>
            <a:r>
              <a:rPr lang="zh-TW" altLang="zh-TW" dirty="0">
                <a:latin typeface="Courier New" panose="02070309020205020404" pitchFamily="49" charset="0"/>
              </a:rPr>
              <a:t>Start</a:t>
            </a:r>
            <a:r>
              <a:rPr lang="zh-TW" altLang="zh-TW" dirty="0"/>
              <a:t> 不同</a:t>
            </a:r>
            <a:r>
              <a:rPr lang="zh-TW" altLang="en-US" dirty="0"/>
              <a:t>   這個部分可能是因為我是用補值的方式 所以還要再確認一下 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672E4-2F9B-8035-0930-B10A0DFA6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2167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F3CC-DBA9-C23C-72D5-BE9389C4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53F58FE-BAF9-62FA-C534-127496A99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5AEFE6-DBF5-3C17-3D49-FC190839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r>
              <a:rPr lang="zh-TW" altLang="en-US" dirty="0"/>
              <a:t>目前是先排除</a:t>
            </a:r>
            <a:r>
              <a:rPr lang="en-US" altLang="zh-TW" dirty="0"/>
              <a:t>y</a:t>
            </a:r>
            <a:r>
              <a:rPr lang="zh-TW" altLang="en-US" dirty="0"/>
              <a:t>染色體 </a:t>
            </a:r>
            <a:endParaRPr lang="en-US" altLang="zh-TW" dirty="0"/>
          </a:p>
          <a:p>
            <a:r>
              <a:rPr lang="zh-TW" altLang="en-US" dirty="0"/>
              <a:t>以及估計</a:t>
            </a:r>
            <a:r>
              <a:rPr lang="en-US" altLang="zh-TW" dirty="0"/>
              <a:t>SNP</a:t>
            </a:r>
            <a:r>
              <a:rPr lang="zh-TW" altLang="en-US" dirty="0"/>
              <a:t>的連鎖不平衡</a:t>
            </a:r>
            <a:endParaRPr lang="en-US" altLang="zh-TW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zh-TW" dirty="0"/>
              <a:t>再依照 LD block 重新安排 SNP 在影像中的相對位置。這樣可以讓彼此高度相關的 SNP 在影像上更靠近，進一步保留 genomic dependency pattern</a:t>
            </a:r>
            <a:endParaRPr kumimoji="1"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但因為目前只有</a:t>
            </a:r>
            <a:r>
              <a:rPr lang="en-US" altLang="zh-TW" dirty="0"/>
              <a:t>10</a:t>
            </a:r>
            <a:r>
              <a:rPr lang="zh-TW" altLang="en-US" dirty="0"/>
              <a:t>個樣本 所以</a:t>
            </a:r>
            <a:r>
              <a:rPr lang="en-US" altLang="zh-TW" dirty="0"/>
              <a:t>plink</a:t>
            </a:r>
          </a:p>
          <a:p>
            <a:r>
              <a:rPr lang="zh-TW" altLang="zh-TW" dirty="0"/>
              <a:t>利用完整的 240 位樣本 genotype 資料，估計局部 SNP 的 LD 結構，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6330A4-4947-2BDA-A9DA-452BB7F4B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7431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490a16415b2ac98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490a16415b2ac98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490a16415b2ac98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01FF-1C7D-2358-030F-D6DC7D99B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78E36E-0642-4B36-3FA9-ADA7F9367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2FF72B-B862-6872-5B1C-995EC9BBA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在目前第一版影像中，我是以 AA、AB、BB 與 NoCall 作為基礎，並依照染色體與 genomic position 建立全基因組影像。</a:t>
            </a:r>
            <a:endParaRPr lang="en-US" altLang="zh-TW" dirty="0"/>
          </a:p>
          <a:p>
            <a:r>
              <a:rPr lang="zh-TW" altLang="zh-TW" dirty="0"/>
              <a:t>後續我規劃三個方向進一步改良影像表徵。</a:t>
            </a:r>
          </a:p>
          <a:p>
            <a:r>
              <a:rPr lang="zh-TW" altLang="zh-TW" dirty="0"/>
              <a:t>第一個方向是 nucleotide-based encoding，也就是不再只使用 AA、AB、BB，而是結合 </a:t>
            </a:r>
            <a:r>
              <a:rPr lang="zh-TW" altLang="zh-TW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Allele_A</a:t>
            </a:r>
            <a:r>
              <a:rPr lang="zh-TW" altLang="zh-TW" dirty="0"/>
              <a:t>、</a:t>
            </a:r>
            <a:r>
              <a:rPr lang="zh-TW" altLang="zh-TW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Allele_B</a:t>
            </a:r>
            <a:r>
              <a:rPr lang="zh-TW" altLang="zh-TW" dirty="0"/>
              <a:t> 和 genotype call，還原每個 SNP 的實際 nucleotide genotype，例如 A/A、A/G 或 G/G。這樣可以保留更多等位基因層級的資訊。</a:t>
            </a:r>
          </a:p>
          <a:p>
            <a:r>
              <a:rPr lang="zh-TW" altLang="zh-TW" dirty="0"/>
              <a:t>第二個方向是 cytoband-aware layout。除了維持 chromosome 和 position 的順序外，我希望將 SNP 依照 cytoband 分區排列，讓影像的空間結構更符合染色體本身的區域特徵，而不只是單純地把線性序列折成正方形。</a:t>
            </a:r>
          </a:p>
          <a:p>
            <a:r>
              <a:rPr lang="zh-TW" altLang="zh-TW" dirty="0"/>
              <a:t>第三個方向是 LD-aware layout。我計畫利用完整的 240 位樣本 genotype 資料，估計局部 SNP 的 LD 結構，再依照 LD block 重新安排 SNP 在影像中的相對位置。這樣可以讓彼此高度相關的 SNP 在影像上更靠近，進一步保留 genomic dependency pattern。</a:t>
            </a:r>
          </a:p>
          <a:p>
            <a:r>
              <a:rPr lang="zh-TW" altLang="zh-TW" dirty="0"/>
              <a:t>因為這三個方向的複雜度不同，我的規劃順序會是先做 nucleotide encoding，再做 cytoband-aware layout，最後才進一步發展 LD-aware layout。也就是從改良單一 pixel 的生物資訊開始，再逐步優化整體影像的結構。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EF16FC-F1B4-7B8F-77DF-F24B8375A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741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804.0528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>
          <a:extLst>
            <a:ext uri="{FF2B5EF4-FFF2-40B4-BE49-F238E27FC236}">
              <a16:creationId xmlns:a16="http://schemas.microsoft.com/office/drawing/2014/main" id="{732EDE17-9B56-D4D1-70FA-02351E48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0">
            <a:extLst>
              <a:ext uri="{FF2B5EF4-FFF2-40B4-BE49-F238E27FC236}">
                <a16:creationId xmlns:a16="http://schemas.microsoft.com/office/drawing/2014/main" id="{694FBA3D-3B47-90A8-064D-DC42B80F10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0745"/>
          <a:stretch/>
        </p:blipFill>
        <p:spPr>
          <a:xfrm>
            <a:off x="8014002" y="540000"/>
            <a:ext cx="842099" cy="8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>
            <a:extLst>
              <a:ext uri="{FF2B5EF4-FFF2-40B4-BE49-F238E27FC236}">
                <a16:creationId xmlns:a16="http://schemas.microsoft.com/office/drawing/2014/main" id="{E5F7A757-9985-3849-38C4-39E025490B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467"/>
          <a:stretch/>
        </p:blipFill>
        <p:spPr>
          <a:xfrm>
            <a:off x="8856100" y="622900"/>
            <a:ext cx="2843900" cy="6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0">
            <a:extLst>
              <a:ext uri="{FF2B5EF4-FFF2-40B4-BE49-F238E27FC236}">
                <a16:creationId xmlns:a16="http://schemas.microsoft.com/office/drawing/2014/main" id="{0F97C9CB-ACF9-403F-87D8-8DB2715C2DF2}"/>
              </a:ext>
            </a:extLst>
          </p:cNvPr>
          <p:cNvSpPr/>
          <p:nvPr/>
        </p:nvSpPr>
        <p:spPr>
          <a:xfrm>
            <a:off x="-3322025" y="0"/>
            <a:ext cx="6249300" cy="68580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1;p13">
            <a:extLst>
              <a:ext uri="{FF2B5EF4-FFF2-40B4-BE49-F238E27FC236}">
                <a16:creationId xmlns:a16="http://schemas.microsoft.com/office/drawing/2014/main" id="{A48DBB92-4DA9-0E32-9942-B30BEE3CFD4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64000" y="2908800"/>
            <a:ext cx="59289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SUMMER INTERN</a:t>
            </a:r>
            <a:endParaRPr sz="4800" b="1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5" name="Google Shape;92;p13">
            <a:extLst>
              <a:ext uri="{FF2B5EF4-FFF2-40B4-BE49-F238E27FC236}">
                <a16:creationId xmlns:a16="http://schemas.microsoft.com/office/drawing/2014/main" id="{A6382735-05F7-721C-8FFF-58117A614BB0}"/>
              </a:ext>
            </a:extLst>
          </p:cNvPr>
          <p:cNvSpPr txBox="1">
            <a:spLocks/>
          </p:cNvSpPr>
          <p:nvPr/>
        </p:nvSpPr>
        <p:spPr>
          <a:xfrm>
            <a:off x="783093" y="1912050"/>
            <a:ext cx="3314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20</a:t>
            </a:r>
            <a:endParaRPr lang="zh-TW" altLang="en-US" sz="12000" b="1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r>
              <a:rPr lang="zh-TW" altLang="en-US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   </a:t>
            </a:r>
            <a:r>
              <a:rPr lang="en-US" altLang="zh-TW" sz="12000" b="1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26</a:t>
            </a:r>
            <a:endParaRPr lang="zh-TW" altLang="en-US" sz="12000" b="1" dirty="0"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8E93AB0-F3DC-5CF7-F766-E1749CF30E3B}"/>
              </a:ext>
            </a:extLst>
          </p:cNvPr>
          <p:cNvSpPr txBox="1"/>
          <p:nvPr/>
        </p:nvSpPr>
        <p:spPr>
          <a:xfrm>
            <a:off x="7731775" y="5321300"/>
            <a:ext cx="5446800" cy="144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Presenter: Tsai-Hsuan,Lin</a:t>
            </a:r>
            <a:r>
              <a:rPr lang="en-US" alt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(Sheena)</a:t>
            </a:r>
            <a:endParaRPr dirty="0">
              <a:solidFill>
                <a:srgbClr val="22222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Advisor: Prof. Hsuan-Yu Chen  </a:t>
            </a:r>
            <a:endParaRPr dirty="0">
              <a:solidFill>
                <a:srgbClr val="22222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zh-TW" dirty="0">
                <a:solidFill>
                  <a:srgbClr val="22222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Institute of Statistical Science Academia Sinica</a:t>
            </a:r>
            <a:endParaRPr dirty="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1905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275800" y="540000"/>
            <a:ext cx="164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Outline</a:t>
            </a:r>
            <a:endParaRPr sz="360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680875" y="2272068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733525" y="2318631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4718850" y="2177865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Brief</a:t>
            </a:r>
            <a:r>
              <a:rPr lang="zh-TW" altLang="en-US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  </a:t>
            </a:r>
            <a:r>
              <a:rPr lang="en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 background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680875" y="3194643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3733525" y="3241206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680875" y="4117218"/>
            <a:ext cx="584100" cy="5460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733525" y="4163781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sz="3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" name="Google Shape;132;p15">
            <a:extLst>
              <a:ext uri="{FF2B5EF4-FFF2-40B4-BE49-F238E27FC236}">
                <a16:creationId xmlns:a16="http://schemas.microsoft.com/office/drawing/2014/main" id="{C014B5D5-401E-9D70-32E0-9E991C0FA443}"/>
              </a:ext>
            </a:extLst>
          </p:cNvPr>
          <p:cNvSpPr txBox="1"/>
          <p:nvPr/>
        </p:nvSpPr>
        <p:spPr>
          <a:xfrm>
            <a:off x="4718850" y="3098326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 work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3" name="Google Shape;132;p15">
            <a:extLst>
              <a:ext uri="{FF2B5EF4-FFF2-40B4-BE49-F238E27FC236}">
                <a16:creationId xmlns:a16="http://schemas.microsoft.com/office/drawing/2014/main" id="{B3DF503C-0338-BED9-43E6-18E7677057A6}"/>
              </a:ext>
            </a:extLst>
          </p:cNvPr>
          <p:cNvSpPr txBox="1"/>
          <p:nvPr/>
        </p:nvSpPr>
        <p:spPr>
          <a:xfrm>
            <a:off x="4718850" y="4013767"/>
            <a:ext cx="2754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4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Future  work</a:t>
            </a:r>
            <a:endParaRPr sz="2400" dirty="0">
              <a:solidFill>
                <a:schemeClr val="dk1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1E19870F-C163-2EE9-A49D-2F38451A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FA1A6CCE-B64D-770E-0E09-8779B10B1E00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2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19AF773-E42E-0B2B-E6B5-69F6CD8F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010951"/>
              </p:ext>
            </p:extLst>
          </p:nvPr>
        </p:nvGraphicFramePr>
        <p:xfrm>
          <a:off x="258353" y="1600817"/>
          <a:ext cx="3802238" cy="4773286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802238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6040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1E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421287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B44ED16-2C0C-5200-D9A2-CD28B5549D8F}"/>
              </a:ext>
            </a:extLst>
          </p:cNvPr>
          <p:cNvSpPr txBox="1"/>
          <p:nvPr/>
        </p:nvSpPr>
        <p:spPr>
          <a:xfrm>
            <a:off x="1094838" y="1600817"/>
            <a:ext cx="21292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Data preprocessing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CE21F5C4-1617-852A-F32F-19CEAC957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55690"/>
              </p:ext>
            </p:extLst>
          </p:nvPr>
        </p:nvGraphicFramePr>
        <p:xfrm>
          <a:off x="4221679" y="1600818"/>
          <a:ext cx="4198640" cy="2690631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419864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234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216718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5A05B7EF-BD8D-4565-C5BE-EE187EA79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908586"/>
              </p:ext>
            </p:extLst>
          </p:nvPr>
        </p:nvGraphicFramePr>
        <p:xfrm>
          <a:off x="8577996" y="1602076"/>
          <a:ext cx="3352240" cy="2689373"/>
        </p:xfrm>
        <a:graphic>
          <a:graphicData uri="http://schemas.openxmlformats.org/drawingml/2006/table">
            <a:tbl>
              <a:tblPr firstRow="1" bandRow="1">
                <a:tableStyleId>{A546EFF1-D363-4814-AD40-36413BC7005B}</a:tableStyleId>
              </a:tblPr>
              <a:tblGrid>
                <a:gridCol w="3352240">
                  <a:extLst>
                    <a:ext uri="{9D8B030D-6E8A-4147-A177-3AD203B41FA5}">
                      <a16:colId xmlns:a16="http://schemas.microsoft.com/office/drawing/2014/main" val="856484511"/>
                    </a:ext>
                  </a:extLst>
                </a:gridCol>
              </a:tblGrid>
              <a:tr h="52423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F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51488"/>
                  </a:ext>
                </a:extLst>
              </a:tr>
              <a:tr h="216513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4384256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828A4CE1-0F76-EEFE-56DA-09C311FCDBA7}"/>
              </a:ext>
            </a:extLst>
          </p:cNvPr>
          <p:cNvSpPr txBox="1"/>
          <p:nvPr/>
        </p:nvSpPr>
        <p:spPr>
          <a:xfrm>
            <a:off x="5170527" y="1731722"/>
            <a:ext cx="20673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buSzPts val="1800"/>
            </a:pPr>
            <a:r>
              <a:rPr lang="en" altLang="zh-TW" sz="1600" b="1" dirty="0">
                <a:solidFill>
                  <a:schemeClr val="tx1"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CNN model design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FCCA735-0F1E-793E-1B89-84E296E8BD52}"/>
              </a:ext>
            </a:extLst>
          </p:cNvPr>
          <p:cNvSpPr txBox="1"/>
          <p:nvPr/>
        </p:nvSpPr>
        <p:spPr>
          <a:xfrm>
            <a:off x="8795727" y="1731722"/>
            <a:ext cx="2916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buSzPts val="1800"/>
            </a:pPr>
            <a:r>
              <a:rPr lang="en" altLang="zh-TW" sz="1600" b="1" dirty="0">
                <a:solidFill>
                  <a:schemeClr val="tx1"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Evaluation and Interpretation</a:t>
            </a:r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7CEE1095-04E9-6FFD-D492-8323AE915F92}"/>
              </a:ext>
            </a:extLst>
          </p:cNvPr>
          <p:cNvSpPr/>
          <p:nvPr/>
        </p:nvSpPr>
        <p:spPr>
          <a:xfrm>
            <a:off x="3914530" y="1697469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向右箭號 28">
            <a:extLst>
              <a:ext uri="{FF2B5EF4-FFF2-40B4-BE49-F238E27FC236}">
                <a16:creationId xmlns:a16="http://schemas.microsoft.com/office/drawing/2014/main" id="{FAA9D01C-DBE5-D30E-0AC0-A04810C9B846}"/>
              </a:ext>
            </a:extLst>
          </p:cNvPr>
          <p:cNvSpPr/>
          <p:nvPr/>
        </p:nvSpPr>
        <p:spPr>
          <a:xfrm>
            <a:off x="8277471" y="1689247"/>
            <a:ext cx="563683" cy="388568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57D6AE4-2E84-BC34-1131-99E72DD504C2}"/>
              </a:ext>
            </a:extLst>
          </p:cNvPr>
          <p:cNvSpPr txBox="1"/>
          <p:nvPr/>
        </p:nvSpPr>
        <p:spPr>
          <a:xfrm>
            <a:off x="161005" y="2098851"/>
            <a:ext cx="3894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Encoding strategy :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1DC6C359-2325-5CEC-E49F-CD3D45CB748A}"/>
              </a:ext>
            </a:extLst>
          </p:cNvPr>
          <p:cNvSpPr txBox="1"/>
          <p:nvPr/>
        </p:nvSpPr>
        <p:spPr>
          <a:xfrm>
            <a:off x="169524" y="2485449"/>
            <a:ext cx="4455378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QC:LD, MAF, HWE, call rate filtering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Missing genotype -&gt; imputation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Train / validation / test split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5FAC32B-E682-A250-0856-E3081E2EA3D8}"/>
              </a:ext>
            </a:extLst>
          </p:cNvPr>
          <p:cNvSpPr txBox="1"/>
          <p:nvPr/>
        </p:nvSpPr>
        <p:spPr>
          <a:xfrm>
            <a:off x="169524" y="3424483"/>
            <a:ext cx="28154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Image construction :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5E39F0C-91D2-2026-1312-FD72443F922D}"/>
              </a:ext>
            </a:extLst>
          </p:cNvPr>
          <p:cNvSpPr txBox="1"/>
          <p:nvPr/>
        </p:nvSpPr>
        <p:spPr>
          <a:xfrm>
            <a:off x="4235644" y="2501830"/>
            <a:ext cx="4198639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Single-channel /multi-channel CNN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Hyperparameter  tuning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Regularization to prevent overfitting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Multi-input CNN for chromosome-level images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AD2A083-1CE9-5713-8332-697F6F5D0488}"/>
              </a:ext>
            </a:extLst>
          </p:cNvPr>
          <p:cNvSpPr txBox="1"/>
          <p:nvPr/>
        </p:nvSpPr>
        <p:spPr>
          <a:xfrm>
            <a:off x="8559313" y="2529738"/>
            <a:ext cx="3352241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AUC, sensitivity, specificity, F1-score 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  <a:alpha val="3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Map important pixels back to SNPs / genes</a:t>
            </a:r>
          </a:p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en" altLang="zh-TW" dirty="0">
              <a:solidFill>
                <a:schemeClr val="accent5">
                  <a:lumMod val="50000"/>
                  <a:alpha val="3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41F2ABD-638C-DF86-C204-23A1544B1DF5}"/>
              </a:ext>
            </a:extLst>
          </p:cNvPr>
          <p:cNvSpPr txBox="1"/>
          <p:nvPr/>
        </p:nvSpPr>
        <p:spPr>
          <a:xfrm>
            <a:off x="169524" y="3887802"/>
            <a:ext cx="3802238" cy="168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multi-channel encoding: each SNP is mapped to one pixel position</a:t>
            </a:r>
          </a:p>
          <a:p>
            <a:pPr marL="4000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" altLang="zh-TW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A/T/C/G channels represent diploid allele counts, allowing the image to preserve nucleotide identity and genotype dosage.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2CA65AF-06FB-F962-931D-9AB7BBB66E11}"/>
                  </a:ext>
                </a:extLst>
              </p:cNvPr>
              <p:cNvSpPr txBox="1"/>
              <p:nvPr/>
            </p:nvSpPr>
            <p:spPr>
              <a:xfrm>
                <a:off x="477217" y="5778824"/>
                <a:ext cx="2507759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𝑆𝑁𝑃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​→</a:t>
                </a:r>
                <a:r>
                  <a:rPr lang="en-US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​​,</a:t>
                </a:r>
                <a:r>
                  <a:rPr lang="zh-TW" alt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​​]</a:t>
                </a:r>
                <a:r>
                  <a:rPr lang="en-US" altLang="zh-TW" dirty="0">
                    <a:solidFill>
                      <a:schemeClr val="accent5">
                        <a:lumMod val="75000"/>
                      </a:schemeClr>
                    </a:solidFill>
                  </a:rPr>
                  <a:t>, </a:t>
                </a:r>
                <a:endParaRPr lang="zh-TW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92CA65AF-06FB-F962-931D-9AB7BBB66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17" y="5778824"/>
                <a:ext cx="2507759" cy="325089"/>
              </a:xfrm>
              <a:prstGeom prst="rect">
                <a:avLst/>
              </a:prstGeom>
              <a:blipFill>
                <a:blip r:embed="rId4"/>
                <a:stretch>
                  <a:fillRect t="-7692"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E127A32B-356C-163C-AA08-3E779D318437}"/>
              </a:ext>
            </a:extLst>
          </p:cNvPr>
          <p:cNvSpPr txBox="1"/>
          <p:nvPr/>
        </p:nvSpPr>
        <p:spPr>
          <a:xfrm>
            <a:off x="2345756" y="5589769"/>
            <a:ext cx="1337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egreya"/>
                <a:sym typeface="Alegreya"/>
              </a:rPr>
              <a:t>AA =[2, 0, 0, 0]</a:t>
            </a:r>
          </a:p>
          <a:p>
            <a:r>
              <a:rPr kumimoji="1"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Alegreya"/>
              </a:rPr>
              <a:t>AG =[1, 0, 0, 1]</a:t>
            </a:r>
          </a:p>
          <a:p>
            <a:r>
              <a:rPr kumimoji="1" lang="en" altLang="zh-TW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Alegreya"/>
              </a:rPr>
              <a:t>GG =[0, 0, 0, 2]</a:t>
            </a:r>
          </a:p>
          <a:p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026B6E6-E9E1-0AD5-4BFA-EF118AC0F897}"/>
              </a:ext>
            </a:extLst>
          </p:cNvPr>
          <p:cNvSpPr txBox="1"/>
          <p:nvPr/>
        </p:nvSpPr>
        <p:spPr>
          <a:xfrm>
            <a:off x="4157939" y="4307830"/>
            <a:ext cx="7477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zh-TW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convolutional neural network</a:t>
            </a:r>
            <a:r>
              <a:rPr lang="en-US" altLang="zh-TW" sz="1050" b="0" i="0" dirty="0">
                <a:solidFill>
                  <a:srgbClr val="474747">
                    <a:alpha val="30000"/>
                  </a:srgbClr>
                </a:solidFill>
                <a:effectLst/>
                <a:latin typeface="Arial" panose="020B0604020202020204" pitchFamily="34" charset="0"/>
              </a:rPr>
              <a:t>, CNN</a:t>
            </a:r>
            <a:endParaRPr lang="zh-TW" altLang="en-US" dirty="0">
              <a:solidFill>
                <a:srgbClr val="000000">
                  <a:alpha val="30000"/>
                </a:srgbClr>
              </a:solidFill>
            </a:endParaRPr>
          </a:p>
        </p:txBody>
      </p:sp>
      <p:grpSp>
        <p:nvGrpSpPr>
          <p:cNvPr id="3" name="Google Shape;227;p20">
            <a:extLst>
              <a:ext uri="{FF2B5EF4-FFF2-40B4-BE49-F238E27FC236}">
                <a16:creationId xmlns:a16="http://schemas.microsoft.com/office/drawing/2014/main" id="{2056E10D-DE4E-D43B-F2AE-654666AF1645}"/>
              </a:ext>
            </a:extLst>
          </p:cNvPr>
          <p:cNvGrpSpPr/>
          <p:nvPr/>
        </p:nvGrpSpPr>
        <p:grpSpPr>
          <a:xfrm>
            <a:off x="492000" y="540000"/>
            <a:ext cx="2856111" cy="546000"/>
            <a:chOff x="492000" y="540000"/>
            <a:chExt cx="2856111" cy="546000"/>
          </a:xfrm>
        </p:grpSpPr>
        <p:sp>
          <p:nvSpPr>
            <p:cNvPr id="4" name="Google Shape;228;p20">
              <a:extLst>
                <a:ext uri="{FF2B5EF4-FFF2-40B4-BE49-F238E27FC236}">
                  <a16:creationId xmlns:a16="http://schemas.microsoft.com/office/drawing/2014/main" id="{A82CD406-F42E-3E3C-466E-22F3F4C8ABB7}"/>
                </a:ext>
              </a:extLst>
            </p:cNvPr>
            <p:cNvSpPr/>
            <p:nvPr/>
          </p:nvSpPr>
          <p:spPr>
            <a:xfrm>
              <a:off x="492000" y="540000"/>
              <a:ext cx="2856111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9;p20">
              <a:extLst>
                <a:ext uri="{FF2B5EF4-FFF2-40B4-BE49-F238E27FC236}">
                  <a16:creationId xmlns:a16="http://schemas.microsoft.com/office/drawing/2014/main" id="{E38AACD3-608A-8741-C5C7-5B4597467124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230;p20">
            <a:extLst>
              <a:ext uri="{FF2B5EF4-FFF2-40B4-BE49-F238E27FC236}">
                <a16:creationId xmlns:a16="http://schemas.microsoft.com/office/drawing/2014/main" id="{CFAD5287-55C1-5DCC-999C-E5420B89D85A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Google Shape;231;p20">
            <a:extLst>
              <a:ext uri="{FF2B5EF4-FFF2-40B4-BE49-F238E27FC236}">
                <a16:creationId xmlns:a16="http://schemas.microsoft.com/office/drawing/2014/main" id="{3C87985D-4CB8-7CB4-E797-E99A942E0FA8}"/>
              </a:ext>
            </a:extLst>
          </p:cNvPr>
          <p:cNvSpPr txBox="1"/>
          <p:nvPr/>
        </p:nvSpPr>
        <p:spPr>
          <a:xfrm>
            <a:off x="1161826" y="483897"/>
            <a:ext cx="223893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Brief   background</a:t>
            </a:r>
          </a:p>
        </p:txBody>
      </p:sp>
    </p:spTree>
    <p:extLst>
      <p:ext uri="{BB962C8B-B14F-4D97-AF65-F5344CB8AC3E}">
        <p14:creationId xmlns:p14="http://schemas.microsoft.com/office/powerpoint/2010/main" val="2544420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E155E99A-4584-94B0-6036-CC680CBC4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38B5E5D3-5F2E-7BC5-DE81-4E8CD7D52FD4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F29B075A-D0EE-FCC1-EABC-552DA96F48E3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5680E210-AA43-6DFF-DDF1-13629716C8AE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2CBD9012-0C24-7754-24DB-5733C38D8069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D6605507-67DE-C9EF-28DF-A9E955AFF104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F52D667F-E56C-89EA-2407-027628287740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2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EDDCFAF-A316-21EE-BF8F-343CC7C6B1B1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01E32331-02F6-DC57-8CA3-33AFF0F22D8C}"/>
              </a:ext>
            </a:extLst>
          </p:cNvPr>
          <p:cNvGrpSpPr/>
          <p:nvPr/>
        </p:nvGrpSpPr>
        <p:grpSpPr>
          <a:xfrm>
            <a:off x="630353" y="1176760"/>
            <a:ext cx="11118735" cy="4540711"/>
            <a:chOff x="1076100" y="1359901"/>
            <a:chExt cx="10257504" cy="4138198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F7FEFFA6-6A09-2ACC-D9DA-F3D622454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5000"/>
            </a:blip>
            <a:srcRect l="17511" t="143" r="10067" b="49994"/>
            <a:stretch>
              <a:fillRect/>
            </a:stretch>
          </p:blipFill>
          <p:spPr>
            <a:xfrm>
              <a:off x="1076100" y="1525540"/>
              <a:ext cx="10257504" cy="3972559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E962725-9A3A-6605-DE2B-4C297416E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9682" y="1359901"/>
              <a:ext cx="5690690" cy="3972559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4CFC7A7-2D06-C2F3-EED9-42CAE743CA98}"/>
                </a:ext>
              </a:extLst>
            </p:cNvPr>
            <p:cNvSpPr txBox="1"/>
            <p:nvPr/>
          </p:nvSpPr>
          <p:spPr>
            <a:xfrm>
              <a:off x="4407873" y="3453041"/>
              <a:ext cx="212926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DNA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55A6F53D-3410-757B-8C6D-242E26FAE399}"/>
                </a:ext>
              </a:extLst>
            </p:cNvPr>
            <p:cNvSpPr txBox="1"/>
            <p:nvPr/>
          </p:nvSpPr>
          <p:spPr>
            <a:xfrm>
              <a:off x="6022646" y="2152985"/>
              <a:ext cx="2129267" cy="84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 err="1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Colour</a:t>
              </a: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 image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4311AD6-7CE0-BCA0-0AAA-9417D6A14858}"/>
                </a:ext>
              </a:extLst>
            </p:cNvPr>
            <p:cNvSpPr txBox="1"/>
            <p:nvPr/>
          </p:nvSpPr>
          <p:spPr>
            <a:xfrm>
              <a:off x="7328844" y="3457995"/>
              <a:ext cx="2129267" cy="1346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CNN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DNA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+</a:t>
              </a:r>
            </a:p>
            <a:p>
              <a:pPr marL="114300" algn="ctr">
                <a:buSzPts val="1800"/>
              </a:pPr>
              <a:r>
                <a:rPr lang="en" altLang="zh-TW" sz="1800" b="1" dirty="0">
                  <a:solidFill>
                    <a:schemeClr val="tx1"/>
                  </a:solidFill>
                  <a:latin typeface="Alegreya"/>
                  <a:ea typeface="Alegreya"/>
                  <a:cs typeface="Alegreya"/>
                  <a:sym typeface="Alegreya"/>
                </a:rPr>
                <a:t>image</a:t>
              </a:r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1564E186-D56A-8FE2-D900-BAE8263722E3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</p:spTree>
    <p:extLst>
      <p:ext uri="{BB962C8B-B14F-4D97-AF65-F5344CB8AC3E}">
        <p14:creationId xmlns:p14="http://schemas.microsoft.com/office/powerpoint/2010/main" val="7484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16A9D105-960F-FD4A-FF87-DB51A42A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E9D7370F-93E8-9F2E-48A4-098D5F6271D3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606EB4C1-6555-33AD-27FF-450547B3DB05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4754E2F6-A995-5B3F-0E53-2CFFB095BFC8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6C17F874-CFE7-1E17-8AE4-98D4E471A398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52751FA5-3046-8490-1C65-0C4B1C6864A3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927D5D97-B36A-0F1D-8CD8-9E1339A87F8C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5E51030-8254-CD4A-C928-5F15CF32C700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CE32B98-DE92-FEFC-7631-D6611DFED98B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CA33786-7248-7B5B-43C5-EC3F51942D61}"/>
              </a:ext>
            </a:extLst>
          </p:cNvPr>
          <p:cNvSpPr txBox="1"/>
          <p:nvPr/>
        </p:nvSpPr>
        <p:spPr>
          <a:xfrm>
            <a:off x="433282" y="6469509"/>
            <a:ext cx="112044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Akkaya, 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Ü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. M., &amp; Kalkan, H. (2021). Classification of DNA sequences with k-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mers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 based vector representations. In 2021 Innovations in Intelligent Systems and Applications Conference (ASYU) (pp. 1–5). IEEE. https://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/10.1109/ASYU52992.2021.9599084</a:t>
            </a: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Zhang, Q., Zhu, L., &amp; Huang, D.-S. (2019). High-order convolutional neural network architecture for predicting DNA-protein binding sites. IEEE/ACM Transactions on Computational Biology and Bioinformatics, 16(4), 1184–1192.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/10.1109/TCBB.2018.2819660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62E5BD9-97F4-A374-1EAC-0756296B3FB3}"/>
              </a:ext>
            </a:extLst>
          </p:cNvPr>
          <p:cNvSpPr txBox="1"/>
          <p:nvPr/>
        </p:nvSpPr>
        <p:spPr>
          <a:xfrm>
            <a:off x="468121" y="1664978"/>
            <a:ext cx="10401960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1.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k-</a:t>
            </a:r>
            <a:r>
              <a:rPr lang="en" altLang="zh-TW" sz="1600" dirty="0" err="1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mer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representation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會影響模型學習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(Akkaya &amp; Kalkan, 2021) :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6F83A31-3972-78EE-93B5-92A275122047}"/>
              </a:ext>
            </a:extLst>
          </p:cNvPr>
          <p:cNvSpPr txBox="1"/>
          <p:nvPr/>
        </p:nvSpPr>
        <p:spPr>
          <a:xfrm>
            <a:off x="698375" y="2019989"/>
            <a:ext cx="10401960" cy="264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資料型態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-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 DNA sequence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有完整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sequence position)-&gt;</a:t>
            </a:r>
            <a:r>
              <a:rPr lang="en-US" altLang="zh-TW" sz="1600" u="sng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microarray data</a:t>
            </a:r>
            <a:r>
              <a:rPr lang="zh-TW" altLang="en-US" sz="1600" u="sng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做不了</a:t>
            </a:r>
            <a:endParaRPr lang="en" altLang="zh-TW" sz="1600" u="sng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 marL="114300">
              <a:lnSpc>
                <a:spcPct val="150000"/>
              </a:lnSpc>
              <a:buSzPts val="18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方法：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Alegreya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Alegreya"/>
              </a:rPr>
              <a:t>One-hot vector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(default/random):</a:t>
            </a:r>
          </a:p>
          <a:p>
            <a:pPr marL="114300" lvl="2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        -&gt;k-</a:t>
            </a:r>
            <a:r>
              <a:rPr lang="en" altLang="zh-TW" sz="1600" dirty="0" err="1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mer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彼此之間的距離都一樣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任兩個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one hot vector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之間的距離都相等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)</a:t>
            </a:r>
          </a:p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        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探討排序位置是否會影響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CNN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學習結果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yes: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random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排列的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accuracy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最低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Wingdings" pitchFamily="2" charset="2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dna2vec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: k-</a:t>
            </a:r>
            <a:r>
              <a:rPr lang="en-US" altLang="zh-TW" sz="1600" dirty="0" err="1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mer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 embedding,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保留了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sequence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組合關係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highlight>
                <a:srgbClr val="FFF7FD"/>
              </a:highlight>
              <a:latin typeface="Alegreya"/>
              <a:ea typeface="Alegreya"/>
              <a:cs typeface="Alegreya"/>
              <a:sym typeface="Wingdings" pitchFamily="2" charset="2"/>
            </a:endParaRPr>
          </a:p>
          <a:p>
            <a:pPr marL="457200" indent="-3429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  <a:buFont typeface="Wingdings" pitchFamily="2" charset="2"/>
              <a:buAutoNum type="circleNumWdWhitePlain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VOSS: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每段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DNA sequence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拆成 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4 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條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0/1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數列 分別表示 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ACGT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在每個位置有沒有出現</a:t>
            </a:r>
            <a:endParaRPr lang="en-US" altLang="zh-TW" sz="1600" dirty="0">
              <a:solidFill>
                <a:schemeClr val="accent5">
                  <a:lumMod val="50000"/>
                </a:schemeClr>
              </a:solidFill>
              <a:latin typeface="Alegreya"/>
              <a:ea typeface="Alegreya"/>
              <a:cs typeface="Alegrey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0317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8087615D-151F-308A-FA78-EFFC74FF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7A74A232-D4E2-D260-937A-65C50FCEB47C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18FE8C45-3892-8E31-A91C-940AC3530B6B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23CD0C5A-1C23-EE28-460B-B058F5D8D216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1686C2D6-682D-E7FC-A212-030FC4290468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BA34491A-AD9B-8D78-FC70-E8B243EA7541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5BE56DC5-0B80-CE83-4406-272AA832C55D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F62396C-E6DC-3091-B137-7EEDE695DD73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3B59D98-2472-1332-C93D-4D4A3DFAB895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353C2EB-4F39-84EE-4CBC-8CC222892D9F}"/>
              </a:ext>
            </a:extLst>
          </p:cNvPr>
          <p:cNvSpPr txBox="1"/>
          <p:nvPr/>
        </p:nvSpPr>
        <p:spPr>
          <a:xfrm>
            <a:off x="433282" y="6469509"/>
            <a:ext cx="112044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Akkaya, 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Ü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. M., &amp; Kalkan, H. (2021). Classification of DNA sequences with k-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mers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 based vector representations. In 2021 Innovations in Intelligent Systems and Applications Conference (ASYU) (pp. 1–5). IEEE. https://</a:t>
            </a:r>
            <a:r>
              <a:rPr lang="en" altLang="zh-TW" sz="6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600" dirty="0">
                <a:solidFill>
                  <a:schemeClr val="tx2">
                    <a:lumMod val="75000"/>
                  </a:schemeClr>
                </a:solidFill>
              </a:rPr>
              <a:t>/10.1109/ASYU52992.2021.9599084</a:t>
            </a: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Zhang, Q., Zhu, L., &amp; Huang, D.-S. (2019). High-order convolutional neural network architecture for predicting DNA-protein binding sites. IEEE/ACM Transactions on Computational Biology and Bioinformatics, 16(4), 1184–1192.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/10.1109/TCBB.2018.2819660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21AA39E-0E93-F202-E822-ABF0B43068D5}"/>
              </a:ext>
            </a:extLst>
          </p:cNvPr>
          <p:cNvSpPr txBox="1"/>
          <p:nvPr/>
        </p:nvSpPr>
        <p:spPr>
          <a:xfrm>
            <a:off x="433282" y="1715609"/>
            <a:ext cx="85728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2. High-Order Convolutional Neural Network(HOCNN)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(Zhang et al., 2019)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91E07E-DC21-9E42-D132-17EE5EE64B7E}"/>
                  </a:ext>
                </a:extLst>
              </p:cNvPr>
              <p:cNvSpPr txBox="1"/>
              <p:nvPr/>
            </p:nvSpPr>
            <p:spPr>
              <a:xfrm>
                <a:off x="616196" y="2202599"/>
                <a:ext cx="10838609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把相鄰幾個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nucleotide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當成一個單位來編碼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,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一次看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2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個鹼基組合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-&gt;2-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order(2-mer) </a:t>
                </a:r>
                <a:r>
                  <a:rPr lang="zh-TW" altLang="en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、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k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個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-&gt;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k-</a:t>
                </a:r>
                <a:r>
                  <a:rPr lang="en" altLang="zh-TW" sz="1600" dirty="0" err="1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mer</a:t>
                </a:r>
                <a:endParaRPr lang="en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主要是呈現每個位置附近出現了哪種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nucleotide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組合</a:t>
                </a:r>
                <a:endParaRPr lang="en-US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E.g., 2-mer: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的排列組合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AA, AT, AC, AG, TA, TT, TC, TG, CA, CT, CC, CG, GA, GT, GC, GG  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6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6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TW" sz="16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=16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種</a:t>
                </a: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         表示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2-</a:t>
                </a:r>
                <a:r>
                  <a:rPr lang="en" altLang="zh-TW" sz="1600" dirty="0" err="1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mer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可以用 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16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維 </a:t>
                </a: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one-hot 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來呈現，因此給定這</a:t>
                </a:r>
                <a:r>
                  <a:rPr lang="en-US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16</a:t>
                </a:r>
                <a:r>
                  <a:rPr lang="zh-TW" altLang="en-US" sz="1600" dirty="0">
                    <a:solidFill>
                      <a:schemeClr val="accent5">
                        <a:lumMod val="50000"/>
                      </a:schemeClr>
                    </a:solidFill>
                    <a:latin typeface="Alegreya"/>
                    <a:ea typeface="Alegreya"/>
                    <a:cs typeface="Alegreya"/>
                    <a:sym typeface="Wingdings" pitchFamily="2" charset="2"/>
                  </a:rPr>
                  <a:t>種排列順序後看他對應的是哪一組的位置：</a:t>
                </a: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zh-TW" altLang="en-US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zh-TW" altLang="en-US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  <a:p>
                <a:pPr marL="114300">
                  <a:lnSpc>
                    <a:spcPct val="150000"/>
                  </a:lnSpc>
                  <a:buClr>
                    <a:schemeClr val="accent5">
                      <a:lumMod val="50000"/>
                    </a:schemeClr>
                  </a:buClr>
                  <a:buSzPct val="80000"/>
                </a:pPr>
                <a:endParaRPr lang="en" altLang="zh-TW" sz="1600" dirty="0">
                  <a:solidFill>
                    <a:schemeClr val="accent5">
                      <a:lumMod val="50000"/>
                    </a:schemeClr>
                  </a:solidFill>
                  <a:latin typeface="Alegreya"/>
                  <a:ea typeface="Alegreya"/>
                  <a:cs typeface="Alegreya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591E07E-DC21-9E42-D132-17EE5EE64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96" y="2202599"/>
                <a:ext cx="10838609" cy="26468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2245B4AF-C45C-9B4B-63E2-B344E6380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826" y="3766528"/>
            <a:ext cx="33591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0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3355D529-706D-2D0F-251E-F3D5F7ED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>
            <a:extLst>
              <a:ext uri="{FF2B5EF4-FFF2-40B4-BE49-F238E27FC236}">
                <a16:creationId xmlns:a16="http://schemas.microsoft.com/office/drawing/2014/main" id="{2E1D7BD5-E8D8-98F3-C83D-C0AA407F26DB}"/>
              </a:ext>
            </a:extLst>
          </p:cNvPr>
          <p:cNvGrpSpPr/>
          <p:nvPr/>
        </p:nvGrpSpPr>
        <p:grpSpPr>
          <a:xfrm>
            <a:off x="492000" y="483897"/>
            <a:ext cx="2375892" cy="646300"/>
            <a:chOff x="492000" y="483897"/>
            <a:chExt cx="2375892" cy="646300"/>
          </a:xfrm>
        </p:grpSpPr>
        <p:sp>
          <p:nvSpPr>
            <p:cNvPr id="228" name="Google Shape;228;p20">
              <a:extLst>
                <a:ext uri="{FF2B5EF4-FFF2-40B4-BE49-F238E27FC236}">
                  <a16:creationId xmlns:a16="http://schemas.microsoft.com/office/drawing/2014/main" id="{4BD74ABD-1A1E-B9A4-CDCF-6530B1CABF39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0">
              <a:extLst>
                <a:ext uri="{FF2B5EF4-FFF2-40B4-BE49-F238E27FC236}">
                  <a16:creationId xmlns:a16="http://schemas.microsoft.com/office/drawing/2014/main" id="{05B1544D-9D22-70B1-D5F5-4FF7F1190C74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0">
              <a:extLst>
                <a:ext uri="{FF2B5EF4-FFF2-40B4-BE49-F238E27FC236}">
                  <a16:creationId xmlns:a16="http://schemas.microsoft.com/office/drawing/2014/main" id="{E37DDE4B-ED14-69E2-DE8C-C08857E363C3}"/>
                </a:ext>
              </a:extLst>
            </p:cNvPr>
            <p:cNvSpPr txBox="1"/>
            <p:nvPr/>
          </p:nvSpPr>
          <p:spPr>
            <a:xfrm>
              <a:off x="544650" y="586563"/>
              <a:ext cx="478800" cy="3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dirty="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</a:t>
              </a:r>
              <a:endParaRPr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31" name="Google Shape;231;p20">
              <a:extLst>
                <a:ext uri="{FF2B5EF4-FFF2-40B4-BE49-F238E27FC236}">
                  <a16:creationId xmlns:a16="http://schemas.microsoft.com/office/drawing/2014/main" id="{5EC2CF4F-D2F4-5F52-68DB-9DB306F2AE8B}"/>
                </a:ext>
              </a:extLst>
            </p:cNvPr>
            <p:cNvSpPr txBox="1"/>
            <p:nvPr/>
          </p:nvSpPr>
          <p:spPr>
            <a:xfrm>
              <a:off x="1161826" y="483897"/>
              <a:ext cx="1706066" cy="6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2000" dirty="0">
                  <a:solidFill>
                    <a:schemeClr val="dk1"/>
                  </a:solidFill>
                  <a:latin typeface="Alegreya"/>
                  <a:ea typeface="Alegreya"/>
                  <a:cs typeface="Alegreya"/>
                  <a:sym typeface="Alegreya"/>
                </a:rPr>
                <a:t>Recent work</a:t>
              </a:r>
            </a:p>
          </p:txBody>
        </p:sp>
      </p:grpSp>
      <p:sp>
        <p:nvSpPr>
          <p:cNvPr id="9" name="Google Shape;152;p16">
            <a:extLst>
              <a:ext uri="{FF2B5EF4-FFF2-40B4-BE49-F238E27FC236}">
                <a16:creationId xmlns:a16="http://schemas.microsoft.com/office/drawing/2014/main" id="{96A56D13-C114-EC43-AA0F-5B787F1A53B8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21D289C-48FE-DB20-3BBF-AEC44A2B6A88}"/>
              </a:ext>
            </a:extLst>
          </p:cNvPr>
          <p:cNvSpPr txBox="1"/>
          <p:nvPr/>
        </p:nvSpPr>
        <p:spPr>
          <a:xfrm>
            <a:off x="2106386" y="-2171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E858DA-6174-128A-182C-EB3CD5F822CF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Paper review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BBBAEA3-32D5-8D70-33E8-594B8D52DD76}"/>
              </a:ext>
            </a:extLst>
          </p:cNvPr>
          <p:cNvSpPr txBox="1"/>
          <p:nvPr/>
        </p:nvSpPr>
        <p:spPr>
          <a:xfrm>
            <a:off x="433282" y="6453188"/>
            <a:ext cx="1120443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</a:rPr>
              <a:t>Ma, S., &amp; Zhang, Z. (2018). </a:t>
            </a:r>
            <a:r>
              <a:rPr lang="zh-TW" altLang="zh-TW" sz="700" i="1" dirty="0">
                <a:solidFill>
                  <a:schemeClr val="tx2">
                    <a:lumMod val="75000"/>
                  </a:schemeClr>
                </a:solidFill>
              </a:rPr>
              <a:t>OmicsMapNet: Transforming omics data to take advantage of deep convolutional neural network for discovery</a:t>
            </a:r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</a:rPr>
              <a:t>. arXiv. </a:t>
            </a:r>
            <a:r>
              <a:rPr lang="zh-TW" altLang="zh-TW" sz="700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https://doi.org/10.48550/arXiv.1804.05283</a:t>
            </a:r>
            <a:endParaRPr lang="zh-TW" altLang="en-US" sz="7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Hasan, M. M., Poly, H. J., 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Rayhanuzzaman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, R., &amp; 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Srizon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, A. Y. (2025). Enhanced DNA sequence classification through hyperparameter optimized convolutional neural networks. In 2025 4th International Conference on Electrical, Computer and Communication Engineering (ECCE) (pp. 1–6). IEEE. https://</a:t>
            </a:r>
            <a:r>
              <a:rPr lang="en" altLang="zh-TW" sz="700" dirty="0" err="1">
                <a:solidFill>
                  <a:schemeClr val="tx2">
                    <a:lumMod val="75000"/>
                  </a:schemeClr>
                </a:solidFill>
              </a:rPr>
              <a:t>doi.org</a:t>
            </a:r>
            <a:r>
              <a:rPr lang="en" altLang="zh-TW" sz="700" dirty="0">
                <a:solidFill>
                  <a:schemeClr val="tx2">
                    <a:lumMod val="75000"/>
                  </a:schemeClr>
                </a:solidFill>
              </a:rPr>
              <a:t>/10.1109/ECCE64574.2025.11013923</a:t>
            </a:r>
          </a:p>
          <a:p>
            <a:endParaRPr lang="en" altLang="zh-TW" sz="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4F2C3C-214E-D65C-4E93-1E8CC91CE80B}"/>
              </a:ext>
            </a:extLst>
          </p:cNvPr>
          <p:cNvSpPr txBox="1"/>
          <p:nvPr/>
        </p:nvSpPr>
        <p:spPr>
          <a:xfrm>
            <a:off x="468122" y="1659506"/>
            <a:ext cx="11419078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3. color-image-based CNN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可能比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grayscale-image-based CNN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更能捕捉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genotype data 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中和疾病相關的資訊</a:t>
            </a:r>
            <a:r>
              <a:rPr lang="en-US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(Ma &amp; Zhang, 2018) :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A78D633-4FC6-FE2A-B38A-152F18C9C92D}"/>
              </a:ext>
            </a:extLst>
          </p:cNvPr>
          <p:cNvSpPr txBox="1"/>
          <p:nvPr/>
        </p:nvSpPr>
        <p:spPr>
          <a:xfrm>
            <a:off x="468122" y="3890838"/>
            <a:ext cx="8390213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4. CNN model +DNA</a:t>
            </a:r>
            <a:r>
              <a:rPr lang="zh-TW" altLang="en-US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的調超參數與最佳化</a:t>
            </a:r>
            <a:r>
              <a:rPr lang="en-US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 </a:t>
            </a:r>
            <a:r>
              <a:rPr lang="en" altLang="zh-TW" sz="1600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(Hasan et al., 2025) :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2CDC49-265D-1F2B-248D-DF216FCB7078}"/>
              </a:ext>
            </a:extLst>
          </p:cNvPr>
          <p:cNvSpPr txBox="1"/>
          <p:nvPr/>
        </p:nvSpPr>
        <p:spPr>
          <a:xfrm>
            <a:off x="616196" y="2088021"/>
            <a:ext cx="108386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資料型態：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DNA sequence(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有完整的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nucleotide identity-&gt;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才能做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multi-channel)</a:t>
            </a:r>
          </a:p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在彩色影像的架構中，染色體代碼（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Chromosome codes</a:t>
            </a:r>
            <a:r>
              <a:rPr lang="zh-TW" altLang="en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）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以端對端（</a:t>
            </a: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end to end</a:t>
            </a:r>
            <a:r>
              <a:rPr lang="zh-TW" altLang="en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）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的方式排，灰階採有序排列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(missing impute:0 )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14D53B4-F402-1C41-A65A-B270998E626A}"/>
              </a:ext>
            </a:extLst>
          </p:cNvPr>
          <p:cNvSpPr txBox="1"/>
          <p:nvPr/>
        </p:nvSpPr>
        <p:spPr>
          <a:xfrm>
            <a:off x="616195" y="3229785"/>
            <a:ext cx="10838609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-&gt; Microarray-&gt;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應該只能利用</a:t>
            </a: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genotype category 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用顏色區別</a:t>
            </a:r>
            <a:r>
              <a:rPr lang="en-US" altLang="zh-TW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AA/AB/BB </a:t>
            </a:r>
            <a:r>
              <a:rPr lang="zh-TW" altLang="en-US" sz="1600" dirty="0">
                <a:solidFill>
                  <a:srgbClr val="C00000"/>
                </a:solidFill>
                <a:highlight>
                  <a:srgbClr val="FFF7FD"/>
                </a:highlight>
                <a:latin typeface="Alegreya"/>
                <a:ea typeface="Alegreya"/>
                <a:cs typeface="Alegreya"/>
                <a:sym typeface="Wingdings" pitchFamily="2" charset="2"/>
              </a:rPr>
              <a:t>但無法辨識</a:t>
            </a:r>
            <a:endParaRPr lang="en-US" altLang="zh-TW" sz="1600" dirty="0">
              <a:solidFill>
                <a:srgbClr val="C00000"/>
              </a:solidFill>
              <a:highlight>
                <a:srgbClr val="FFF7FD"/>
              </a:highlight>
              <a:latin typeface="Alegreya"/>
              <a:ea typeface="Alegreya"/>
              <a:cs typeface="Alegreya"/>
              <a:sym typeface="Wingdings" pitchFamily="2" charset="2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B1C0F0-C4A7-BA9B-229C-164EFCDAA522}"/>
              </a:ext>
            </a:extLst>
          </p:cNvPr>
          <p:cNvSpPr txBox="1"/>
          <p:nvPr/>
        </p:nvSpPr>
        <p:spPr>
          <a:xfrm>
            <a:off x="676695" y="4340799"/>
            <a:ext cx="10838609" cy="42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80000"/>
            </a:pP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hyperparameter tuning: convolution filters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kernel size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learning rate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batch size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、</a:t>
            </a:r>
            <a:r>
              <a:rPr lang="en-US" altLang="zh-TW" sz="1600" dirty="0">
                <a:solidFill>
                  <a:schemeClr val="accent5">
                    <a:lumMod val="50000"/>
                  </a:schemeClr>
                </a:solidFill>
                <a:latin typeface="Alegreya"/>
                <a:ea typeface="Alegreya"/>
                <a:cs typeface="Alegreya"/>
                <a:sym typeface="Wingdings" pitchFamily="2" charset="2"/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4004768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8B99-7218-F11A-6814-F83AB273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圓角矩形 12">
            <a:extLst>
              <a:ext uri="{FF2B5EF4-FFF2-40B4-BE49-F238E27FC236}">
                <a16:creationId xmlns:a16="http://schemas.microsoft.com/office/drawing/2014/main" id="{E73B78F0-3B46-E709-6817-1C18705663B4}"/>
              </a:ext>
            </a:extLst>
          </p:cNvPr>
          <p:cNvSpPr/>
          <p:nvPr/>
        </p:nvSpPr>
        <p:spPr>
          <a:xfrm>
            <a:off x="1571067" y="3179505"/>
            <a:ext cx="1539499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67BC75-AE42-C258-2371-1C7C3465193D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2)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BEF918FC-DC64-ACC2-1D6D-D7FE4E282B32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63082515-5BEA-723C-AB66-AB00D444A10C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0E2D2105-D658-093B-0CAD-EE217AB934BB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C18467C4-20AC-F31C-D7BA-587D5C258223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91DFE15B-6101-C4E7-E176-F570B11A95F9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5DCD86-B311-3F1F-53D3-0D9D68D607B0}"/>
              </a:ext>
            </a:extLst>
          </p:cNvPr>
          <p:cNvSpPr txBox="1"/>
          <p:nvPr/>
        </p:nvSpPr>
        <p:spPr>
          <a:xfrm>
            <a:off x="1813739" y="3284854"/>
            <a:ext cx="10541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Allele_A</a:t>
            </a: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ctr"/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Allele_B</a:t>
            </a:r>
            <a:endParaRPr lang="zh-TW" altLang="en-US" sz="1600" dirty="0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02600327-1AB2-B3F7-824C-8895C8046D4C}"/>
              </a:ext>
            </a:extLst>
          </p:cNvPr>
          <p:cNvSpPr/>
          <p:nvPr/>
        </p:nvSpPr>
        <p:spPr>
          <a:xfrm>
            <a:off x="4588115" y="3179505"/>
            <a:ext cx="2068067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45044F-ECA7-4B58-A87A-BDB579020D16}"/>
              </a:ext>
            </a:extLst>
          </p:cNvPr>
          <p:cNvSpPr txBox="1"/>
          <p:nvPr/>
        </p:nvSpPr>
        <p:spPr>
          <a:xfrm>
            <a:off x="4769421" y="3284853"/>
            <a:ext cx="1705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homozygous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ctr"/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heterozygous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7D3289F5-1BE6-372F-2E66-64F766888CC0}"/>
              </a:ext>
            </a:extLst>
          </p:cNvPr>
          <p:cNvSpPr/>
          <p:nvPr/>
        </p:nvSpPr>
        <p:spPr>
          <a:xfrm>
            <a:off x="3558395" y="3429000"/>
            <a:ext cx="581891" cy="24938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3BD67DA4-2357-B75F-85C8-782A8454C80F}"/>
              </a:ext>
            </a:extLst>
          </p:cNvPr>
          <p:cNvSpPr/>
          <p:nvPr/>
        </p:nvSpPr>
        <p:spPr>
          <a:xfrm>
            <a:off x="7104011" y="3401341"/>
            <a:ext cx="581891" cy="24938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A89F766-C6DD-3879-0D45-AEE9B63CF04E}"/>
              </a:ext>
            </a:extLst>
          </p:cNvPr>
          <p:cNvSpPr/>
          <p:nvPr/>
        </p:nvSpPr>
        <p:spPr>
          <a:xfrm>
            <a:off x="8041140" y="3179504"/>
            <a:ext cx="1539499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ABD76CB-7882-75E5-F977-0A97050C7EBC}"/>
              </a:ext>
            </a:extLst>
          </p:cNvPr>
          <p:cNvSpPr txBox="1"/>
          <p:nvPr/>
        </p:nvSpPr>
        <p:spPr>
          <a:xfrm>
            <a:off x="8162475" y="3261303"/>
            <a:ext cx="12968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Image construction</a:t>
            </a:r>
            <a:endParaRPr lang="zh-TW" altLang="en-US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EF26835-1ECB-C0EA-830D-3AD6E981EC1B}"/>
              </a:ext>
            </a:extLst>
          </p:cNvPr>
          <p:cNvSpPr txBox="1"/>
          <p:nvPr/>
        </p:nvSpPr>
        <p:spPr>
          <a:xfrm>
            <a:off x="7788811" y="4176193"/>
            <a:ext cx="3340982" cy="71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Songti SC" panose="02010600040101010101" pitchFamily="2" charset="-122"/>
                <a:ea typeface="Songti SC" panose="02010600040101010101" pitchFamily="2" charset="-122"/>
              </a:rPr>
              <a:t>Image:</a:t>
            </a:r>
            <a:r>
              <a:rPr kumimoji="1"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kumimoji="1" lang="en-US" altLang="zh-TW" dirty="0">
                <a:latin typeface="Songti SC" panose="02010600040101010101" pitchFamily="2" charset="-122"/>
                <a:ea typeface="Songti SC" panose="02010600040101010101" pitchFamily="2" charset="-122"/>
              </a:rPr>
              <a:t>795*795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Songti SC" panose="02010600040101010101" pitchFamily="2" charset="-122"/>
                <a:ea typeface="Songti SC" panose="02010600040101010101" pitchFamily="2" charset="-122"/>
              </a:rPr>
              <a:t>Padding:</a:t>
            </a:r>
            <a:r>
              <a:rPr kumimoji="1"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kumimoji="1" lang="en-US" altLang="zh-TW" dirty="0">
                <a:latin typeface="Songti SC" panose="02010600040101010101" pitchFamily="2" charset="-122"/>
                <a:ea typeface="Songti SC" panose="02010600040101010101" pitchFamily="2" charset="-122"/>
              </a:rPr>
              <a:t>329</a:t>
            </a:r>
            <a:endParaRPr kumimoji="1" lang="zh-TW" altLang="en-US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B46D84B8-E0BC-56DA-C024-636276045869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2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4DB3473-EC2D-0D30-62F5-4442BE70A80E}"/>
              </a:ext>
            </a:extLst>
          </p:cNvPr>
          <p:cNvSpPr txBox="1"/>
          <p:nvPr/>
        </p:nvSpPr>
        <p:spPr>
          <a:xfrm>
            <a:off x="610238" y="1715609"/>
            <a:ext cx="6534818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Purpose</a:t>
            </a: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     G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enotype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(AA/AB/BB)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lang="zh-TW" altLang="en-US" sz="1600" dirty="0"/>
              <a:t>→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N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ucleotide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(e.g.,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A/A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A/G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G/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SNP : 631696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850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8F66-1F04-CE29-57B9-4E6DE6970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58E9CD0-506A-BFAC-6F41-C318417DC93B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3)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EE26718B-BE13-05FD-89B5-B076E5859629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A25B90F0-535D-A694-0508-F95950D4CA5D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4B7CAFE0-7582-AE38-873A-4879A51300E1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A2E2ADB6-24A6-5CF8-FA57-9C19C86A2365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18C611F4-D5DE-48CD-1D79-C2FE7BE626A6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459285DE-AADA-9FF7-7927-E3E9CAE74630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3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FBCCED6-789E-2C86-1CC8-8E6798284D67}"/>
              </a:ext>
            </a:extLst>
          </p:cNvPr>
          <p:cNvSpPr txBox="1"/>
          <p:nvPr/>
        </p:nvSpPr>
        <p:spPr>
          <a:xfrm>
            <a:off x="610238" y="1715609"/>
            <a:ext cx="9638662" cy="79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Method  : 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     N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ucleotide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(e.g.,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A/A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A/G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G/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T) + </a:t>
            </a:r>
            <a:r>
              <a:rPr lang="en-US" altLang="zh-TW" sz="1600" dirty="0">
                <a:highlight>
                  <a:srgbClr val="E3F2FE"/>
                </a:highlight>
                <a:latin typeface="Songti SC" panose="02010600040101010101" pitchFamily="2" charset="-122"/>
                <a:ea typeface="Songti SC" panose="02010600040101010101" pitchFamily="2" charset="-122"/>
              </a:rPr>
              <a:t>cytoband </a:t>
            </a: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CCC24E7-4D0C-0FA6-BB15-8076D1484E2B}"/>
              </a:ext>
            </a:extLst>
          </p:cNvPr>
          <p:cNvSpPr txBox="1"/>
          <p:nvPr/>
        </p:nvSpPr>
        <p:spPr>
          <a:xfrm>
            <a:off x="610238" y="2645017"/>
            <a:ext cx="9638662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[ Cytoband ]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3A2630A5-81E0-8D01-D1D7-4DED796D5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780" y="2645017"/>
            <a:ext cx="4819761" cy="3991101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DB925E26-D645-777B-419F-0BC44DEC5158}"/>
              </a:ext>
            </a:extLst>
          </p:cNvPr>
          <p:cNvSpPr txBox="1"/>
          <p:nvPr/>
        </p:nvSpPr>
        <p:spPr>
          <a:xfrm>
            <a:off x="7133541" y="6636118"/>
            <a:ext cx="91580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>
                <a:solidFill>
                  <a:schemeClr val="tx2">
                    <a:lumMod val="90000"/>
                  </a:schemeClr>
                </a:solidFill>
              </a:rPr>
              <a:t>Source: Geer &amp; Messersmith (2002; revised 2007), NIH, via Wikimedia Commons (Public Domain).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E3E654F-4349-84F0-8C79-A823CD119C32}"/>
              </a:ext>
            </a:extLst>
          </p:cNvPr>
          <p:cNvSpPr txBox="1"/>
          <p:nvPr/>
        </p:nvSpPr>
        <p:spPr>
          <a:xfrm>
            <a:off x="610238" y="3222605"/>
            <a:ext cx="9638662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Alternating light and dark chromosome bands </a:t>
            </a:r>
          </a:p>
          <a:p>
            <a:pPr marL="285750" indent="-28575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Visible after Giemsa staining metaphase chromosomes </a:t>
            </a:r>
          </a:p>
          <a:p>
            <a:pPr marL="285750" indent="-28575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Used to describe approximate genomic locations</a:t>
            </a:r>
          </a:p>
        </p:txBody>
      </p:sp>
    </p:spTree>
    <p:extLst>
      <p:ext uri="{BB962C8B-B14F-4D97-AF65-F5344CB8AC3E}">
        <p14:creationId xmlns:p14="http://schemas.microsoft.com/office/powerpoint/2010/main" val="2561446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F388-F74C-1E77-C504-0FBF228A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DB18529-3AFB-7FA7-41EA-0F90DB89B728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3)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04D41209-3B64-F204-CC09-4FF11ABE6C81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2BD97C4F-2400-44D5-678E-F387AC5E392B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30D1D782-A303-CF60-F00E-81561D11BBDD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3CC20B87-6A75-EE38-81BF-D6A04B9B934A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E8CC71AF-EB28-7F1C-5276-A8AD848E01F0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7D418273-8903-FD16-B72F-2EA8C393182E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4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EE5FA4-2A6F-97A9-AFD8-87AA8B48552C}"/>
              </a:ext>
            </a:extLst>
          </p:cNvPr>
          <p:cNvSpPr txBox="1"/>
          <p:nvPr/>
        </p:nvSpPr>
        <p:spPr>
          <a:xfrm>
            <a:off x="610238" y="1715609"/>
            <a:ext cx="9638662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Purpose  : </a:t>
            </a:r>
          </a:p>
          <a:p>
            <a:pPr>
              <a:lnSpc>
                <a:spcPct val="150000"/>
              </a:lnSpc>
            </a:pP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SNP : 630941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0E286B5-151E-8C76-DF8D-5760721E9047}"/>
              </a:ext>
            </a:extLst>
          </p:cNvPr>
          <p:cNvSpPr txBox="1"/>
          <p:nvPr/>
        </p:nvSpPr>
        <p:spPr>
          <a:xfrm>
            <a:off x="916585" y="2146509"/>
            <a:ext cx="10826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Group SNPs within the same cytoband as a continuous block.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63841F0-4A19-4C05-6B91-DE9FD17B93F9}"/>
              </a:ext>
            </a:extLst>
          </p:cNvPr>
          <p:cNvGrpSpPr/>
          <p:nvPr/>
        </p:nvGrpSpPr>
        <p:grpSpPr>
          <a:xfrm>
            <a:off x="610238" y="2684342"/>
            <a:ext cx="10744968" cy="4060041"/>
            <a:chOff x="610238" y="2684342"/>
            <a:chExt cx="10744968" cy="4060041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6EBF8E6B-8F78-DB9D-A24F-3F39D0872976}"/>
                </a:ext>
              </a:extLst>
            </p:cNvPr>
            <p:cNvGrpSpPr/>
            <p:nvPr/>
          </p:nvGrpSpPr>
          <p:grpSpPr>
            <a:xfrm>
              <a:off x="610238" y="2684342"/>
              <a:ext cx="10744968" cy="4060041"/>
              <a:chOff x="610238" y="2684342"/>
              <a:chExt cx="10744968" cy="4060041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CBF991D3-9899-ABC4-478B-3BC191668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6429"/>
              <a:stretch>
                <a:fillRect/>
              </a:stretch>
            </p:blipFill>
            <p:spPr>
              <a:xfrm>
                <a:off x="7008413" y="2684342"/>
                <a:ext cx="4346793" cy="4060041"/>
              </a:xfrm>
              <a:prstGeom prst="rect">
                <a:avLst/>
              </a:prstGeom>
            </p:spPr>
          </p:pic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F6271CF-7BA7-C68D-83CD-220AE60B7064}"/>
                  </a:ext>
                </a:extLst>
              </p:cNvPr>
              <p:cNvSpPr txBox="1"/>
              <p:nvPr/>
            </p:nvSpPr>
            <p:spPr>
              <a:xfrm>
                <a:off x="784050" y="4402241"/>
                <a:ext cx="5312136" cy="190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TW" sz="16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Total SNPs without cytoband annotation: 755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en-US" altLang="zh-TW" sz="16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Mitochondrial chromosome: 754 SNPs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endParaRPr kumimoji="1" lang="en-US" altLang="zh-TW" sz="16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endParaRPr kumimoji="1" lang="en-US" altLang="zh-TW" sz="16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en" altLang="zh-TW" sz="16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Chromosome 17: 1 SNP</a:t>
                </a:r>
                <a:endParaRPr kumimoji="1" lang="en-US" altLang="zh-TW" sz="16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3566FAC-88EB-1107-9B13-096A3D2EDDAB}"/>
                  </a:ext>
                </a:extLst>
              </p:cNvPr>
              <p:cNvSpPr txBox="1"/>
              <p:nvPr/>
            </p:nvSpPr>
            <p:spPr>
              <a:xfrm>
                <a:off x="1138970" y="5266088"/>
                <a:ext cx="531213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" altLang="zh-TW" sz="1600" dirty="0">
                    <a:solidFill>
                      <a:schemeClr val="accent5">
                        <a:lumMod val="50000"/>
                      </a:schemeClr>
                    </a:solidFill>
                    <a:latin typeface="Songti SC" panose="02010600040101010101" pitchFamily="2" charset="-122"/>
                    <a:ea typeface="Songti SC" panose="02010600040101010101" pitchFamily="2" charset="-122"/>
                  </a:rPr>
                  <a:t>mitochondrial DNA has a circular structure and doesn’t contain p and q arms</a:t>
                </a:r>
                <a:endParaRPr lang="zh-TW" altLang="zh-TW" sz="1600" dirty="0">
                  <a:solidFill>
                    <a:schemeClr val="accent5">
                      <a:lumMod val="50000"/>
                    </a:schemeClr>
                  </a:solidFill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A151CF9-6F46-30C7-2D2F-27CA4DDB74C0}"/>
                  </a:ext>
                </a:extLst>
              </p:cNvPr>
              <p:cNvSpPr txBox="1"/>
              <p:nvPr/>
            </p:nvSpPr>
            <p:spPr>
              <a:xfrm>
                <a:off x="610238" y="2935473"/>
                <a:ext cx="9638662" cy="429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6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Steps :</a:t>
                </a:r>
                <a:endParaRPr lang="zh-TW" altLang="en-US" sz="16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</p:grpSp>
        <p:sp>
          <p:nvSpPr>
            <p:cNvPr id="32" name="圓角矩形 31">
              <a:extLst>
                <a:ext uri="{FF2B5EF4-FFF2-40B4-BE49-F238E27FC236}">
                  <a16:creationId xmlns:a16="http://schemas.microsoft.com/office/drawing/2014/main" id="{698745AB-17B5-CC1C-6DAA-1A77FAAF2419}"/>
                </a:ext>
              </a:extLst>
            </p:cNvPr>
            <p:cNvSpPr/>
            <p:nvPr/>
          </p:nvSpPr>
          <p:spPr>
            <a:xfrm>
              <a:off x="885825" y="3433002"/>
              <a:ext cx="2068067" cy="79547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600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7EAC1EB-91E5-E0B4-1E90-58CEFDABB3DE}"/>
                </a:ext>
              </a:extLst>
            </p:cNvPr>
            <p:cNvSpPr txBox="1"/>
            <p:nvPr/>
          </p:nvSpPr>
          <p:spPr>
            <a:xfrm>
              <a:off x="916585" y="3637910"/>
              <a:ext cx="199054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600" dirty="0" err="1">
                  <a:latin typeface="Songti SC" panose="02010600040101010101" pitchFamily="2" charset="-122"/>
                  <a:ea typeface="Songti SC" panose="02010600040101010101" pitchFamily="2" charset="-122"/>
                </a:rPr>
                <a:t>Missing_Cytoband</a:t>
              </a:r>
              <a:endParaRPr lang="zh-TW" altLang="en-US" sz="1600" dirty="0">
                <a:latin typeface="Songti SC" panose="02010600040101010101" pitchFamily="2" charset="-122"/>
                <a:ea typeface="Songti SC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76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1F51-E2AB-1664-7111-A3584776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4A93D4A-A98A-8792-B060-3B2549DF36FA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3)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898966B1-2833-739A-2301-C454D4837E3F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D9570DB5-A6CE-642B-612B-BB822B798AD7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57077ABB-39DA-3D99-8D46-834C3FDECACB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CCCA00F8-06CA-CE81-DE2B-BDEBE5759E53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7C682D19-9C55-B6EE-97D9-F5F2C7E22FA0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E736F96B-50C0-B6F3-3BFA-F61DEAB94FDF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5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8EE25F7-ED54-8D68-F3AB-8560B4919986}"/>
              </a:ext>
            </a:extLst>
          </p:cNvPr>
          <p:cNvSpPr txBox="1"/>
          <p:nvPr/>
        </p:nvSpPr>
        <p:spPr>
          <a:xfrm>
            <a:off x="610238" y="1715609"/>
            <a:ext cx="9638662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Purpose  : </a:t>
            </a:r>
          </a:p>
          <a:p>
            <a:pPr>
              <a:lnSpc>
                <a:spcPct val="150000"/>
              </a:lnSpc>
            </a:pP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SNP : 630941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D20A575-E69C-C83A-08BA-977940390FF4}"/>
              </a:ext>
            </a:extLst>
          </p:cNvPr>
          <p:cNvSpPr txBox="1"/>
          <p:nvPr/>
        </p:nvSpPr>
        <p:spPr>
          <a:xfrm>
            <a:off x="5216772" y="7822045"/>
            <a:ext cx="7930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solidFill>
                  <a:srgbClr val="FF0000"/>
                </a:solidFill>
              </a:rPr>
              <a:t>Version 2 的 631,696 個 SNV 中，754 個 MT markers 因粒線體不具有傳統 cytoband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zh-TW" dirty="0">
                <a:solidFill>
                  <a:srgbClr val="FF0000"/>
                </a:solidFill>
              </a:rPr>
              <a:t>僅剩 chromosome 17 的 1 個 SNV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全部排除 建立</a:t>
            </a:r>
            <a:r>
              <a:rPr lang="en-US" altLang="zh-TW" dirty="0">
                <a:solidFill>
                  <a:srgbClr val="FF0000"/>
                </a:solidFill>
              </a:rPr>
              <a:t>version3(#snp_v3_cytoband: n= n=630941)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854A1B7-AF7E-71F0-0EA6-D8572403B06B}"/>
              </a:ext>
            </a:extLst>
          </p:cNvPr>
          <p:cNvSpPr txBox="1"/>
          <p:nvPr/>
        </p:nvSpPr>
        <p:spPr>
          <a:xfrm>
            <a:off x="916585" y="3894598"/>
            <a:ext cx="1990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Missing_Cytoband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2AB2F38-2D18-91D7-08E4-20D3C98769D3}"/>
              </a:ext>
            </a:extLst>
          </p:cNvPr>
          <p:cNvSpPr/>
          <p:nvPr/>
        </p:nvSpPr>
        <p:spPr>
          <a:xfrm>
            <a:off x="3915676" y="3442663"/>
            <a:ext cx="1615350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BE78798-2B0A-7CEC-4403-8DA96F64214F}"/>
              </a:ext>
            </a:extLst>
          </p:cNvPr>
          <p:cNvSpPr txBox="1"/>
          <p:nvPr/>
        </p:nvSpPr>
        <p:spPr>
          <a:xfrm>
            <a:off x="4057293" y="3646819"/>
            <a:ext cx="1332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Sorting 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6889492F-89E5-0023-6F96-AFD71A7068BA}"/>
              </a:ext>
            </a:extLst>
          </p:cNvPr>
          <p:cNvSpPr/>
          <p:nvPr/>
        </p:nvSpPr>
        <p:spPr>
          <a:xfrm>
            <a:off x="3158241" y="3709260"/>
            <a:ext cx="581891" cy="24938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B215D9A-4792-6AA5-2EEB-9F10846DF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84" t="24182" r="56700" b="14440"/>
          <a:stretch>
            <a:fillRect/>
          </a:stretch>
        </p:blipFill>
        <p:spPr>
          <a:xfrm>
            <a:off x="9181810" y="3678196"/>
            <a:ext cx="1000380" cy="2172313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282B0F9A-4446-CB4A-9902-5E73CCD08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132" y="4865469"/>
            <a:ext cx="5186322" cy="644053"/>
          </a:xfrm>
          <a:prstGeom prst="rect">
            <a:avLst/>
          </a:prstGeom>
        </p:spPr>
      </p:pic>
      <p:sp>
        <p:nvSpPr>
          <p:cNvPr id="32" name="文字方塊 31">
            <a:extLst>
              <a:ext uri="{FF2B5EF4-FFF2-40B4-BE49-F238E27FC236}">
                <a16:creationId xmlns:a16="http://schemas.microsoft.com/office/drawing/2014/main" id="{CFB4ED57-67A1-73BB-4960-6E11E4A83773}"/>
              </a:ext>
            </a:extLst>
          </p:cNvPr>
          <p:cNvSpPr txBox="1"/>
          <p:nvPr/>
        </p:nvSpPr>
        <p:spPr>
          <a:xfrm>
            <a:off x="3730819" y="4329449"/>
            <a:ext cx="2597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 err="1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Chr_id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→ </a:t>
            </a: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Cytoband</a:t>
            </a:r>
            <a:r>
              <a:rPr lang="zh-TW" altLang="en-US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→</a:t>
            </a: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Start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0F4D2AC0-CF05-D285-44F6-78D416DD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725" t="22375" r="23540" b="16246"/>
          <a:stretch>
            <a:fillRect/>
          </a:stretch>
        </p:blipFill>
        <p:spPr>
          <a:xfrm>
            <a:off x="10431242" y="3622093"/>
            <a:ext cx="1157278" cy="2185646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C19D7AFD-F19A-4487-FB21-C9E8416C1686}"/>
              </a:ext>
            </a:extLst>
          </p:cNvPr>
          <p:cNvSpPr txBox="1"/>
          <p:nvPr/>
        </p:nvSpPr>
        <p:spPr>
          <a:xfrm>
            <a:off x="9243419" y="3286125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Cytoband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8A146C2-AD90-8D1F-92BE-54AAE7382D82}"/>
              </a:ext>
            </a:extLst>
          </p:cNvPr>
          <p:cNvSpPr txBox="1"/>
          <p:nvPr/>
        </p:nvSpPr>
        <p:spPr>
          <a:xfrm>
            <a:off x="10713966" y="3283539"/>
            <a:ext cx="5918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Start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07915C-C0CE-49BE-6040-5F4A7F631B93}"/>
              </a:ext>
            </a:extLst>
          </p:cNvPr>
          <p:cNvSpPr/>
          <p:nvPr/>
        </p:nvSpPr>
        <p:spPr>
          <a:xfrm flipV="1">
            <a:off x="9243419" y="5021435"/>
            <a:ext cx="2404166" cy="45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48B12B2-AA5E-28E4-E602-1A5F0EA81E54}"/>
              </a:ext>
            </a:extLst>
          </p:cNvPr>
          <p:cNvSpPr txBox="1"/>
          <p:nvPr/>
        </p:nvSpPr>
        <p:spPr>
          <a:xfrm>
            <a:off x="9085474" y="467815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小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6A60B61-0080-AD41-289C-D6EBBB69E64B}"/>
              </a:ext>
            </a:extLst>
          </p:cNvPr>
          <p:cNvSpPr txBox="1"/>
          <p:nvPr/>
        </p:nvSpPr>
        <p:spPr>
          <a:xfrm>
            <a:off x="9079990" y="504203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小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9D445DD-3CD8-B90A-F634-A794DA1FD1A2}"/>
              </a:ext>
            </a:extLst>
          </p:cNvPr>
          <p:cNvSpPr txBox="1"/>
          <p:nvPr/>
        </p:nvSpPr>
        <p:spPr>
          <a:xfrm>
            <a:off x="9079990" y="553132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大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4D839AE-E6FB-A85D-1CCA-C03FC0760DA9}"/>
              </a:ext>
            </a:extLst>
          </p:cNvPr>
          <p:cNvSpPr txBox="1"/>
          <p:nvPr/>
        </p:nvSpPr>
        <p:spPr>
          <a:xfrm>
            <a:off x="9079990" y="365160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大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7353C4A-966A-570D-413D-9F59383455F8}"/>
              </a:ext>
            </a:extLst>
          </p:cNvPr>
          <p:cNvSpPr txBox="1"/>
          <p:nvPr/>
        </p:nvSpPr>
        <p:spPr>
          <a:xfrm>
            <a:off x="11509500" y="555736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大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FE1817BE-1496-69DF-6876-64F97FFA49EC}"/>
              </a:ext>
            </a:extLst>
          </p:cNvPr>
          <p:cNvSpPr txBox="1"/>
          <p:nvPr/>
        </p:nvSpPr>
        <p:spPr>
          <a:xfrm>
            <a:off x="11510083" y="365160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小</a:t>
            </a:r>
          </a:p>
        </p:txBody>
      </p:sp>
      <p:sp>
        <p:nvSpPr>
          <p:cNvPr id="43" name="向右箭號 42">
            <a:extLst>
              <a:ext uri="{FF2B5EF4-FFF2-40B4-BE49-F238E27FC236}">
                <a16:creationId xmlns:a16="http://schemas.microsoft.com/office/drawing/2014/main" id="{6FF4772A-8F3C-18D8-BDEC-A00725492966}"/>
              </a:ext>
            </a:extLst>
          </p:cNvPr>
          <p:cNvSpPr/>
          <p:nvPr/>
        </p:nvSpPr>
        <p:spPr>
          <a:xfrm rot="16200000">
            <a:off x="8951867" y="4249347"/>
            <a:ext cx="620448" cy="138837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向右箭號 44">
            <a:extLst>
              <a:ext uri="{FF2B5EF4-FFF2-40B4-BE49-F238E27FC236}">
                <a16:creationId xmlns:a16="http://schemas.microsoft.com/office/drawing/2014/main" id="{F142CBB1-B4CA-7C5B-BBFA-21A3B3476BAB}"/>
              </a:ext>
            </a:extLst>
          </p:cNvPr>
          <p:cNvSpPr/>
          <p:nvPr/>
        </p:nvSpPr>
        <p:spPr>
          <a:xfrm rot="5400000">
            <a:off x="9142927" y="5371149"/>
            <a:ext cx="238328" cy="138839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向右箭號 45">
            <a:extLst>
              <a:ext uri="{FF2B5EF4-FFF2-40B4-BE49-F238E27FC236}">
                <a16:creationId xmlns:a16="http://schemas.microsoft.com/office/drawing/2014/main" id="{F0C6809B-12BC-E521-E145-D0E9175373B0}"/>
              </a:ext>
            </a:extLst>
          </p:cNvPr>
          <p:cNvSpPr/>
          <p:nvPr/>
        </p:nvSpPr>
        <p:spPr>
          <a:xfrm rot="5400000">
            <a:off x="10923231" y="4721880"/>
            <a:ext cx="1552692" cy="10398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1ED1554-C867-C5C0-D1BB-919FB31E3364}"/>
              </a:ext>
            </a:extLst>
          </p:cNvPr>
          <p:cNvSpPr txBox="1"/>
          <p:nvPr/>
        </p:nvSpPr>
        <p:spPr>
          <a:xfrm>
            <a:off x="916585" y="2146509"/>
            <a:ext cx="10826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Group SNPs within the same cytoband as a continuous block.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B576263-879A-19BD-6ED7-21AA12AB0239}"/>
              </a:ext>
            </a:extLst>
          </p:cNvPr>
          <p:cNvSpPr txBox="1"/>
          <p:nvPr/>
        </p:nvSpPr>
        <p:spPr>
          <a:xfrm>
            <a:off x="610238" y="2935473"/>
            <a:ext cx="9638662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Steps :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6AB4EA58-0E7D-8A7B-D1FD-1220733A4605}"/>
              </a:ext>
            </a:extLst>
          </p:cNvPr>
          <p:cNvSpPr/>
          <p:nvPr/>
        </p:nvSpPr>
        <p:spPr>
          <a:xfrm>
            <a:off x="885825" y="3433002"/>
            <a:ext cx="2068067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B374EF6-58EB-E629-7DB7-B87D8AFFD496}"/>
              </a:ext>
            </a:extLst>
          </p:cNvPr>
          <p:cNvSpPr txBox="1"/>
          <p:nvPr/>
        </p:nvSpPr>
        <p:spPr>
          <a:xfrm>
            <a:off x="916585" y="3637910"/>
            <a:ext cx="1990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Missing_Cytoband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15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A284-BDC6-429B-E7FC-E3E06286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04D029E-79C1-2F11-37DE-585529D2D2EF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3)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AB5F4003-EDED-60BE-AD48-E960ABC97E9D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8AE0759F-E55F-F68E-740A-AC83ED6C29B9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9E0E8BAF-0AFE-E869-E8CE-45D9265CF02B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3A1CD06A-20E0-41AB-2740-9BF1DD1C736D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8B37C6A1-3170-98D1-2121-45A9C9FC7117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82099A61-1533-EE8C-CF7C-43D6CABA3D14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6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39EBA57-22C8-752E-5F8E-52D82743C714}"/>
              </a:ext>
            </a:extLst>
          </p:cNvPr>
          <p:cNvSpPr txBox="1"/>
          <p:nvPr/>
        </p:nvSpPr>
        <p:spPr>
          <a:xfrm>
            <a:off x="916585" y="3894598"/>
            <a:ext cx="1990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Missing_Cytoband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7AC4EE2-0141-D978-C8F8-BC59F0E385C9}"/>
              </a:ext>
            </a:extLst>
          </p:cNvPr>
          <p:cNvSpPr txBox="1"/>
          <p:nvPr/>
        </p:nvSpPr>
        <p:spPr>
          <a:xfrm>
            <a:off x="4028487" y="3888822"/>
            <a:ext cx="1332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Sorting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4" name="向右箭號 23">
            <a:extLst>
              <a:ext uri="{FF2B5EF4-FFF2-40B4-BE49-F238E27FC236}">
                <a16:creationId xmlns:a16="http://schemas.microsoft.com/office/drawing/2014/main" id="{3A7C6235-46D2-4E48-0A34-A8A38300D05F}"/>
              </a:ext>
            </a:extLst>
          </p:cNvPr>
          <p:cNvSpPr/>
          <p:nvPr/>
        </p:nvSpPr>
        <p:spPr>
          <a:xfrm>
            <a:off x="5672643" y="3704948"/>
            <a:ext cx="581891" cy="24938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CA4430CE-0FFD-759A-C37E-17BAE5D36242}"/>
              </a:ext>
            </a:extLst>
          </p:cNvPr>
          <p:cNvSpPr/>
          <p:nvPr/>
        </p:nvSpPr>
        <p:spPr>
          <a:xfrm>
            <a:off x="6430077" y="3431902"/>
            <a:ext cx="1615350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811B52C-F5D2-BEE4-EC3B-FE9BC0278396}"/>
              </a:ext>
            </a:extLst>
          </p:cNvPr>
          <p:cNvSpPr txBox="1"/>
          <p:nvPr/>
        </p:nvSpPr>
        <p:spPr>
          <a:xfrm>
            <a:off x="6571694" y="3549720"/>
            <a:ext cx="13321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separator pixel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F432B5-2C38-EE60-8911-D81392ADA9CB}"/>
              </a:ext>
            </a:extLst>
          </p:cNvPr>
          <p:cNvSpPr txBox="1"/>
          <p:nvPr/>
        </p:nvSpPr>
        <p:spPr>
          <a:xfrm>
            <a:off x="12302813" y="4853894"/>
            <a:ext cx="61001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1p36.33的所有SNP </a:t>
            </a:r>
            <a:endParaRPr lang="en-US" altLang="zh-TW" dirty="0"/>
          </a:p>
          <a:p>
            <a:r>
              <a:rPr lang="zh-TW" altLang="zh-TW" dirty="0"/>
              <a:t>1p36.33 separator </a:t>
            </a:r>
            <a:endParaRPr lang="en-US" altLang="zh-TW" dirty="0"/>
          </a:p>
          <a:p>
            <a:r>
              <a:rPr lang="zh-TW" altLang="zh-TW" dirty="0"/>
              <a:t>1p36.32的所有SNP </a:t>
            </a:r>
            <a:endParaRPr lang="en-US" altLang="zh-TW" dirty="0"/>
          </a:p>
          <a:p>
            <a:r>
              <a:rPr lang="zh-TW" altLang="zh-TW" dirty="0"/>
              <a:t>1p36.32 separator</a:t>
            </a:r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B0A061C-CD26-E03E-7CA7-62372A54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75" y="4607579"/>
            <a:ext cx="3327400" cy="1219200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28E0E371-3048-45D6-3F65-62675F2B467D}"/>
              </a:ext>
            </a:extLst>
          </p:cNvPr>
          <p:cNvSpPr txBox="1"/>
          <p:nvPr/>
        </p:nvSpPr>
        <p:spPr>
          <a:xfrm>
            <a:off x="6294078" y="6131637"/>
            <a:ext cx="2388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Songti SC" panose="02010600040101010101" pitchFamily="2" charset="-122"/>
                <a:ea typeface="Songti SC" panose="02010600040101010101" pitchFamily="2" charset="-122"/>
              </a:rPr>
              <a:t>Separator: RGB(255, 255, 255)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2B5C0E9-2AFF-C95B-1E3D-8020E04345F3}"/>
              </a:ext>
            </a:extLst>
          </p:cNvPr>
          <p:cNvSpPr txBox="1"/>
          <p:nvPr/>
        </p:nvSpPr>
        <p:spPr>
          <a:xfrm>
            <a:off x="610238" y="1715609"/>
            <a:ext cx="9638662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Purpose  : </a:t>
            </a:r>
          </a:p>
          <a:p>
            <a:pPr>
              <a:lnSpc>
                <a:spcPct val="150000"/>
              </a:lnSpc>
            </a:pP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SNP : 630941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48A841AC-E7B3-26BC-2EB0-30D30E763D08}"/>
              </a:ext>
            </a:extLst>
          </p:cNvPr>
          <p:cNvSpPr/>
          <p:nvPr/>
        </p:nvSpPr>
        <p:spPr>
          <a:xfrm>
            <a:off x="3915676" y="3442663"/>
            <a:ext cx="1615350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E51261-E829-FF85-A33A-C6F38CB6C981}"/>
              </a:ext>
            </a:extLst>
          </p:cNvPr>
          <p:cNvSpPr txBox="1"/>
          <p:nvPr/>
        </p:nvSpPr>
        <p:spPr>
          <a:xfrm>
            <a:off x="4057293" y="3646819"/>
            <a:ext cx="1332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Sorting 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32" name="向右箭號 31">
            <a:extLst>
              <a:ext uri="{FF2B5EF4-FFF2-40B4-BE49-F238E27FC236}">
                <a16:creationId xmlns:a16="http://schemas.microsoft.com/office/drawing/2014/main" id="{7572C1F4-45C3-5E55-F387-DF09661223B7}"/>
              </a:ext>
            </a:extLst>
          </p:cNvPr>
          <p:cNvSpPr/>
          <p:nvPr/>
        </p:nvSpPr>
        <p:spPr>
          <a:xfrm>
            <a:off x="3158241" y="3709260"/>
            <a:ext cx="581891" cy="249382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659F02A-66B7-C43B-9581-C35095050576}"/>
              </a:ext>
            </a:extLst>
          </p:cNvPr>
          <p:cNvSpPr txBox="1"/>
          <p:nvPr/>
        </p:nvSpPr>
        <p:spPr>
          <a:xfrm>
            <a:off x="916585" y="2146509"/>
            <a:ext cx="10826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Group SNPs within the same cytoband as a continuous block.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D353BA6-B17F-75DC-6399-A5DD8F1F7374}"/>
              </a:ext>
            </a:extLst>
          </p:cNvPr>
          <p:cNvSpPr txBox="1"/>
          <p:nvPr/>
        </p:nvSpPr>
        <p:spPr>
          <a:xfrm>
            <a:off x="610238" y="2935473"/>
            <a:ext cx="9638662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Steps :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CE42A047-1FDA-052F-F205-1D862966CBC0}"/>
              </a:ext>
            </a:extLst>
          </p:cNvPr>
          <p:cNvSpPr/>
          <p:nvPr/>
        </p:nvSpPr>
        <p:spPr>
          <a:xfrm>
            <a:off x="885825" y="3433002"/>
            <a:ext cx="2068067" cy="7954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FE2373F-788E-AB99-5F84-91532870D2B3}"/>
              </a:ext>
            </a:extLst>
          </p:cNvPr>
          <p:cNvSpPr txBox="1"/>
          <p:nvPr/>
        </p:nvSpPr>
        <p:spPr>
          <a:xfrm>
            <a:off x="916585" y="3637910"/>
            <a:ext cx="1990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 err="1">
                <a:latin typeface="Songti SC" panose="02010600040101010101" pitchFamily="2" charset="-122"/>
                <a:ea typeface="Songti SC" panose="02010600040101010101" pitchFamily="2" charset="-122"/>
              </a:rPr>
              <a:t>Missing_Cytoband</a:t>
            </a:r>
            <a:endParaRPr lang="zh-TW" altLang="en-US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B2628DF2-A006-6067-91E6-3525539FAA68}"/>
              </a:ext>
            </a:extLst>
          </p:cNvPr>
          <p:cNvGrpSpPr/>
          <p:nvPr/>
        </p:nvGrpSpPr>
        <p:grpSpPr>
          <a:xfrm>
            <a:off x="8254896" y="3459805"/>
            <a:ext cx="4093297" cy="1756971"/>
            <a:chOff x="8254896" y="3459805"/>
            <a:chExt cx="4093297" cy="1756971"/>
          </a:xfrm>
        </p:grpSpPr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1E7CC4B5-9E9E-5303-83A7-34D20C499E68}"/>
                </a:ext>
              </a:extLst>
            </p:cNvPr>
            <p:cNvGrpSpPr/>
            <p:nvPr/>
          </p:nvGrpSpPr>
          <p:grpSpPr>
            <a:xfrm>
              <a:off x="8254896" y="3459805"/>
              <a:ext cx="2291814" cy="795474"/>
              <a:chOff x="8254896" y="3459805"/>
              <a:chExt cx="2291814" cy="795474"/>
            </a:xfrm>
          </p:grpSpPr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D0843430-020D-79BD-BEF2-48E808E6FCE8}"/>
                  </a:ext>
                </a:extLst>
              </p:cNvPr>
              <p:cNvSpPr/>
              <p:nvPr/>
            </p:nvSpPr>
            <p:spPr>
              <a:xfrm>
                <a:off x="9007211" y="3459805"/>
                <a:ext cx="1539499" cy="795474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600" dirty="0"/>
              </a:p>
            </p:txBody>
          </p:sp>
          <p:grpSp>
            <p:nvGrpSpPr>
              <p:cNvPr id="40" name="群組 39">
                <a:extLst>
                  <a:ext uri="{FF2B5EF4-FFF2-40B4-BE49-F238E27FC236}">
                    <a16:creationId xmlns:a16="http://schemas.microsoft.com/office/drawing/2014/main" id="{78ECB734-0533-F1BC-E1FD-A3A66B9EDB25}"/>
                  </a:ext>
                </a:extLst>
              </p:cNvPr>
              <p:cNvGrpSpPr/>
              <p:nvPr/>
            </p:nvGrpSpPr>
            <p:grpSpPr>
              <a:xfrm>
                <a:off x="8254896" y="3541604"/>
                <a:ext cx="2170477" cy="584775"/>
                <a:chOff x="8254896" y="3541604"/>
                <a:chExt cx="2170477" cy="584775"/>
              </a:xfrm>
            </p:grpSpPr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8B197D37-F0B0-3E96-D01F-CA7D4E1DA44F}"/>
                    </a:ext>
                  </a:extLst>
                </p:cNvPr>
                <p:cNvSpPr txBox="1"/>
                <p:nvPr/>
              </p:nvSpPr>
              <p:spPr>
                <a:xfrm>
                  <a:off x="9128546" y="3541604"/>
                  <a:ext cx="1296827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" altLang="zh-TW" sz="1600" dirty="0">
                      <a:latin typeface="Songti SC" panose="02010600040101010101" pitchFamily="2" charset="-122"/>
                      <a:ea typeface="Songti SC" panose="02010600040101010101" pitchFamily="2" charset="-122"/>
                    </a:rPr>
                    <a:t>Image construction</a:t>
                  </a:r>
                  <a:endParaRPr lang="zh-TW" altLang="en-US" sz="1600" dirty="0"/>
                </a:p>
              </p:txBody>
            </p:sp>
            <p:sp>
              <p:nvSpPr>
                <p:cNvPr id="39" name="向右箭號 38">
                  <a:extLst>
                    <a:ext uri="{FF2B5EF4-FFF2-40B4-BE49-F238E27FC236}">
                      <a16:creationId xmlns:a16="http://schemas.microsoft.com/office/drawing/2014/main" id="{B86C8685-D768-B1D5-8BFD-44C027241C6A}"/>
                    </a:ext>
                  </a:extLst>
                </p:cNvPr>
                <p:cNvSpPr/>
                <p:nvPr/>
              </p:nvSpPr>
              <p:spPr>
                <a:xfrm>
                  <a:off x="8254896" y="3715548"/>
                  <a:ext cx="581891" cy="249382"/>
                </a:xfrm>
                <a:prstGeom prst="rightArrow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</p:grp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AD76BF8A-EA14-5A81-4AF6-792F22BBB31D}"/>
                </a:ext>
              </a:extLst>
            </p:cNvPr>
            <p:cNvSpPr txBox="1"/>
            <p:nvPr/>
          </p:nvSpPr>
          <p:spPr>
            <a:xfrm>
              <a:off x="9007211" y="4506582"/>
              <a:ext cx="3340982" cy="710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en-US" altLang="zh-TW" dirty="0">
                  <a:latin typeface="Songti SC" panose="02010600040101010101" pitchFamily="2" charset="-122"/>
                  <a:ea typeface="Songti SC" panose="02010600040101010101" pitchFamily="2" charset="-122"/>
                </a:rPr>
                <a:t>Image:</a:t>
              </a:r>
              <a:r>
                <a:rPr kumimoji="1" lang="zh-TW" altLang="en-US" dirty="0">
                  <a:latin typeface="Songti SC" panose="02010600040101010101" pitchFamily="2" charset="-122"/>
                  <a:ea typeface="Songti SC" panose="02010600040101010101" pitchFamily="2" charset="-122"/>
                </a:rPr>
                <a:t> </a:t>
              </a:r>
              <a:r>
                <a:rPr kumimoji="1" lang="en-US" altLang="zh-TW" dirty="0">
                  <a:latin typeface="Songti SC" panose="02010600040101010101" pitchFamily="2" charset="-122"/>
                  <a:ea typeface="Songti SC" panose="02010600040101010101" pitchFamily="2" charset="-122"/>
                </a:rPr>
                <a:t>795*795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kumimoji="1" lang="en-US" altLang="zh-TW" dirty="0">
                  <a:latin typeface="Songti SC" panose="02010600040101010101" pitchFamily="2" charset="-122"/>
                  <a:ea typeface="Songti SC" panose="02010600040101010101" pitchFamily="2" charset="-122"/>
                </a:rPr>
                <a:t>Padding:</a:t>
              </a:r>
              <a:r>
                <a:rPr kumimoji="1" lang="zh-TW" altLang="en-US" dirty="0">
                  <a:latin typeface="Songti SC" panose="02010600040101010101" pitchFamily="2" charset="-122"/>
                  <a:ea typeface="Songti SC" panose="02010600040101010101" pitchFamily="2" charset="-122"/>
                </a:rPr>
                <a:t> </a:t>
              </a:r>
              <a:r>
                <a:rPr kumimoji="1" lang="en-US" altLang="zh-TW" dirty="0">
                  <a:latin typeface="Songti SC" panose="02010600040101010101" pitchFamily="2" charset="-122"/>
                  <a:ea typeface="Songti SC" panose="02010600040101010101" pitchFamily="2" charset="-122"/>
                </a:rPr>
                <a:t>254</a:t>
              </a:r>
              <a:endParaRPr kumimoji="1" lang="zh-TW" altLang="en-US" dirty="0">
                <a:latin typeface="Songti SC" panose="02010600040101010101" pitchFamily="2" charset="-122"/>
                <a:ea typeface="Songti SC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51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ABBB-0131-7352-8979-AA476D2D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4BB8E2A-AE2C-4804-D7D7-86617295F7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" t="65915" r="1294" b="9858"/>
          <a:stretch>
            <a:fillRect/>
          </a:stretch>
        </p:blipFill>
        <p:spPr>
          <a:xfrm>
            <a:off x="1500467" y="3809434"/>
            <a:ext cx="9191065" cy="1856354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E23DB0E-ACF7-6F9E-9F42-59A01FA63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" t="17883" r="1294" b="58252"/>
          <a:stretch>
            <a:fillRect/>
          </a:stretch>
        </p:blipFill>
        <p:spPr>
          <a:xfrm>
            <a:off x="1499569" y="1440303"/>
            <a:ext cx="9191065" cy="182860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F5CDCE7-B091-6279-F221-AC32250B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083"/>
          <a:stretch>
            <a:fillRect/>
          </a:stretch>
        </p:blipFill>
        <p:spPr>
          <a:xfrm>
            <a:off x="1265897" y="1327896"/>
            <a:ext cx="9747897" cy="31472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EF06E7EF-8471-DE52-B705-7F7DE413F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580" b="45521"/>
          <a:stretch>
            <a:fillRect/>
          </a:stretch>
        </p:blipFill>
        <p:spPr>
          <a:xfrm>
            <a:off x="1340163" y="3539149"/>
            <a:ext cx="9692911" cy="407618"/>
          </a:xfrm>
          <a:prstGeom prst="rect">
            <a:avLst/>
          </a:prstGeom>
        </p:spPr>
      </p:pic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0287BAA5-CC3E-38EA-D3A6-BB128CB0A736}"/>
              </a:ext>
            </a:extLst>
          </p:cNvPr>
          <p:cNvCxnSpPr>
            <a:cxnSpLocks/>
          </p:cNvCxnSpPr>
          <p:nvPr/>
        </p:nvCxnSpPr>
        <p:spPr>
          <a:xfrm>
            <a:off x="1397030" y="1327896"/>
            <a:ext cx="0" cy="4268239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1C9E313C-0B60-0A1D-0BB3-8E54A4B898FC}"/>
              </a:ext>
            </a:extLst>
          </p:cNvPr>
          <p:cNvCxnSpPr>
            <a:cxnSpLocks/>
          </p:cNvCxnSpPr>
          <p:nvPr/>
        </p:nvCxnSpPr>
        <p:spPr>
          <a:xfrm flipH="1">
            <a:off x="1464588" y="5596135"/>
            <a:ext cx="3608895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FE4593F-37B5-2593-91C2-759579066C62}"/>
              </a:ext>
            </a:extLst>
          </p:cNvPr>
          <p:cNvCxnSpPr>
            <a:cxnSpLocks/>
          </p:cNvCxnSpPr>
          <p:nvPr/>
        </p:nvCxnSpPr>
        <p:spPr>
          <a:xfrm>
            <a:off x="5141043" y="3442063"/>
            <a:ext cx="0" cy="2190994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DC55F8F9-FFB5-A233-2544-CEE60F196FC2}"/>
              </a:ext>
            </a:extLst>
          </p:cNvPr>
          <p:cNvCxnSpPr>
            <a:cxnSpLocks/>
          </p:cNvCxnSpPr>
          <p:nvPr/>
        </p:nvCxnSpPr>
        <p:spPr>
          <a:xfrm flipH="1">
            <a:off x="5141043" y="3402373"/>
            <a:ext cx="3750296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04CD8643-1154-1403-CEE6-D169005EAE1F}"/>
              </a:ext>
            </a:extLst>
          </p:cNvPr>
          <p:cNvCxnSpPr>
            <a:cxnSpLocks/>
          </p:cNvCxnSpPr>
          <p:nvPr/>
        </p:nvCxnSpPr>
        <p:spPr>
          <a:xfrm>
            <a:off x="8988751" y="1327896"/>
            <a:ext cx="0" cy="2162713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CB5B543A-A1A8-9F6E-0CF1-0ABFDC5C897D}"/>
              </a:ext>
            </a:extLst>
          </p:cNvPr>
          <p:cNvCxnSpPr>
            <a:cxnSpLocks/>
          </p:cNvCxnSpPr>
          <p:nvPr/>
        </p:nvCxnSpPr>
        <p:spPr>
          <a:xfrm flipH="1">
            <a:off x="1464588" y="1327896"/>
            <a:ext cx="7426751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152;p16">
            <a:extLst>
              <a:ext uri="{FF2B5EF4-FFF2-40B4-BE49-F238E27FC236}">
                <a16:creationId xmlns:a16="http://schemas.microsoft.com/office/drawing/2014/main" id="{BB50237A-B3B0-394A-253F-AD90E8A260E2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7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</p:spTree>
    <p:extLst>
      <p:ext uri="{BB962C8B-B14F-4D97-AF65-F5344CB8AC3E}">
        <p14:creationId xmlns:p14="http://schemas.microsoft.com/office/powerpoint/2010/main" val="34041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6549-29ED-3A50-9836-C55A7AD3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80751A9-1BBF-78A5-0AC9-2A758183E6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639" t="65915" r="1294" b="9858"/>
          <a:stretch>
            <a:fillRect/>
          </a:stretch>
        </p:blipFill>
        <p:spPr>
          <a:xfrm>
            <a:off x="1500467" y="3809434"/>
            <a:ext cx="9191065" cy="1856354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A689CC9-FDCF-ADB9-50CA-C6619414D1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639" t="17883" r="1294" b="58252"/>
          <a:stretch>
            <a:fillRect/>
          </a:stretch>
        </p:blipFill>
        <p:spPr>
          <a:xfrm>
            <a:off x="1499569" y="1440303"/>
            <a:ext cx="9191065" cy="182860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BB66AFA6-60FB-54A6-9FF2-80D9D82D7A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rcRect b="96083"/>
          <a:stretch>
            <a:fillRect/>
          </a:stretch>
        </p:blipFill>
        <p:spPr>
          <a:xfrm>
            <a:off x="1265897" y="1327896"/>
            <a:ext cx="9747897" cy="31472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19F3630-3C0C-3BB6-9DDA-088CAE578A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rcRect t="49580" b="45521"/>
          <a:stretch>
            <a:fillRect/>
          </a:stretch>
        </p:blipFill>
        <p:spPr>
          <a:xfrm>
            <a:off x="1340163" y="3539149"/>
            <a:ext cx="9692911" cy="407618"/>
          </a:xfrm>
          <a:prstGeom prst="rect">
            <a:avLst/>
          </a:prstGeom>
        </p:spPr>
      </p:pic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0EB52336-1A28-4691-BB15-023944E79DDB}"/>
              </a:ext>
            </a:extLst>
          </p:cNvPr>
          <p:cNvCxnSpPr>
            <a:cxnSpLocks/>
          </p:cNvCxnSpPr>
          <p:nvPr/>
        </p:nvCxnSpPr>
        <p:spPr>
          <a:xfrm>
            <a:off x="1397030" y="1327896"/>
            <a:ext cx="0" cy="4268239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BEAB037-ACA2-6938-67EE-2BDA1CB31236}"/>
              </a:ext>
            </a:extLst>
          </p:cNvPr>
          <p:cNvCxnSpPr>
            <a:cxnSpLocks/>
          </p:cNvCxnSpPr>
          <p:nvPr/>
        </p:nvCxnSpPr>
        <p:spPr>
          <a:xfrm flipH="1">
            <a:off x="1464588" y="5596135"/>
            <a:ext cx="3608895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13CC795-F6BF-900D-5D01-80012B705438}"/>
              </a:ext>
            </a:extLst>
          </p:cNvPr>
          <p:cNvCxnSpPr>
            <a:cxnSpLocks/>
          </p:cNvCxnSpPr>
          <p:nvPr/>
        </p:nvCxnSpPr>
        <p:spPr>
          <a:xfrm>
            <a:off x="5141043" y="3442063"/>
            <a:ext cx="0" cy="2190994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797EED43-C407-8768-00A6-548B95C6DB8B}"/>
              </a:ext>
            </a:extLst>
          </p:cNvPr>
          <p:cNvCxnSpPr>
            <a:cxnSpLocks/>
          </p:cNvCxnSpPr>
          <p:nvPr/>
        </p:nvCxnSpPr>
        <p:spPr>
          <a:xfrm flipH="1">
            <a:off x="5141043" y="3402373"/>
            <a:ext cx="3750296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C7B154D-C5FA-6555-ECF9-B637ECDDAD50}"/>
              </a:ext>
            </a:extLst>
          </p:cNvPr>
          <p:cNvCxnSpPr>
            <a:cxnSpLocks/>
          </p:cNvCxnSpPr>
          <p:nvPr/>
        </p:nvCxnSpPr>
        <p:spPr>
          <a:xfrm>
            <a:off x="8988751" y="1327896"/>
            <a:ext cx="0" cy="2162713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DB7AACF1-C76A-217A-BAA1-23DFD9F58424}"/>
              </a:ext>
            </a:extLst>
          </p:cNvPr>
          <p:cNvCxnSpPr>
            <a:cxnSpLocks/>
          </p:cNvCxnSpPr>
          <p:nvPr/>
        </p:nvCxnSpPr>
        <p:spPr>
          <a:xfrm flipH="1">
            <a:off x="1464588" y="1327896"/>
            <a:ext cx="7426751" cy="0"/>
          </a:xfrm>
          <a:prstGeom prst="line">
            <a:avLst/>
          </a:prstGeom>
          <a:ln w="28575">
            <a:solidFill>
              <a:schemeClr val="tx2">
                <a:alpha val="64622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152;p16">
            <a:extLst>
              <a:ext uri="{FF2B5EF4-FFF2-40B4-BE49-F238E27FC236}">
                <a16:creationId xmlns:a16="http://schemas.microsoft.com/office/drawing/2014/main" id="{B4654460-86DF-7353-EC2F-4F580D09296B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8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BC1C65-5BB8-5167-FAFA-86FC898993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57" t="14812" r="21220" b="7991"/>
          <a:stretch>
            <a:fillRect/>
          </a:stretch>
        </p:blipFill>
        <p:spPr>
          <a:xfrm>
            <a:off x="2206925" y="2135425"/>
            <a:ext cx="3129474" cy="3077734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2CC9F06F-2ED3-657B-D930-B3F600FCAE03}"/>
              </a:ext>
            </a:extLst>
          </p:cNvPr>
          <p:cNvSpPr/>
          <p:nvPr/>
        </p:nvSpPr>
        <p:spPr>
          <a:xfrm flipV="1">
            <a:off x="3394472" y="1876754"/>
            <a:ext cx="754380" cy="738664"/>
          </a:xfrm>
          <a:prstGeom prst="ellipse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E94F9A5-E44A-0CA7-9CD7-D54BE0F98F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60" t="-114" r="29308" b="92107"/>
          <a:stretch>
            <a:fillRect/>
          </a:stretch>
        </p:blipFill>
        <p:spPr>
          <a:xfrm>
            <a:off x="3960682" y="607450"/>
            <a:ext cx="4609881" cy="44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77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89B5-AAAE-055A-4CBF-824C56A1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2CA1E75-95E8-6D74-F715-265ACA4FDFDB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2   :   data validation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B9E8D50A-B030-3D0D-936E-E5538D22354E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F5F9D4A9-7A0C-8A63-E0A4-C3EE198A72B4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26D3F7D7-140D-3D55-1EA3-6F8265D270F6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D4AD1873-A98E-C9D1-5BE0-3FF929FF3624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78A9F3DA-F6F8-75B6-0A5E-0D1B83011D12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18DE0444-4F8E-B1AF-ABE4-6B730B6BC0FF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9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8D79A49-14CE-5B44-D368-DF139F36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68" y="2006631"/>
            <a:ext cx="5671818" cy="13471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146BF34-7D20-B306-9B57-6641D9C25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89" y="4012342"/>
            <a:ext cx="2700506" cy="194098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E9C020A-4773-6345-60C0-F22FEE75A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193" y="3963184"/>
            <a:ext cx="2802685" cy="194098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7E0B163-3AC1-FAD4-7493-784195EFD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738" y="3963185"/>
            <a:ext cx="2672012" cy="194098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34D2D70-EB8E-C95F-6537-FBF32A596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1325" y="3955566"/>
            <a:ext cx="2786398" cy="194098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F0D9AC3-6DC3-FC9F-20DD-AEB8CE6F5261}"/>
              </a:ext>
            </a:extLst>
          </p:cNvPr>
          <p:cNvSpPr txBox="1"/>
          <p:nvPr/>
        </p:nvSpPr>
        <p:spPr>
          <a:xfrm flipH="1">
            <a:off x="544649" y="3569663"/>
            <a:ext cx="3097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In raw data(DM-002): 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937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4F56-5E45-75F9-48EE-32C4754E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344CBCA-8D99-5CDB-166B-049635CE1392}"/>
              </a:ext>
            </a:extLst>
          </p:cNvPr>
          <p:cNvSpPr txBox="1"/>
          <p:nvPr/>
        </p:nvSpPr>
        <p:spPr>
          <a:xfrm>
            <a:off x="468122" y="1186300"/>
            <a:ext cx="543123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2   :   data validation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102CC2F2-B2F8-019B-E393-3DCE19A9082D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AE529FD0-66DB-AFF6-91A7-16AE910AE312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F222F086-A313-8CC1-F93B-B5D2CCB4783C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C49822F1-58A4-34E4-9A18-7388F72F741D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461D2042-086F-4B93-6E22-D59CAE737237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Recent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CFD77FC8-4025-9E3C-B61A-1CA28F29F329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11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78598CA3-7470-1973-2FB2-B0C0919789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892"/>
          <a:stretch>
            <a:fillRect/>
          </a:stretch>
        </p:blipFill>
        <p:spPr>
          <a:xfrm>
            <a:off x="939171" y="2913256"/>
            <a:ext cx="2952713" cy="67157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3BF7B25-37D5-7EC9-4075-9B09A1A6BD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2952" b="-7736"/>
          <a:stretch>
            <a:fillRect/>
          </a:stretch>
        </p:blipFill>
        <p:spPr>
          <a:xfrm>
            <a:off x="939171" y="3838203"/>
            <a:ext cx="9458577" cy="839467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6BC2819-3FDA-5752-79D2-FABEC17FBD9C}"/>
              </a:ext>
            </a:extLst>
          </p:cNvPr>
          <p:cNvSpPr txBox="1"/>
          <p:nvPr/>
        </p:nvSpPr>
        <p:spPr>
          <a:xfrm flipH="1">
            <a:off x="591144" y="1753563"/>
            <a:ext cx="3097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In raw data(DM-002): </a:t>
            </a:r>
            <a:endParaRPr kumimoji="1"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B94AB80-8DE0-3CB3-C12E-10DC39EBEEAA}"/>
              </a:ext>
            </a:extLst>
          </p:cNvPr>
          <p:cNvSpPr txBox="1"/>
          <p:nvPr/>
        </p:nvSpPr>
        <p:spPr>
          <a:xfrm>
            <a:off x="12192000" y="2360358"/>
            <a:ext cx="77203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TW" altLang="zh-TW" dirty="0"/>
              <a:t>FLD 在 heterozygous cluster 或其中一個 homozygous cluster 為空時沒有定義。 </a:t>
            </a:r>
          </a:p>
          <a:p>
            <a:pPr lvl="0"/>
            <a:r>
              <a:rPr lang="zh-TW" altLang="zh-TW" dirty="0"/>
              <a:t>HomFLD 在沒有兩個 homozygous clusters 時沒有定義。 </a:t>
            </a:r>
          </a:p>
          <a:p>
            <a:pPr lvl="0"/>
            <a:r>
              <a:rPr lang="zh-TW" altLang="zh-TW" dirty="0"/>
              <a:t>HomRO 即使只有一個 homozygous cluster，仍然可以用該 cluster 到 Contrast=0 的距離計算。</a:t>
            </a:r>
            <a:endParaRPr lang="en-US" altLang="zh-TW" dirty="0"/>
          </a:p>
          <a:p>
            <a:pPr lvl="0"/>
            <a:r>
              <a:rPr lang="zh-TW" altLang="en-US" dirty="0">
                <a:highlight>
                  <a:srgbClr val="FFFF00"/>
                </a:highlight>
              </a:rPr>
              <a:t>這三個會和</a:t>
            </a:r>
            <a:r>
              <a:rPr lang="zh-TW" altLang="zh-TW" dirty="0">
                <a:highlight>
                  <a:srgbClr val="FFFF00"/>
                </a:highlight>
              </a:rPr>
              <a:t>ConversionType</a:t>
            </a:r>
            <a:r>
              <a:rPr lang="zh-TW" altLang="en-US" dirty="0">
                <a:highlight>
                  <a:srgbClr val="FFFF00"/>
                </a:highlight>
              </a:rPr>
              <a:t>有關</a:t>
            </a:r>
            <a:endParaRPr lang="en-US" altLang="zh-TW" dirty="0">
              <a:highlight>
                <a:srgbClr val="FFFF00"/>
              </a:highlight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7C8BE372-067A-E0D7-579C-2D0B25740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24" y="5207918"/>
            <a:ext cx="3410175" cy="1435863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21987B05-603A-AFE1-80EC-ED8E292DD60A}"/>
              </a:ext>
            </a:extLst>
          </p:cNvPr>
          <p:cNvSpPr txBox="1"/>
          <p:nvPr/>
        </p:nvSpPr>
        <p:spPr>
          <a:xfrm flipH="1">
            <a:off x="591144" y="4838586"/>
            <a:ext cx="644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8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Validation of image-relevant annotations</a:t>
            </a:r>
            <a:r>
              <a:rPr kumimoji="1" lang="zh-TW" altLang="en-US" sz="1800" dirty="0">
                <a:solidFill>
                  <a:schemeClr val="tx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：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909252C-85B2-8760-2F5C-2A38E1F410B1}"/>
              </a:ext>
            </a:extLst>
          </p:cNvPr>
          <p:cNvSpPr txBox="1"/>
          <p:nvPr/>
        </p:nvSpPr>
        <p:spPr>
          <a:xfrm>
            <a:off x="920524" y="2075114"/>
            <a:ext cx="111371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accent5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Non-numeric values in FLD, HomFLD, and HetSO were associated with specific genotype-cluster configurations and ConversionType categories.</a:t>
            </a:r>
            <a:endParaRPr lang="zh-TW" altLang="en-US" sz="1600" dirty="0">
              <a:solidFill>
                <a:schemeClr val="accent5">
                  <a:lumMod val="50000"/>
                </a:schemeClr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1B3DDAB-F4BA-2E1D-9E42-932E983EDDEC}"/>
              </a:ext>
            </a:extLst>
          </p:cNvPr>
          <p:cNvSpPr txBox="1"/>
          <p:nvPr/>
        </p:nvSpPr>
        <p:spPr>
          <a:xfrm>
            <a:off x="4148379" y="2789601"/>
            <a:ext cx="99576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tx2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FLD is undefined when the heterozygous cluster or one homozygous cluster is absent.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tx2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HomFLD is undefined when two homozygous clusters are not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tx2">
                    <a:lumMod val="50000"/>
                  </a:schemeClr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HomRO can still be calculated from a single homozygous cluster.</a:t>
            </a:r>
          </a:p>
        </p:txBody>
      </p:sp>
    </p:spTree>
    <p:extLst>
      <p:ext uri="{BB962C8B-B14F-4D97-AF65-F5344CB8AC3E}">
        <p14:creationId xmlns:p14="http://schemas.microsoft.com/office/powerpoint/2010/main" val="3071198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7368-D732-ABA1-926C-E61E2000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5836501-D14E-2BEA-5359-5C4980BCDA4F}"/>
              </a:ext>
            </a:extLst>
          </p:cNvPr>
          <p:cNvSpPr txBox="1"/>
          <p:nvPr/>
        </p:nvSpPr>
        <p:spPr>
          <a:xfrm>
            <a:off x="468122" y="1186300"/>
            <a:ext cx="945079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50000"/>
              </a:lnSpc>
              <a:buSzPts val="1800"/>
            </a:pPr>
            <a:r>
              <a:rPr lang="en" altLang="zh-TW" sz="1800" b="1" dirty="0">
                <a:solidFill>
                  <a:schemeClr val="tx1"/>
                </a:solidFill>
                <a:latin typeface="Alegreya"/>
                <a:ea typeface="Alegreya"/>
                <a:cs typeface="Alegreya"/>
                <a:sym typeface="Alegreya"/>
              </a:rPr>
              <a:t>|   Parallel 1   :   Image construction (Version 4) +  excluding chromosome Y</a:t>
            </a:r>
          </a:p>
        </p:txBody>
      </p:sp>
      <p:grpSp>
        <p:nvGrpSpPr>
          <p:cNvPr id="4" name="Google Shape;227;p20">
            <a:extLst>
              <a:ext uri="{FF2B5EF4-FFF2-40B4-BE49-F238E27FC236}">
                <a16:creationId xmlns:a16="http://schemas.microsoft.com/office/drawing/2014/main" id="{73ED9F7F-14A7-0956-6776-2CD9714FEAE6}"/>
              </a:ext>
            </a:extLst>
          </p:cNvPr>
          <p:cNvGrpSpPr/>
          <p:nvPr/>
        </p:nvGrpSpPr>
        <p:grpSpPr>
          <a:xfrm>
            <a:off x="492000" y="540000"/>
            <a:ext cx="2375892" cy="546000"/>
            <a:chOff x="492000" y="540000"/>
            <a:chExt cx="2375892" cy="546000"/>
          </a:xfrm>
        </p:grpSpPr>
        <p:sp>
          <p:nvSpPr>
            <p:cNvPr id="5" name="Google Shape;228;p20">
              <a:extLst>
                <a:ext uri="{FF2B5EF4-FFF2-40B4-BE49-F238E27FC236}">
                  <a16:creationId xmlns:a16="http://schemas.microsoft.com/office/drawing/2014/main" id="{7C87F26D-5595-574E-EAB8-16E2EF916F03}"/>
                </a:ext>
              </a:extLst>
            </p:cNvPr>
            <p:cNvSpPr/>
            <p:nvPr/>
          </p:nvSpPr>
          <p:spPr>
            <a:xfrm>
              <a:off x="492000" y="540000"/>
              <a:ext cx="2375892" cy="546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9;p20">
              <a:extLst>
                <a:ext uri="{FF2B5EF4-FFF2-40B4-BE49-F238E27FC236}">
                  <a16:creationId xmlns:a16="http://schemas.microsoft.com/office/drawing/2014/main" id="{20C641AA-95F8-6282-A692-EEB70F8566B0}"/>
                </a:ext>
              </a:extLst>
            </p:cNvPr>
            <p:cNvSpPr/>
            <p:nvPr/>
          </p:nvSpPr>
          <p:spPr>
            <a:xfrm>
              <a:off x="492000" y="540000"/>
              <a:ext cx="584100" cy="546000"/>
            </a:xfrm>
            <a:prstGeom prst="rect">
              <a:avLst/>
            </a:prstGeom>
            <a:solidFill>
              <a:srgbClr val="6FA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30;p20">
            <a:extLst>
              <a:ext uri="{FF2B5EF4-FFF2-40B4-BE49-F238E27FC236}">
                <a16:creationId xmlns:a16="http://schemas.microsoft.com/office/drawing/2014/main" id="{8E6CF542-FBB8-6727-0194-EE1D1E6DAA02}"/>
              </a:ext>
            </a:extLst>
          </p:cNvPr>
          <p:cNvSpPr txBox="1"/>
          <p:nvPr/>
        </p:nvSpPr>
        <p:spPr>
          <a:xfrm>
            <a:off x="544650" y="586563"/>
            <a:ext cx="478800" cy="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endParaRPr sz="3000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Google Shape;231;p20">
            <a:extLst>
              <a:ext uri="{FF2B5EF4-FFF2-40B4-BE49-F238E27FC236}">
                <a16:creationId xmlns:a16="http://schemas.microsoft.com/office/drawing/2014/main" id="{734A590C-0495-C085-9EE0-BA2689249145}"/>
              </a:ext>
            </a:extLst>
          </p:cNvPr>
          <p:cNvSpPr txBox="1"/>
          <p:nvPr/>
        </p:nvSpPr>
        <p:spPr>
          <a:xfrm>
            <a:off x="1161826" y="483897"/>
            <a:ext cx="1706066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rPr>
              <a:t>Future  work</a:t>
            </a: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7D44F23E-882B-0722-D635-DF99EB19C875}"/>
              </a:ext>
            </a:extLst>
          </p:cNvPr>
          <p:cNvSpPr txBox="1"/>
          <p:nvPr/>
        </p:nvSpPr>
        <p:spPr>
          <a:xfrm>
            <a:off x="11566900" y="6220650"/>
            <a:ext cx="30000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E9E9E"/>
                </a:solidFill>
                <a:latin typeface="Alegreya"/>
                <a:ea typeface="Alegreya"/>
                <a:cs typeface="Alegreya"/>
                <a:sym typeface="Alegreya"/>
              </a:rPr>
              <a:t>12</a:t>
            </a:r>
            <a:endParaRPr sz="1000" dirty="0">
              <a:solidFill>
                <a:srgbClr val="9E9E9E"/>
              </a:solidFill>
              <a:latin typeface="Alegreya"/>
              <a:ea typeface="Alegreya"/>
              <a:cs typeface="Alegreya"/>
              <a:sym typeface="Alegreya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E653D51-1B77-6016-95F0-E8F947C2D431}"/>
              </a:ext>
            </a:extLst>
          </p:cNvPr>
          <p:cNvSpPr txBox="1"/>
          <p:nvPr/>
        </p:nvSpPr>
        <p:spPr>
          <a:xfrm>
            <a:off x="610238" y="1715609"/>
            <a:ext cx="9638662" cy="190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Purpose</a:t>
            </a:r>
            <a:r>
              <a:rPr lang="en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     N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ucleotide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(e.g.,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A/A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A/G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,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G/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T) </a:t>
            </a:r>
            <a:r>
              <a:rPr lang="zh-TW" altLang="en-US" sz="1600" dirty="0"/>
              <a:t>→ </a:t>
            </a: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cytoband + </a:t>
            </a:r>
            <a:r>
              <a:rPr lang="en-US" altLang="zh-TW" sz="1600" dirty="0">
                <a:highlight>
                  <a:srgbClr val="E3F2FE"/>
                </a:highlight>
                <a:latin typeface="Songti SC" panose="02010600040101010101" pitchFamily="2" charset="-122"/>
                <a:ea typeface="Songti SC" panose="02010600040101010101" pitchFamily="2" charset="-122"/>
              </a:rPr>
              <a:t>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Songti SC" panose="02010600040101010101" pitchFamily="2" charset="-122"/>
                <a:ea typeface="Songti SC" panose="02010600040101010101" pitchFamily="2" charset="-122"/>
              </a:rPr>
              <a:t>Limitation: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      </a:t>
            </a:r>
            <a:r>
              <a:rPr lang="zh-TW" altLang="zh-TW" sz="1600" dirty="0">
                <a:latin typeface="Songti SC" panose="02010600040101010101" pitchFamily="2" charset="-122"/>
                <a:ea typeface="Songti SC" panose="02010600040101010101" pitchFamily="2" charset="-122"/>
              </a:rPr>
              <a:t>LD estimation is currently paused because the sample size is too small for stable analysis in PLINK.</a:t>
            </a:r>
            <a:endParaRPr lang="en-US" altLang="zh-TW" sz="1600" dirty="0">
              <a:highlight>
                <a:srgbClr val="E3F2FE"/>
              </a:highlight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TW" sz="16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3720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0"/>
          <p:cNvPicPr preferRelativeResize="0"/>
          <p:nvPr/>
        </p:nvPicPr>
        <p:blipFill rotWithShape="1">
          <a:blip r:embed="rId3">
            <a:alphaModFix/>
          </a:blip>
          <a:srcRect r="80745"/>
          <a:stretch/>
        </p:blipFill>
        <p:spPr>
          <a:xfrm>
            <a:off x="8014002" y="540000"/>
            <a:ext cx="842099" cy="8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 rotWithShape="1">
          <a:blip r:embed="rId4">
            <a:alphaModFix/>
          </a:blip>
          <a:srcRect l="18467"/>
          <a:stretch/>
        </p:blipFill>
        <p:spPr>
          <a:xfrm>
            <a:off x="8856100" y="622900"/>
            <a:ext cx="2843900" cy="6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0"/>
          <p:cNvSpPr/>
          <p:nvPr/>
        </p:nvSpPr>
        <p:spPr>
          <a:xfrm>
            <a:off x="-3322025" y="0"/>
            <a:ext cx="6249300" cy="6858000"/>
          </a:xfrm>
          <a:prstGeom prst="flowChartDelay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0"/>
          <p:cNvSpPr txBox="1">
            <a:spLocks noGrp="1"/>
          </p:cNvSpPr>
          <p:nvPr>
            <p:ph type="ctrTitle"/>
          </p:nvPr>
        </p:nvSpPr>
        <p:spPr>
          <a:xfrm>
            <a:off x="3279650" y="2967825"/>
            <a:ext cx="79059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800">
                <a:latin typeface="Pinyon Script"/>
                <a:ea typeface="Pinyon Script"/>
                <a:cs typeface="Pinyon Script"/>
                <a:sym typeface="Pinyon Script"/>
              </a:rPr>
              <a:t>Thanks  for  listening</a:t>
            </a:r>
            <a:endParaRPr sz="6800">
              <a:latin typeface="Pinyon Script"/>
              <a:ea typeface="Pinyon Script"/>
              <a:cs typeface="Pinyon Script"/>
              <a:sym typeface="Pinyon Scrip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B81387-FD35-DC45-3970-1E7B5D16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E8D72B-3C9C-69D9-138F-98D4BB206D69}"/>
              </a:ext>
            </a:extLst>
          </p:cNvPr>
          <p:cNvSpPr txBox="1"/>
          <p:nvPr/>
        </p:nvSpPr>
        <p:spPr>
          <a:xfrm>
            <a:off x="479425" y="719527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version2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DBBD28-F476-A84F-3A76-24F67653C3A1}"/>
              </a:ext>
            </a:extLst>
          </p:cNvPr>
          <p:cNvSpPr txBox="1"/>
          <p:nvPr/>
        </p:nvSpPr>
        <p:spPr>
          <a:xfrm>
            <a:off x="479425" y="1027304"/>
            <a:ext cx="6100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dirty="0"/>
              <a:t>把 genotype 拆解成實際的 nucleotide 組合，例如 A/A、A/G、G/G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A4F6A12-3CB0-F5B8-3829-E9821181DD42}"/>
              </a:ext>
            </a:extLst>
          </p:cNvPr>
          <p:cNvSpPr txBox="1"/>
          <p:nvPr/>
        </p:nvSpPr>
        <p:spPr>
          <a:xfrm>
            <a:off x="909991" y="1929745"/>
            <a:ext cx="10766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</a:t>
            </a:r>
            <a:r>
              <a:rPr lang="zh-TW" altLang="zh-TW" dirty="0"/>
              <a:t>ucleotide encoding </a:t>
            </a:r>
            <a:r>
              <a:rPr lang="en-US" altLang="zh-TW" dirty="0"/>
              <a:t>                                   </a:t>
            </a:r>
            <a:r>
              <a:rPr lang="zh-TW" altLang="zh-TW" dirty="0"/>
              <a:t>→ </a:t>
            </a:r>
            <a:r>
              <a:rPr lang="en-US" altLang="zh-TW" dirty="0"/>
              <a:t>       </a:t>
            </a:r>
            <a:r>
              <a:rPr lang="zh-TW" altLang="zh-TW" dirty="0"/>
              <a:t>2. Cytoband</a:t>
            </a:r>
            <a:r>
              <a:rPr lang="en-US" altLang="zh-TW" dirty="0"/>
              <a:t>.      </a:t>
            </a:r>
            <a:r>
              <a:rPr lang="zh-TW" altLang="zh-TW" dirty="0"/>
              <a:t>→</a:t>
            </a:r>
            <a:r>
              <a:rPr lang="en-US" altLang="zh-TW" dirty="0"/>
              <a:t>                 </a:t>
            </a:r>
            <a:r>
              <a:rPr lang="zh-TW" altLang="zh-TW" dirty="0"/>
              <a:t> 3. LD</a:t>
            </a:r>
            <a:r>
              <a:rPr lang="en-US" altLang="zh-TW" dirty="0"/>
              <a:t>(</a:t>
            </a:r>
            <a:r>
              <a:rPr lang="zh-TW" altLang="en-US" dirty="0"/>
              <a:t>要用</a:t>
            </a:r>
            <a:r>
              <a:rPr lang="en-US" altLang="zh-TW" dirty="0" err="1"/>
              <a:t>gplink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D86ED28-809A-A0DC-7DB2-CD5C209FDABB}"/>
              </a:ext>
            </a:extLst>
          </p:cNvPr>
          <p:cNvSpPr txBox="1"/>
          <p:nvPr/>
        </p:nvSpPr>
        <p:spPr>
          <a:xfrm>
            <a:off x="966864" y="2880737"/>
            <a:ext cx="19562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A/A, A/C, A/G, A/T, C/C, C/G, C/T, G/G, G/T, T/T, NoCall, Y_not_applicable, Padding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1CB4BE0-33F8-E668-856B-7D6C539794DC}"/>
              </a:ext>
            </a:extLst>
          </p:cNvPr>
          <p:cNvSpPr txBox="1"/>
          <p:nvPr/>
        </p:nvSpPr>
        <p:spPr>
          <a:xfrm>
            <a:off x="712032" y="5291528"/>
            <a:ext cx="24658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只改 genotype 表徵，不改 layout，影像資訊會不會更細？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BB4CA4B-CC00-C82E-B4E6-3C869F952B37}"/>
              </a:ext>
            </a:extLst>
          </p:cNvPr>
          <p:cNvSpPr txBox="1"/>
          <p:nvPr/>
        </p:nvSpPr>
        <p:spPr>
          <a:xfrm>
            <a:off x="4144519" y="2690336"/>
            <a:ext cx="30957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內容仍是 nucleotide，</a:t>
            </a:r>
            <a:br>
              <a:rPr lang="zh-TW" altLang="zh-TW" dirty="0"/>
            </a:br>
            <a:r>
              <a:rPr lang="zh-TW" altLang="zh-TW" dirty="0"/>
              <a:t>但排列改成Chr_id → Cytoband → Start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3B5CC5-98C5-B7B6-8507-7F9B0AA26B31}"/>
              </a:ext>
            </a:extLst>
          </p:cNvPr>
          <p:cNvSpPr txBox="1"/>
          <p:nvPr/>
        </p:nvSpPr>
        <p:spPr>
          <a:xfrm>
            <a:off x="966864" y="2500442"/>
            <a:ext cx="61009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400" dirty="0"/>
              <a:t>Chr_id → Start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EE16F95-F450-1E87-ACED-499E72A50AB2}"/>
              </a:ext>
            </a:extLst>
          </p:cNvPr>
          <p:cNvSpPr txBox="1"/>
          <p:nvPr/>
        </p:nvSpPr>
        <p:spPr>
          <a:xfrm>
            <a:off x="4144519" y="5291528"/>
            <a:ext cx="3095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如果讓影像排列更符合染色體結構，會不會比單純折成正方形更合理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DA20B68-CF42-1DC4-87BC-D847D9058D89}"/>
              </a:ext>
            </a:extLst>
          </p:cNvPr>
          <p:cNvSpPr txBox="1"/>
          <p:nvPr/>
        </p:nvSpPr>
        <p:spPr>
          <a:xfrm>
            <a:off x="7562538" y="2726848"/>
            <a:ext cx="61009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先用 240 人估 LD block</a:t>
            </a:r>
            <a:endParaRPr lang="en-US" altLang="zh-TW" dirty="0"/>
          </a:p>
          <a:p>
            <a:r>
              <a:rPr lang="zh-TW" altLang="en-US" dirty="0"/>
              <a:t>排列：</a:t>
            </a:r>
            <a:r>
              <a:rPr lang="zh-TW" altLang="zh-TW" dirty="0"/>
              <a:t> </a:t>
            </a:r>
            <a:endParaRPr lang="en-US" altLang="zh-TW" dirty="0"/>
          </a:p>
          <a:p>
            <a:r>
              <a:rPr lang="zh-TW" altLang="zh-TW" dirty="0"/>
              <a:t>Chr_id → LD_block → Start</a:t>
            </a:r>
            <a:endParaRPr lang="en-US" altLang="zh-TW" dirty="0"/>
          </a:p>
          <a:p>
            <a:r>
              <a:rPr lang="zh-TW" altLang="zh-TW" dirty="0"/>
              <a:t>Chr_id → Cytoband → LD_block → Start</a:t>
            </a:r>
            <a:endParaRPr lang="en-US" altLang="zh-TW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065588-7ADC-3415-A5B8-36633CA49F29}"/>
              </a:ext>
            </a:extLst>
          </p:cNvPr>
          <p:cNvSpPr txBox="1"/>
          <p:nvPr/>
        </p:nvSpPr>
        <p:spPr>
          <a:xfrm>
            <a:off x="7435122" y="5291528"/>
            <a:ext cx="32378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如果把彼此高度相關的 SNP 排得更靠近，模型能不能更容易學到 genomic correlation pattern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8412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52F588D-AE32-67F8-2AA1-1CE42B1498EB}"/>
              </a:ext>
            </a:extLst>
          </p:cNvPr>
          <p:cNvSpPr txBox="1"/>
          <p:nvPr/>
        </p:nvSpPr>
        <p:spPr>
          <a:xfrm>
            <a:off x="479425" y="584200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version3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A802B1A-0759-C204-CCBB-EA4544925CE8}"/>
              </a:ext>
            </a:extLst>
          </p:cNvPr>
          <p:cNvSpPr txBox="1"/>
          <p:nvPr/>
        </p:nvSpPr>
        <p:spPr>
          <a:xfrm>
            <a:off x="479425" y="1048610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Step2 </a:t>
            </a:r>
            <a:r>
              <a:rPr lang="zh-TW" altLang="zh-TW" dirty="0"/>
              <a:t>建立完整 Cytoband ID 與物理順序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CE4CA4A-6971-B2D4-CAA1-3B7970AE1A48}"/>
              </a:ext>
            </a:extLst>
          </p:cNvPr>
          <p:cNvSpPr txBox="1"/>
          <p:nvPr/>
        </p:nvSpPr>
        <p:spPr>
          <a:xfrm>
            <a:off x="479425" y="1513020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Cytoband 的編號是由著絲粒向染色體末端增加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0F7EA9B-E3C5-E9D7-609F-E2AEBE8332B6}"/>
              </a:ext>
            </a:extLst>
          </p:cNvPr>
          <p:cNvSpPr txBox="1"/>
          <p:nvPr/>
        </p:nvSpPr>
        <p:spPr>
          <a:xfrm>
            <a:off x="479425" y="2179760"/>
            <a:ext cx="106659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染色體 → 染色體臂 → 區域 → 條帶 → 次條帶</a:t>
            </a:r>
            <a:r>
              <a:rPr lang="en-US" altLang="zh-TW" dirty="0"/>
              <a:t>:</a:t>
            </a:r>
          </a:p>
          <a:p>
            <a:r>
              <a:rPr lang="zh-TW" altLang="zh-TW" dirty="0"/>
              <a:t>整條染色體 → 分成 p arm 與 q arm → 每個 arm 分成數個 region → 每個 region 再分成 band → band 還可以再分成 sub-band</a:t>
            </a:r>
            <a:endParaRPr lang="en-US" altLang="zh-TW" dirty="0"/>
          </a:p>
          <a:p>
            <a:r>
              <a:rPr lang="en-US" altLang="zh-TW" b="1" dirty="0"/>
              <a:t>=&gt;</a:t>
            </a:r>
            <a:r>
              <a:rPr lang="zh-TW" altLang="en-US" b="1" dirty="0"/>
              <a:t>順序：</a:t>
            </a:r>
            <a:r>
              <a:rPr lang="zh-TW" altLang="zh-TW" b="1" dirty="0"/>
              <a:t> pter → p arm → centromere → q arm → qter</a:t>
            </a:r>
            <a:endParaRPr lang="en-US" altLang="zh-TW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246631-78D9-55E0-7DA1-291B1C5FCB98}"/>
              </a:ext>
            </a:extLst>
          </p:cNvPr>
          <p:cNvSpPr txBox="1"/>
          <p:nvPr/>
        </p:nvSpPr>
        <p:spPr>
          <a:xfrm>
            <a:off x="510158" y="5560424"/>
            <a:ext cx="86395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細胞分裂到中期時，染色體高度濃縮</a:t>
            </a:r>
            <a:endParaRPr lang="en-US" altLang="zh-TW" dirty="0"/>
          </a:p>
          <a:p>
            <a:r>
              <a:rPr lang="zh-TW" altLang="zh-TW" dirty="0"/>
              <a:t>經過 Giemsa staining 後，染色體會呈現深淺相間的條帶</a:t>
            </a:r>
            <a:endParaRPr lang="en-US" altLang="zh-TW" dirty="0"/>
          </a:p>
          <a:p>
            <a:r>
              <a:rPr lang="zh-TW" altLang="en-US" dirty="0"/>
              <a:t>行程</a:t>
            </a:r>
            <a:r>
              <a:rPr lang="zh-TW" altLang="zh-TW" dirty="0"/>
              <a:t>辨認的條帶形成 cytogenetic bands</a:t>
            </a:r>
            <a:r>
              <a:rPr lang="en-US" altLang="zh-TW" dirty="0"/>
              <a:t> </a:t>
            </a:r>
            <a:r>
              <a:rPr lang="zh-TW" altLang="zh-TW" dirty="0"/>
              <a:t>用它來描述基因或染色體異常的大概位置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FFD6D9C-067A-1C3A-9149-68B91AC63589}"/>
              </a:ext>
            </a:extLst>
          </p:cNvPr>
          <p:cNvSpPr txBox="1"/>
          <p:nvPr/>
        </p:nvSpPr>
        <p:spPr>
          <a:xfrm>
            <a:off x="501438" y="4157296"/>
            <a:ext cx="554104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/>
              <a:t>centromere，著絲粒</a:t>
            </a:r>
            <a:endParaRPr lang="en-US" altLang="zh-TW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染色體中間有一個較窄的區域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它把染色體分成p arm：短臂</a:t>
            </a:r>
            <a:r>
              <a:rPr lang="en-US" altLang="zh-TW" dirty="0"/>
              <a:t>/</a:t>
            </a:r>
            <a:r>
              <a:rPr lang="zh-TW" altLang="zh-TW" dirty="0"/>
              <a:t> q arm：長臂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編號從裡面到外，小到大（不</a:t>
            </a:r>
            <a:r>
              <a:rPr lang="zh-TW" altLang="zh-TW" dirty="0"/>
              <a:t>是實際距離</a:t>
            </a:r>
            <a:r>
              <a:rPr lang="zh-TW" altLang="en-US" dirty="0"/>
              <a:t>）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dirty="0"/>
              <a:t>17p13.1</a:t>
            </a:r>
            <a:r>
              <a:rPr lang="en-US" altLang="zh-TW" dirty="0"/>
              <a:t>:</a:t>
            </a:r>
            <a:r>
              <a:rPr lang="zh-TW" altLang="zh-TW" dirty="0"/>
              <a:t>第 17 號染色體短臂，第 1 區域、第 3 條帶、第 1 次條帶。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9EC9E9C2-E1D4-2E26-048F-F54D6A24D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081" y="2950842"/>
            <a:ext cx="3783256" cy="313280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A30F7C-2B71-B759-05AD-A2F5A4E1FE80}"/>
              </a:ext>
            </a:extLst>
          </p:cNvPr>
          <p:cNvSpPr txBox="1"/>
          <p:nvPr/>
        </p:nvSpPr>
        <p:spPr>
          <a:xfrm>
            <a:off x="7947764" y="6083644"/>
            <a:ext cx="61001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/>
              <a:t>https://zh.wikipedia.org/zh-tw/%E5%9F%BA%E5%9B%A0%E5%BA%A7#/media/File:Cytogenetic_Banding_Nomenclature.png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B7AE034-75F3-12C4-78EA-AD2A6BAAD78E}"/>
              </a:ext>
            </a:extLst>
          </p:cNvPr>
          <p:cNvSpPr txBox="1"/>
          <p:nvPr/>
        </p:nvSpPr>
        <p:spPr>
          <a:xfrm>
            <a:off x="5383922" y="294557"/>
            <a:ext cx="6808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en-US" sz="1200" dirty="0">
                <a:highlight>
                  <a:srgbClr val="FFFF00"/>
                </a:highlight>
              </a:rPr>
              <a:t>編號不直觀 要注意</a:t>
            </a:r>
            <a:endParaRPr lang="en-US" altLang="zh-TW" sz="1200" dirty="0">
              <a:highlight>
                <a:srgbClr val="FFFF00"/>
              </a:highlight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1200" dirty="0">
                <a:highlight>
                  <a:srgbClr val="FFFF00"/>
                </a:highlight>
              </a:rPr>
              <a:t>p arm：隨著 </a:t>
            </a:r>
            <a:r>
              <a:rPr lang="zh-TW" altLang="zh-TW" sz="1200" dirty="0">
                <a:highlight>
                  <a:srgbClr val="FFFF00"/>
                </a:highlight>
                <a:latin typeface="Courier New" panose="02070309020205020404" pitchFamily="49" charset="0"/>
              </a:rPr>
              <a:t>Start</a:t>
            </a:r>
            <a:r>
              <a:rPr lang="zh-TW" altLang="zh-TW" sz="1200" dirty="0">
                <a:highlight>
                  <a:srgbClr val="FFFF00"/>
                </a:highlight>
              </a:rPr>
              <a:t> 增加，Cytoband 編號通常逐漸變小，因為正在從 pter 走向 centromere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sz="1200" dirty="0">
                <a:highlight>
                  <a:srgbClr val="FFFF00"/>
                </a:highlight>
              </a:rPr>
              <a:t>q arm：隨著 </a:t>
            </a:r>
            <a:r>
              <a:rPr lang="zh-TW" altLang="zh-TW" sz="1200" dirty="0">
                <a:highlight>
                  <a:srgbClr val="FFFF00"/>
                </a:highlight>
                <a:latin typeface="Courier New" panose="02070309020205020404" pitchFamily="49" charset="0"/>
              </a:rPr>
              <a:t>Start</a:t>
            </a:r>
            <a:r>
              <a:rPr lang="zh-TW" altLang="zh-TW" sz="1200" dirty="0">
                <a:highlight>
                  <a:srgbClr val="FFFF00"/>
                </a:highlight>
              </a:rPr>
              <a:t> 增加，Cytoband 編號逐漸變大，因為正在從 centromere 走向 qter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9E93341-FC27-5FD4-4AC1-619804D1E30D}"/>
              </a:ext>
            </a:extLst>
          </p:cNvPr>
          <p:cNvSpPr txBox="1"/>
          <p:nvPr/>
        </p:nvSpPr>
        <p:spPr>
          <a:xfrm>
            <a:off x="729945" y="2950842"/>
            <a:ext cx="7027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Courier New" panose="02070309020205020404" pitchFamily="49" charset="0"/>
              </a:rPr>
              <a:t>Start</a:t>
            </a:r>
            <a:r>
              <a:rPr lang="zh-TW" altLang="zh-TW" sz="1200" dirty="0"/>
              <a:t> 越大，通常越接近著絲粒，Cytoband 編號反而逐漸變小</a:t>
            </a:r>
            <a:endParaRPr lang="en-US" altLang="zh-TW" sz="1200" dirty="0"/>
          </a:p>
          <a:p>
            <a:r>
              <a:rPr lang="zh-TW" altLang="zh-TW" sz="1200" dirty="0"/>
              <a:t>q arm 是由較小 band 編號排到較大 band 編號</a:t>
            </a:r>
            <a:endParaRPr lang="zh-TW" altLang="en-US" sz="12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ACD4BFF9-7B37-1017-AC13-01FFC2BA4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32" y="1048610"/>
            <a:ext cx="4703263" cy="10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13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78FC0CE-F8EE-5892-6D98-668C5DD4489E}"/>
              </a:ext>
            </a:extLst>
          </p:cNvPr>
          <p:cNvSpPr txBox="1"/>
          <p:nvPr/>
        </p:nvSpPr>
        <p:spPr>
          <a:xfrm>
            <a:off x="479425" y="584200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version3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B9A461-76B8-FDE4-B3E8-E869149A1DE9}"/>
              </a:ext>
            </a:extLst>
          </p:cNvPr>
          <p:cNvSpPr txBox="1"/>
          <p:nvPr/>
        </p:nvSpPr>
        <p:spPr>
          <a:xfrm>
            <a:off x="479424" y="1286605"/>
            <a:ext cx="123472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TW" altLang="zh-TW" dirty="0">
                <a:highlight>
                  <a:srgbClr val="F5F9FE"/>
                </a:highlight>
              </a:rPr>
              <a:t>cytoband </a:t>
            </a:r>
            <a:r>
              <a:rPr lang="zh-TW" altLang="zh-TW" dirty="0"/>
              <a:t>會提供每個染色體條帶的</a:t>
            </a:r>
            <a:r>
              <a:rPr lang="zh-TW" altLang="en-US" dirty="0"/>
              <a:t>大致位置、</a:t>
            </a:r>
            <a:r>
              <a:rPr lang="zh-TW" altLang="zh-TW" dirty="0"/>
              <a:t> chromosome </a:t>
            </a:r>
            <a:r>
              <a:rPr lang="zh-TW" altLang="en-US" dirty="0"/>
              <a:t>、</a:t>
            </a:r>
            <a:r>
              <a:rPr lang="zh-TW" altLang="zh-TW" dirty="0"/>
              <a:t>band start </a:t>
            </a:r>
            <a:r>
              <a:rPr lang="zh-TW" altLang="en-US" dirty="0"/>
              <a:t>、</a:t>
            </a:r>
            <a:r>
              <a:rPr lang="zh-TW" altLang="zh-TW" dirty="0"/>
              <a:t>band end </a:t>
            </a:r>
            <a:r>
              <a:rPr lang="zh-TW" altLang="en-US" dirty="0"/>
              <a:t>、</a:t>
            </a:r>
            <a:r>
              <a:rPr lang="zh-TW" altLang="zh-TW" dirty="0"/>
              <a:t>band name，例如 p36.33、q21.1 </a:t>
            </a:r>
            <a:r>
              <a:rPr lang="zh-TW" altLang="en-US" dirty="0"/>
              <a:t>、</a:t>
            </a:r>
            <a:r>
              <a:rPr lang="zh-TW" altLang="zh-TW" dirty="0"/>
              <a:t>Giemsa staining 類型</a:t>
            </a:r>
            <a:endParaRPr lang="en-US" altLang="zh-TW" dirty="0"/>
          </a:p>
          <a:p>
            <a:pPr lvl="0"/>
            <a:endParaRPr lang="en-US" altLang="zh-TW" dirty="0"/>
          </a:p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加入目的：</a:t>
            </a: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將同一 cytoband 的 SNP 視為同一區塊，並在不同 cytoband 之間加入 separator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讓不同條帶之間留一小段空白或特殊顏色，避免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CNN 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把兩個不同區域誤認為連續相鄰</a:t>
            </a:r>
            <a:endParaRPr lang="zh-TW" altLang="zh-TW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TW" altLang="en-US" dirty="0"/>
              <a:t>、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FC5A524-4B9A-8B24-2E4B-82A32B058B81}"/>
              </a:ext>
            </a:extLst>
          </p:cNvPr>
          <p:cNvSpPr txBox="1"/>
          <p:nvPr/>
        </p:nvSpPr>
        <p:spPr>
          <a:xfrm>
            <a:off x="1578279" y="537018"/>
            <a:ext cx="7365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TW" altLang="en-US" dirty="0">
                <a:highlight>
                  <a:srgbClr val="FFFF00"/>
                </a:highlight>
              </a:rPr>
              <a:t>使用</a:t>
            </a:r>
            <a:r>
              <a:rPr kumimoji="1" lang="en-US" altLang="zh-TW" dirty="0">
                <a:highlight>
                  <a:srgbClr val="FFFF00"/>
                </a:highlight>
              </a:rPr>
              <a:t>cytoband </a:t>
            </a:r>
            <a:r>
              <a:rPr kumimoji="1" lang="zh-TW" altLang="en-US" dirty="0">
                <a:highlight>
                  <a:srgbClr val="FFFF00"/>
                </a:highlight>
              </a:rPr>
              <a:t>修改排列 其他都跟</a:t>
            </a:r>
            <a:r>
              <a:rPr kumimoji="1" lang="en-US" altLang="zh-TW" dirty="0">
                <a:highlight>
                  <a:srgbClr val="FFFF00"/>
                </a:highlight>
              </a:rPr>
              <a:t>version2</a:t>
            </a:r>
            <a:r>
              <a:rPr kumimoji="1" lang="zh-TW" altLang="en-US" dirty="0">
                <a:highlight>
                  <a:srgbClr val="FFFF00"/>
                </a:highlight>
              </a:rPr>
              <a:t>相同</a:t>
            </a:r>
            <a:endParaRPr kumimoji="1" lang="en-US" altLang="zh-TW" dirty="0">
              <a:highlight>
                <a:srgbClr val="FFFF00"/>
              </a:highlight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>
                <a:highlight>
                  <a:srgbClr val="FFFF00"/>
                </a:highlight>
              </a:rPr>
              <a:t>找出</a:t>
            </a:r>
            <a:r>
              <a:rPr kumimoji="1" lang="en-US" altLang="zh-TW" dirty="0">
                <a:highlight>
                  <a:srgbClr val="FFFF00"/>
                </a:highlight>
              </a:rPr>
              <a:t>21</a:t>
            </a:r>
            <a:r>
              <a:rPr kumimoji="1" lang="zh-TW" altLang="en-US" dirty="0">
                <a:highlight>
                  <a:srgbClr val="FFFF00"/>
                </a:highlight>
              </a:rPr>
              <a:t>個</a:t>
            </a:r>
            <a:r>
              <a:rPr kumimoji="1" lang="en-US" altLang="zh-TW" dirty="0" err="1">
                <a:highlight>
                  <a:srgbClr val="FFFF00"/>
                </a:highlight>
              </a:rPr>
              <a:t>chr_id</a:t>
            </a:r>
            <a:endParaRPr kumimoji="1" lang="en-US" altLang="zh-TW" dirty="0">
              <a:highlight>
                <a:srgbClr val="FFFF00"/>
              </a:highlight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0F24724-920E-3B97-A046-04C80854F134}"/>
              </a:ext>
            </a:extLst>
          </p:cNvPr>
          <p:cNvSpPr txBox="1"/>
          <p:nvPr/>
        </p:nvSpPr>
        <p:spPr>
          <a:xfrm>
            <a:off x="479425" y="2537415"/>
            <a:ext cx="62408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dirty="0"/>
              <a:t>Giemsa staining（吉姆薩染色）</a:t>
            </a:r>
            <a:r>
              <a:rPr lang="en-US" altLang="zh-TW" dirty="0"/>
              <a:t>:</a:t>
            </a:r>
          </a:p>
          <a:p>
            <a:r>
              <a:rPr lang="zh-TW" altLang="zh-TW" dirty="0"/>
              <a:t>染色體呈現深淺相間的條帶，辨認染色體及區段位置</a:t>
            </a:r>
            <a:endParaRPr lang="en-US" altLang="zh-TW" dirty="0"/>
          </a:p>
          <a:p>
            <a:r>
              <a:rPr lang="zh-TW" altLang="zh-TW" dirty="0"/>
              <a:t>數字越大，條帶越深</a:t>
            </a:r>
            <a:endParaRPr lang="en-US" altLang="zh-TW" dirty="0"/>
          </a:p>
          <a:p>
            <a:r>
              <a:rPr lang="zh-TW" altLang="zh-TW" dirty="0"/>
              <a:t>一般而言，深色 G-bands 常較偏 AT-rich，淺色區域較偏 GC-rich、gene-rich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5B8C73A-B884-94D0-68EB-4F321C3A55D9}"/>
              </a:ext>
            </a:extLst>
          </p:cNvPr>
          <p:cNvSpPr txBox="1"/>
          <p:nvPr/>
        </p:nvSpPr>
        <p:spPr>
          <a:xfrm>
            <a:off x="587623" y="3984074"/>
            <a:ext cx="5312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每條染色體的</a:t>
            </a:r>
            <a:r>
              <a:rPr lang="zh-TW" altLang="zh-TW" dirty="0">
                <a:highlight>
                  <a:srgbClr val="F5F9FE"/>
                </a:highlight>
              </a:rPr>
              <a:t>cytoband</a:t>
            </a:r>
            <a:r>
              <a:rPr kumimoji="1" lang="zh-TW" altLang="en-US" dirty="0"/>
              <a:t>缺失情況</a:t>
            </a:r>
            <a:r>
              <a:rPr kumimoji="1" lang="en-US" altLang="zh-TW" dirty="0"/>
              <a:t>(n=755),</a:t>
            </a:r>
          </a:p>
          <a:p>
            <a:r>
              <a:rPr kumimoji="1" lang="en-US" altLang="zh-TW" dirty="0"/>
              <a:t>MT</a:t>
            </a:r>
            <a:r>
              <a:rPr kumimoji="1" lang="zh-TW" altLang="en-US" dirty="0"/>
              <a:t>粒線體缺</a:t>
            </a:r>
            <a:r>
              <a:rPr kumimoji="1" lang="en-US" altLang="zh-TW" dirty="0"/>
              <a:t>754</a:t>
            </a:r>
            <a:r>
              <a:rPr kumimoji="1" lang="zh-TW" altLang="en-US" dirty="0"/>
              <a:t>個</a:t>
            </a:r>
            <a:r>
              <a:rPr kumimoji="1" lang="en-US" altLang="zh-TW" dirty="0" err="1"/>
              <a:t>snp</a:t>
            </a:r>
            <a:r>
              <a:rPr kumimoji="1" lang="en-US" altLang="zh-TW" dirty="0"/>
              <a:t> 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第</a:t>
            </a:r>
            <a:r>
              <a:rPr kumimoji="1" lang="en-US" altLang="zh-TW" dirty="0"/>
              <a:t>17</a:t>
            </a:r>
            <a:r>
              <a:rPr kumimoji="1" lang="zh-TW" altLang="en-US" dirty="0"/>
              <a:t>條染色體缺</a:t>
            </a:r>
            <a:r>
              <a:rPr kumimoji="1" lang="en-US" altLang="zh-TW" dirty="0"/>
              <a:t>1</a:t>
            </a:r>
            <a:r>
              <a:rPr kumimoji="1" lang="zh-TW" altLang="en-US" dirty="0"/>
              <a:t>個</a:t>
            </a:r>
            <a:r>
              <a:rPr kumimoji="1" lang="en-US" altLang="zh-TW" dirty="0" err="1"/>
              <a:t>snp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解法： 粒腺體設一個獨立區塊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2F97294-3BBE-6720-F237-8701C6F4B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986" y="2712064"/>
            <a:ext cx="3845063" cy="383815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2C38327-9CFE-A9A8-8FFA-8236D13C1290}"/>
              </a:ext>
            </a:extLst>
          </p:cNvPr>
          <p:cNvSpPr txBox="1"/>
          <p:nvPr/>
        </p:nvSpPr>
        <p:spPr>
          <a:xfrm>
            <a:off x="587622" y="5184622"/>
            <a:ext cx="64133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粒線體 DNA是環狀 DNA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沒有 p arm q arm centromere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TW" altLang="zh-TW" dirty="0">
                <a:solidFill>
                  <a:schemeClr val="accent5">
                    <a:lumMod val="50000"/>
                  </a:schemeClr>
                </a:solidFill>
              </a:rPr>
              <a:t>不使用傳統 Giemsa cytoband 命名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01C4E9-9906-2B42-4DEC-8371B0C1CDFB}"/>
              </a:ext>
            </a:extLst>
          </p:cNvPr>
          <p:cNvSpPr txBox="1"/>
          <p:nvPr/>
        </p:nvSpPr>
        <p:spPr>
          <a:xfrm>
            <a:off x="587622" y="6025306"/>
            <a:ext cx="79300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solidFill>
                  <a:srgbClr val="FF0000"/>
                </a:solidFill>
              </a:rPr>
              <a:t>Version 2 的 631,696 個 SNV 中，754 個 MT markers 因粒線體不具有傳統 cytoband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zh-TW" dirty="0">
                <a:solidFill>
                  <a:srgbClr val="FF0000"/>
                </a:solidFill>
              </a:rPr>
              <a:t>僅剩 chromosome 17 的 1 個 SNV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全部排除 建立</a:t>
            </a:r>
            <a:r>
              <a:rPr lang="en-US" altLang="zh-TW" dirty="0">
                <a:solidFill>
                  <a:srgbClr val="FF0000"/>
                </a:solidFill>
              </a:rPr>
              <a:t>version3(#snp_v3_cytoband: n= n=630941)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991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A693ED6-BC69-664D-4E84-ACD952197FC4}"/>
              </a:ext>
            </a:extLst>
          </p:cNvPr>
          <p:cNvSpPr txBox="1"/>
          <p:nvPr/>
        </p:nvSpPr>
        <p:spPr>
          <a:xfrm>
            <a:off x="688931" y="619103"/>
            <a:ext cx="113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highlight>
                  <a:srgbClr val="FFFF00"/>
                </a:highlight>
              </a:rPr>
              <a:t>LD+</a:t>
            </a:r>
            <a:r>
              <a:rPr kumimoji="1" lang="zh-TW" altLang="en-US" dirty="0">
                <a:highlight>
                  <a:srgbClr val="FFFF00"/>
                </a:highlight>
              </a:rPr>
              <a:t>排除</a:t>
            </a:r>
            <a:r>
              <a:rPr kumimoji="1" lang="en-US" altLang="zh-TW" dirty="0">
                <a:highlight>
                  <a:srgbClr val="FFFF00"/>
                </a:highlight>
              </a:rPr>
              <a:t>Y</a:t>
            </a:r>
            <a:r>
              <a:rPr kumimoji="1" lang="zh-TW" altLang="en-US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6778DD-ED53-16D3-DA79-165F6D033803}"/>
              </a:ext>
            </a:extLst>
          </p:cNvPr>
          <p:cNvSpPr txBox="1"/>
          <p:nvPr/>
        </p:nvSpPr>
        <p:spPr>
          <a:xfrm>
            <a:off x="688931" y="996708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利用</a:t>
            </a:r>
            <a:r>
              <a:rPr lang="zh-TW" altLang="zh-TW" dirty="0"/>
              <a:t>snp_v3_cytoband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1535D7B-207E-EDE0-D690-7D84DD616ADA}"/>
              </a:ext>
            </a:extLst>
          </p:cNvPr>
          <p:cNvSpPr txBox="1"/>
          <p:nvPr/>
        </p:nvSpPr>
        <p:spPr>
          <a:xfrm>
            <a:off x="479425" y="241498"/>
            <a:ext cx="861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version4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2E39E2-4845-A301-7A81-C9074C68F940}"/>
              </a:ext>
            </a:extLst>
          </p:cNvPr>
          <p:cNvSpPr txBox="1"/>
          <p:nvPr/>
        </p:nvSpPr>
        <p:spPr>
          <a:xfrm>
            <a:off x="688931" y="1612262"/>
            <a:ext cx="3137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highlight>
                  <a:srgbClr val="FFFF00"/>
                </a:highlight>
              </a:rPr>
              <a:t>Plink</a:t>
            </a:r>
            <a:r>
              <a:rPr kumimoji="1" lang="zh-TW" altLang="en-US" dirty="0">
                <a:highlight>
                  <a:srgbClr val="FFFF00"/>
                </a:highlight>
              </a:rPr>
              <a:t>中樣本數太少的問題 因此先暫停</a:t>
            </a:r>
          </a:p>
        </p:txBody>
      </p:sp>
    </p:spTree>
    <p:extLst>
      <p:ext uri="{BB962C8B-B14F-4D97-AF65-F5344CB8AC3E}">
        <p14:creationId xmlns:p14="http://schemas.microsoft.com/office/powerpoint/2010/main" val="340056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28273</TotalTime>
  <Words>3453</Words>
  <Application>Microsoft Macintosh PowerPoint</Application>
  <PresentationFormat>寬螢幕</PresentationFormat>
  <Paragraphs>359</Paragraphs>
  <Slides>22</Slides>
  <Notes>19</Notes>
  <HiddenSlides>7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3" baseType="lpstr">
      <vt:lpstr>Playfair Display</vt:lpstr>
      <vt:lpstr>Arial</vt:lpstr>
      <vt:lpstr>Calibri</vt:lpstr>
      <vt:lpstr>Courier New</vt:lpstr>
      <vt:lpstr>Songti SC</vt:lpstr>
      <vt:lpstr>Alegreya</vt:lpstr>
      <vt:lpstr>Cambria Math</vt:lpstr>
      <vt:lpstr>Playfair Display SemiBold</vt:lpstr>
      <vt:lpstr>Wingdings</vt:lpstr>
      <vt:lpstr>Pinyon Script</vt:lpstr>
      <vt:lpstr>Office 佈景主題</vt:lpstr>
      <vt:lpstr>SUMMER INTERN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  for  listening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采宣 林</cp:lastModifiedBy>
  <cp:revision>117</cp:revision>
  <dcterms:modified xsi:type="dcterms:W3CDTF">2026-07-29T06:13:36Z</dcterms:modified>
</cp:coreProperties>
</file>